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73" r:id="rId4"/>
    <p:sldId id="270" r:id="rId5"/>
    <p:sldId id="269" r:id="rId6"/>
    <p:sldId id="271" r:id="rId7"/>
    <p:sldId id="272" r:id="rId8"/>
    <p:sldId id="274" r:id="rId9"/>
    <p:sldId id="265" r:id="rId10"/>
    <p:sldId id="266" r:id="rId11"/>
    <p:sldId id="264" r:id="rId12"/>
    <p:sldId id="267" r:id="rId13"/>
    <p:sldId id="276" r:id="rId14"/>
  </p:sldIdLst>
  <p:sldSz cx="12192000" cy="6858000"/>
  <p:notesSz cx="6858000" cy="9144000"/>
  <p:embeddedFontLst>
    <p:embeddedFont>
      <p:font typeface="等线" panose="02010600030101010101" pitchFamily="2" charset="-122"/>
      <p:regular r:id="rId16"/>
      <p:bold r:id="rId17"/>
    </p:embeddedFont>
    <p:embeddedFont>
      <p:font typeface="等线 Light" panose="02010600030101010101" pitchFamily="2" charset="-122"/>
      <p:regular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涛 殷" initials="涛" lastIdx="1" clrIdx="0">
    <p:extLst>
      <p:ext uri="{19B8F6BF-5375-455C-9EA6-DF929625EA0E}">
        <p15:presenceInfo xmlns:p15="http://schemas.microsoft.com/office/powerpoint/2012/main" userId="fa5a8070d79fe1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7"/>
    <p:restoredTop sz="94683"/>
  </p:normalViewPr>
  <p:slideViewPr>
    <p:cSldViewPr snapToGrid="0">
      <p:cViewPr varScale="1">
        <p:scale>
          <a:sx n="103" d="100"/>
          <a:sy n="103" d="100"/>
        </p:scale>
        <p:origin x="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008A3-B9C9-4D88-890E-76C6F13041EA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90813-09AB-44F1-95D8-4CD92590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41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90813-09AB-44F1-95D8-4CD9259016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111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38BE5-94C0-C913-08D0-C7963FAB1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3495A0-B786-2726-8930-E9C4C9240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9388D6-4F5F-ED7B-C5C2-CDA7A699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25B955-1835-CF19-80BA-54CB8D86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0983AD-02DB-93E5-DFA7-6C55B024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51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82086-33AD-3D82-E410-673F0D36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C7832-3CEC-5484-F679-2C6934BE2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D07F4D-62FF-76BB-A0ED-915425DA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2FEFE-2AD7-0304-CD40-2DD97F552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82410E-7CF3-0C4B-E567-32A95DC6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818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BC7C1-CBEB-ADD5-8615-9229DE6F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069DDB-6AF2-21D4-C322-C37755CBF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B1B776-AF6C-F7F7-0433-D2D8D57C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E6E04-8CEA-AB96-6E58-CD7E31F3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7F839E-22AA-76F4-4B1E-FA4BA831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078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E3837-2178-80A4-0E16-32A8F4DF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DA121-2EF4-81D3-892B-152335951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90D262-D0C2-A6C0-868B-E07E581DA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87A401-79DE-AF6E-9A46-D969A386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29C419-4330-A9D7-4907-5D07544B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0E60C7-1BAA-7F0E-10FB-A9BF996E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5A71B-5937-ADD2-A133-12431141B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06B122-E84A-3EA9-B453-C2D6E84F3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EAB690-C805-0FE9-A19E-BA963FCCF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DFD0E9-C04A-16B7-FB51-C0CE2B04C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8FF311-F8D1-B9E8-69A9-560B17014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E8A25D-C038-9902-33C8-BE34B10F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A2105E-C094-223B-9D17-06904EE9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1912F0-0A8B-5492-D48D-22B6314F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38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BF63C-DE47-FAFE-E4BB-7A54992B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C8F51A-736E-3F44-742E-0529BD53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AE36AF-536D-2DDC-C7DA-BC869712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D680D6-7272-58C8-33A0-70A66C7A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27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7BE232-DF95-DB3A-D579-4F64F7F6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8D54FE-5FDA-8269-5E33-C4F39FF7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B4818-62D3-4293-5DA9-F5013C55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46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CD204-0824-06DE-6EA9-9B8017B1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A71BF-7ADC-E322-3178-BD9B2055A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9BA76F-3EAF-348F-DF1C-AE9662252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E64898-9964-3C96-AF9E-0073A8C2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3DCEEF-8821-0F09-A3C8-14295B52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13EEB7-39EE-8D28-BEC2-EA8BD9A0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70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0F35A-8DD4-3F7E-63BC-17187801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A5C0FD-BFEB-3F10-8E2A-0881E32BD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2C552E-152F-7716-1BB7-216430571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1E3666-0D37-7082-0FBE-9ED7FBBA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8D514D-5266-88B3-96AA-645202DC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B7B444-E7BB-601E-7E57-373C90CC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39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4B5CE-DEB4-8E8F-49DB-0CF47C7B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9E4ED6-2670-51BE-1EAB-1A873B774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A6578-3085-A776-CF65-C78D2E8C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4EA057-EF52-1553-51E6-E7F4CCE7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071E39-AABA-983B-F831-1B6E2B9E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5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297091-2D4C-8736-F93A-6C5045CB4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EAE13F-C046-7563-F639-591475CB8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127157-A77E-38DB-2298-247CCACF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D7C228-2082-8262-E67B-C71A92C6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69352B-3524-DB77-0C29-7F567ECF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12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AC7B2B-8439-54BC-460E-5E3E71425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F5926F-F8C8-DE84-ABD6-3B870CCAC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F4624C-5187-C34C-849F-C3620BE2C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37F52-1889-4404-843E-564E5EB00AE8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60529D-D145-DABC-DF19-153BCEA5B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5D7A9-B5D9-6CB6-683D-7C63E244B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6980D-1997-4711-ACF1-6E6A3BA331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09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35D28A9-0ADD-EFB5-6693-2A3A32F1F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588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latin typeface="+mj-ea"/>
              </a:rPr>
              <a:t>10</a:t>
            </a:r>
            <a:r>
              <a:rPr lang="zh-CN" altLang="en-US" b="1" dirty="0">
                <a:latin typeface="+mj-ea"/>
              </a:rPr>
              <a:t>月</a:t>
            </a:r>
            <a:r>
              <a:rPr lang="en-US" altLang="zh-CN" b="1" dirty="0">
                <a:latin typeface="+mj-ea"/>
              </a:rPr>
              <a:t>13</a:t>
            </a:r>
            <a:r>
              <a:rPr lang="zh-CN" altLang="en-US" b="1" dirty="0">
                <a:latin typeface="+mj-ea"/>
              </a:rPr>
              <a:t>日</a:t>
            </a:r>
            <a:r>
              <a:rPr lang="zh-CN" altLang="en-US" b="1" dirty="0">
                <a:latin typeface="+mn-ea"/>
                <a:ea typeface="+mn-ea"/>
              </a:rPr>
              <a:t>第一次上机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06E9942-29A2-C782-50CF-9431444D3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时间：</a:t>
            </a:r>
            <a:r>
              <a:rPr lang="en-US" altLang="zh-CN" b="1" dirty="0">
                <a:latin typeface="+mn-ea"/>
              </a:rPr>
              <a:t>19:00-22:00   </a:t>
            </a:r>
            <a:r>
              <a:rPr lang="zh-CN" altLang="en-US" b="1" dirty="0">
                <a:latin typeface="+mn-ea"/>
              </a:rPr>
              <a:t>地点：西区电一楼机房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厅</a:t>
            </a:r>
            <a:endParaRPr lang="en-US" altLang="zh-CN" b="1" dirty="0">
              <a:latin typeface="+mn-ea"/>
            </a:endParaRPr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内容：集成环境的应用</a:t>
            </a:r>
            <a:r>
              <a:rPr lang="en-US" altLang="zh-CN" b="1" dirty="0">
                <a:latin typeface="+mn-ea"/>
              </a:rPr>
              <a:t>&amp;</a:t>
            </a:r>
            <a:r>
              <a:rPr lang="zh-CN" altLang="en-US" b="1" dirty="0">
                <a:latin typeface="+mn-ea"/>
              </a:rPr>
              <a:t>数据类型</a:t>
            </a:r>
            <a:endParaRPr lang="en-US" altLang="zh-CN" b="1" dirty="0">
              <a:latin typeface="+mn-ea"/>
            </a:endParaRPr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实验指导书：</a:t>
            </a:r>
            <a:endParaRPr lang="en-US" altLang="zh-CN" b="1" dirty="0">
              <a:latin typeface="+mn-ea"/>
            </a:endParaRPr>
          </a:p>
          <a:p>
            <a:pPr lvl="2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仿照</a:t>
            </a:r>
            <a:r>
              <a:rPr lang="en-US" altLang="zh-CN" b="1" dirty="0">
                <a:latin typeface="+mn-ea"/>
              </a:rPr>
              <a:t>2.1.2</a:t>
            </a:r>
            <a:r>
              <a:rPr lang="zh-CN" altLang="en-US" b="1" dirty="0">
                <a:latin typeface="+mn-ea"/>
              </a:rPr>
              <a:t>的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基本数据类型所占存储空间的字节数，测试 </a:t>
            </a:r>
            <a:r>
              <a:rPr lang="en-US" altLang="zh-CN" b="1" dirty="0">
                <a:latin typeface="+mn-ea"/>
              </a:rPr>
              <a:t>int ,char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>
                <a:latin typeface="+mn-ea"/>
              </a:rPr>
              <a:t>double</a:t>
            </a:r>
            <a:r>
              <a:rPr lang="zh-CN" altLang="en-US" b="1" dirty="0">
                <a:latin typeface="+mn-ea"/>
              </a:rPr>
              <a:t>类型所占的字节数</a:t>
            </a:r>
            <a:endParaRPr lang="en-US" altLang="zh-CN" b="1" dirty="0">
              <a:latin typeface="+mn-ea"/>
            </a:endParaRPr>
          </a:p>
          <a:p>
            <a:pPr lvl="2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en-US" altLang="zh-CN" b="1" dirty="0">
                <a:latin typeface="+mn-ea"/>
              </a:rPr>
              <a:t>P51</a:t>
            </a:r>
            <a:r>
              <a:rPr lang="zh-CN" altLang="en-US" b="1" dirty="0">
                <a:latin typeface="+mn-ea"/>
              </a:rPr>
              <a:t>的程序填空</a:t>
            </a:r>
            <a:endParaRPr lang="en-US" altLang="zh-CN" b="1" dirty="0">
              <a:latin typeface="+mn-ea"/>
            </a:endParaRPr>
          </a:p>
          <a:p>
            <a:pPr lvl="2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en-US" altLang="zh-CN" b="1" dirty="0">
                <a:latin typeface="+mn-ea"/>
              </a:rPr>
              <a:t>P53 </a:t>
            </a:r>
            <a:r>
              <a:rPr lang="zh-CN" altLang="en-US" b="1" dirty="0">
                <a:latin typeface="+mn-ea"/>
              </a:rPr>
              <a:t>自主编程练习 的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2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5</a:t>
            </a:r>
          </a:p>
          <a:p>
            <a:pPr lvl="2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练习使用</a:t>
            </a:r>
            <a:r>
              <a:rPr lang="en-US" altLang="zh-CN" b="1" dirty="0" err="1">
                <a:latin typeface="+mn-ea"/>
              </a:rPr>
              <a:t>printf</a:t>
            </a:r>
            <a:r>
              <a:rPr lang="zh-CN" altLang="en-US" b="1" dirty="0">
                <a:latin typeface="+mn-ea"/>
              </a:rPr>
              <a:t>和</a:t>
            </a:r>
            <a:r>
              <a:rPr lang="en-US" altLang="zh-CN" b="1" dirty="0" err="1">
                <a:latin typeface="+mn-ea"/>
              </a:rPr>
              <a:t>scanf</a:t>
            </a:r>
            <a:r>
              <a:rPr lang="zh-CN" altLang="en-US" b="1" dirty="0">
                <a:latin typeface="+mn-ea"/>
              </a:rPr>
              <a:t>的用法，自己编程测试格式运算符（</a:t>
            </a:r>
            <a:r>
              <a:rPr lang="en-US" altLang="zh-CN" b="1" dirty="0">
                <a:latin typeface="+mn-ea"/>
              </a:rPr>
              <a:t>%d,%f,%</a:t>
            </a:r>
            <a:r>
              <a:rPr lang="en-US" altLang="zh-CN" b="1" dirty="0" err="1">
                <a:latin typeface="+mn-ea"/>
              </a:rPr>
              <a:t>lf</a:t>
            </a:r>
            <a:r>
              <a:rPr lang="en-US" altLang="zh-CN" b="1" dirty="0">
                <a:latin typeface="+mn-ea"/>
              </a:rPr>
              <a:t>,%c)</a:t>
            </a:r>
            <a:r>
              <a:rPr lang="zh-CN" altLang="en-US" b="1" dirty="0">
                <a:latin typeface="+mn-ea"/>
              </a:rPr>
              <a:t>的用法；</a:t>
            </a:r>
            <a:endParaRPr lang="en-US" altLang="zh-CN" b="1" dirty="0">
              <a:latin typeface="+mn-ea"/>
            </a:endParaRPr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测试课本代码</a:t>
            </a:r>
            <a:r>
              <a:rPr lang="en-US" altLang="zh-CN" b="1" dirty="0">
                <a:latin typeface="+mn-ea"/>
              </a:rPr>
              <a:t>2.2-2</a:t>
            </a:r>
            <a:r>
              <a:rPr lang="zh-CN" altLang="en-US" b="1" dirty="0">
                <a:latin typeface="+mn-ea"/>
              </a:rPr>
              <a:t>、</a:t>
            </a:r>
            <a:r>
              <a:rPr lang="en-US" altLang="zh-CN" b="1" dirty="0">
                <a:latin typeface="+mn-ea"/>
              </a:rPr>
              <a:t>2.3-1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撰写实验报告，实验报告包括以上所有内容，在系统提交</a:t>
            </a:r>
            <a:endParaRPr lang="en-US" altLang="zh-CN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655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7232" y="0"/>
            <a:ext cx="10779368" cy="103285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+mj-ea"/>
              </a:rPr>
              <a:t>一、上机系统介绍（</a:t>
            </a:r>
            <a:r>
              <a:rPr lang="en-US" altLang="zh-CN" sz="3600" b="1" dirty="0">
                <a:latin typeface="+mj-ea"/>
              </a:rPr>
              <a:t>https://cscourse.ustc.edu.cn/</a:t>
            </a:r>
            <a:r>
              <a:rPr lang="zh-CN" altLang="en-US" sz="3600" b="1" dirty="0">
                <a:latin typeface="+mj-ea"/>
              </a:rPr>
              <a:t>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7232" y="708801"/>
            <a:ext cx="83913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200" dirty="0">
                <a:latin typeface="+mn-ea"/>
              </a:rPr>
              <a:t>上机实验的发布和批改在这个系统提交。</a:t>
            </a:r>
            <a:endParaRPr lang="en-US" altLang="zh-CN" sz="22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200" dirty="0">
                <a:latin typeface="+mn-ea"/>
              </a:rPr>
              <a:t>登录进入网站后选择计算机程序设计。</a:t>
            </a:r>
            <a:endParaRPr lang="en-US" altLang="zh-CN" sz="22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200" dirty="0">
                <a:latin typeface="+mn-ea"/>
              </a:rPr>
              <a:t>在线作业界面完成上机自主编程部分内容。</a:t>
            </a:r>
            <a:endParaRPr lang="en-US" altLang="zh-CN" sz="22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200" dirty="0">
                <a:latin typeface="+mn-ea"/>
              </a:rPr>
              <a:t>当天提交自主编程作业，一周内提交实验报告。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1FE9E6-3860-431D-8F99-563456BD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513" y="2604702"/>
            <a:ext cx="8984974" cy="419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1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50CFC-6C90-46A0-89EC-C34CF337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116B5E-D4DE-47DC-934C-E17EDF367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AD2CFE-E319-4F6D-912F-3985DD031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4" y="0"/>
            <a:ext cx="12029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1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11FC457-6985-4F8F-ABA5-D9523B060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8" y="0"/>
            <a:ext cx="12114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9701596-01E6-47EA-B185-04C001577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1" y="0"/>
            <a:ext cx="1208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0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EBCE8A-8E74-4EC5-9AE3-60D770A13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2" y="0"/>
            <a:ext cx="12092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87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DF36D-E9B7-4A9B-B73A-24D96D9A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ECB0F0-6586-4715-AB82-60CD103FC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9D3879-C12B-45EE-B435-E39793E16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19"/>
            <a:ext cx="12192000" cy="67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E9AEE07-192E-4FCA-9253-17FB9F915918}"/>
              </a:ext>
            </a:extLst>
          </p:cNvPr>
          <p:cNvSpPr txBox="1">
            <a:spLocks/>
          </p:cNvSpPr>
          <p:nvPr/>
        </p:nvSpPr>
        <p:spPr>
          <a:xfrm>
            <a:off x="117232" y="0"/>
            <a:ext cx="10779368" cy="103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>
                <a:latin typeface="+mj-ea"/>
              </a:rPr>
              <a:t>一、上机系统介绍（</a:t>
            </a:r>
            <a:r>
              <a:rPr lang="en-US" altLang="zh-CN" sz="3600" b="1">
                <a:latin typeface="+mj-ea"/>
              </a:rPr>
              <a:t>https://cscourse.ustc.edu.cn/</a:t>
            </a:r>
            <a:r>
              <a:rPr lang="zh-CN" altLang="en-US" sz="3600" b="1">
                <a:latin typeface="+mj-ea"/>
              </a:rPr>
              <a:t>）</a:t>
            </a:r>
            <a:endParaRPr lang="zh-CN" altLang="en-US" sz="3600" b="1" dirty="0">
              <a:latin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35ACF6-B9C1-49B8-A762-741535E49584}"/>
              </a:ext>
            </a:extLst>
          </p:cNvPr>
          <p:cNvSpPr txBox="1"/>
          <p:nvPr/>
        </p:nvSpPr>
        <p:spPr>
          <a:xfrm>
            <a:off x="117232" y="708801"/>
            <a:ext cx="1136837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+mn-ea"/>
              </a:rPr>
              <a:t>5.</a:t>
            </a:r>
            <a:r>
              <a:rPr lang="zh-CN" altLang="en-US" sz="2200" dirty="0">
                <a:latin typeface="+mn-ea"/>
              </a:rPr>
              <a:t>注意事项</a:t>
            </a:r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代码可重复提交 </a:t>
            </a:r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输出内容需一致</a:t>
            </a:r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不可面向结果编程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	</a:t>
            </a:r>
          </a:p>
          <a:p>
            <a:r>
              <a:rPr lang="zh-CN" altLang="en-US" sz="2200" dirty="0">
                <a:latin typeface="+mn-ea"/>
              </a:rPr>
              <a:t>部分代码编译可能不通过 例如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int n</a:t>
            </a:r>
            <a:r>
              <a:rPr lang="zh-CN" altLang="en-US" sz="2200" dirty="0">
                <a:latin typeface="+mn-ea"/>
              </a:rPr>
              <a:t>；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 err="1">
                <a:latin typeface="+mn-ea"/>
              </a:rPr>
              <a:t>scanf</a:t>
            </a:r>
            <a:r>
              <a:rPr lang="en-US" altLang="zh-CN" sz="2200" dirty="0">
                <a:latin typeface="+mn-ea"/>
              </a:rPr>
              <a:t>(“%</a:t>
            </a:r>
            <a:r>
              <a:rPr lang="en-US" altLang="zh-CN" sz="2200" dirty="0" err="1">
                <a:latin typeface="+mn-ea"/>
              </a:rPr>
              <a:t>d”,&amp;n</a:t>
            </a:r>
            <a:r>
              <a:rPr lang="en-US" altLang="zh-CN" sz="2200" dirty="0">
                <a:latin typeface="+mn-ea"/>
              </a:rPr>
              <a:t>);</a:t>
            </a:r>
          </a:p>
          <a:p>
            <a:r>
              <a:rPr lang="en-US" altLang="zh-CN" sz="2200" dirty="0">
                <a:latin typeface="+mn-ea"/>
              </a:rPr>
              <a:t>int a[n];</a:t>
            </a:r>
          </a:p>
          <a:p>
            <a:r>
              <a:rPr lang="zh-CN" altLang="en-US" sz="2200" dirty="0">
                <a:latin typeface="+mn-ea"/>
              </a:rPr>
              <a:t>可以用以下方法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int a[1000];</a:t>
            </a:r>
          </a:p>
          <a:p>
            <a:r>
              <a:rPr lang="en-US" altLang="zh-CN" sz="2200" dirty="0">
                <a:latin typeface="+mn-ea"/>
              </a:rPr>
              <a:t>int n</a:t>
            </a:r>
            <a:r>
              <a:rPr lang="zh-CN" altLang="en-US" sz="2200" dirty="0">
                <a:latin typeface="+mn-ea"/>
              </a:rPr>
              <a:t>；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 err="1">
                <a:latin typeface="+mn-ea"/>
              </a:rPr>
              <a:t>scanf</a:t>
            </a:r>
            <a:r>
              <a:rPr lang="en-US" altLang="zh-CN" sz="2200" dirty="0">
                <a:latin typeface="+mn-ea"/>
              </a:rPr>
              <a:t>(“%</a:t>
            </a:r>
            <a:r>
              <a:rPr lang="en-US" altLang="zh-CN" sz="2200" dirty="0" err="1">
                <a:latin typeface="+mn-ea"/>
              </a:rPr>
              <a:t>d”,&amp;n</a:t>
            </a:r>
            <a:r>
              <a:rPr lang="en-US" altLang="zh-CN" sz="2200" dirty="0">
                <a:latin typeface="+mn-ea"/>
              </a:rPr>
              <a:t>);</a:t>
            </a:r>
          </a:p>
          <a:p>
            <a:r>
              <a:rPr lang="zh-CN" altLang="en-US" sz="2200" dirty="0">
                <a:latin typeface="+mn-ea"/>
              </a:rPr>
              <a:t>用</a:t>
            </a:r>
            <a:r>
              <a:rPr lang="en-US" altLang="zh-CN" sz="2200" dirty="0">
                <a:latin typeface="+mn-ea"/>
              </a:rPr>
              <a:t>n</a:t>
            </a:r>
            <a:r>
              <a:rPr lang="zh-CN" altLang="en-US" sz="2200" dirty="0">
                <a:latin typeface="+mn-ea"/>
              </a:rPr>
              <a:t>记录数组的大小</a:t>
            </a:r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无论是否在平台上发布的实验内容均需撰写实验报告</a:t>
            </a:r>
            <a:endParaRPr lang="en-US" altLang="zh-CN" sz="2200" dirty="0">
              <a:latin typeface="+mn-ea"/>
            </a:endParaRPr>
          </a:p>
          <a:p>
            <a:r>
              <a:rPr lang="zh-CN" altLang="en-US" sz="2200" dirty="0"/>
              <a:t>文件名格式为</a:t>
            </a:r>
            <a:r>
              <a:rPr lang="zh-CN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学号</a:t>
            </a:r>
            <a:r>
              <a:rPr lang="en-US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姓名</a:t>
            </a:r>
            <a:r>
              <a:rPr lang="en-US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lang="en-US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18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pdf </a:t>
            </a:r>
          </a:p>
          <a:p>
            <a:r>
              <a:rPr lang="zh-CN" altLang="en-US" sz="2200" dirty="0">
                <a:latin typeface="+mn-ea"/>
              </a:rPr>
              <a:t>上机平台提交，</a:t>
            </a:r>
            <a:r>
              <a:rPr lang="en-US" altLang="zh-CN" sz="2200" dirty="0">
                <a:latin typeface="+mn-ea"/>
              </a:rPr>
              <a:t>pdf</a:t>
            </a:r>
            <a:r>
              <a:rPr lang="zh-CN" altLang="en-US" sz="2200" dirty="0">
                <a:latin typeface="+mn-ea"/>
              </a:rPr>
              <a:t>格式可用</a:t>
            </a:r>
            <a:r>
              <a:rPr lang="en-US" altLang="zh-CN" sz="2200" dirty="0">
                <a:latin typeface="+mn-ea"/>
              </a:rPr>
              <a:t>word</a:t>
            </a:r>
            <a:r>
              <a:rPr lang="zh-CN" altLang="en-US" sz="2200" dirty="0">
                <a:latin typeface="+mn-ea"/>
              </a:rPr>
              <a:t>，</a:t>
            </a:r>
            <a:r>
              <a:rPr lang="en-US" altLang="zh-CN" sz="2200" dirty="0" err="1">
                <a:latin typeface="+mn-ea"/>
              </a:rPr>
              <a:t>wps</a:t>
            </a:r>
            <a:r>
              <a:rPr lang="zh-CN" altLang="en-US" sz="2200" dirty="0">
                <a:latin typeface="+mn-ea"/>
              </a:rPr>
              <a:t>转换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Word</a:t>
            </a:r>
            <a:r>
              <a:rPr lang="zh-CN" altLang="en-US" sz="2200" dirty="0">
                <a:latin typeface="+mn-ea"/>
              </a:rPr>
              <a:t>转换方式为 文件</a:t>
            </a:r>
            <a:r>
              <a:rPr lang="en-US" altLang="zh-CN" sz="2200" dirty="0">
                <a:latin typeface="+mn-ea"/>
              </a:rPr>
              <a:t>/</a:t>
            </a:r>
            <a:r>
              <a:rPr lang="zh-CN" altLang="en-US" sz="2200" dirty="0">
                <a:latin typeface="+mn-ea"/>
              </a:rPr>
              <a:t>导出</a:t>
            </a:r>
            <a:r>
              <a:rPr lang="en-US" altLang="zh-CN" sz="2200" dirty="0">
                <a:latin typeface="+mn-ea"/>
              </a:rPr>
              <a:t>pdf </a:t>
            </a:r>
            <a:r>
              <a:rPr lang="zh-CN" altLang="en-US" sz="2200" dirty="0">
                <a:latin typeface="+mn-ea"/>
              </a:rPr>
              <a:t>或者 文件</a:t>
            </a:r>
            <a:r>
              <a:rPr lang="en-US" altLang="zh-CN" sz="2200" dirty="0">
                <a:latin typeface="+mn-ea"/>
              </a:rPr>
              <a:t>/</a:t>
            </a:r>
            <a:r>
              <a:rPr lang="zh-CN" altLang="en-US" sz="2200" dirty="0">
                <a:latin typeface="+mn-ea"/>
              </a:rPr>
              <a:t>另存为</a:t>
            </a:r>
            <a:r>
              <a:rPr lang="en-US" altLang="zh-CN" sz="2200" dirty="0">
                <a:latin typeface="+mn-ea"/>
              </a:rPr>
              <a:t>/</a:t>
            </a:r>
            <a:r>
              <a:rPr lang="zh-CN" altLang="en-US" sz="2200" dirty="0">
                <a:latin typeface="+mn-ea"/>
              </a:rPr>
              <a:t>选择位置</a:t>
            </a:r>
            <a:r>
              <a:rPr lang="en-US" altLang="zh-CN" sz="2200" dirty="0">
                <a:latin typeface="+mn-ea"/>
              </a:rPr>
              <a:t>/</a:t>
            </a:r>
            <a:r>
              <a:rPr lang="zh-CN" altLang="en-US" sz="2200" dirty="0">
                <a:latin typeface="+mn-ea"/>
              </a:rPr>
              <a:t>保存类型选择</a:t>
            </a:r>
            <a:r>
              <a:rPr lang="en-US" altLang="zh-CN" sz="2200" dirty="0">
                <a:latin typeface="+mn-ea"/>
              </a:rPr>
              <a:t>pdf</a:t>
            </a:r>
          </a:p>
          <a:p>
            <a:endParaRPr lang="en-US" altLang="zh-CN" sz="2200" dirty="0"/>
          </a:p>
          <a:p>
            <a:endParaRPr lang="en-US" altLang="zh-CN" sz="2200" dirty="0"/>
          </a:p>
          <a:p>
            <a:endParaRPr lang="en-US" altLang="zh-CN" sz="2200" dirty="0">
              <a:latin typeface="+mn-ea"/>
            </a:endParaRPr>
          </a:p>
          <a:p>
            <a:endParaRPr lang="zh-CN" altLang="en-US" sz="2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778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7232" y="0"/>
            <a:ext cx="10779368" cy="103285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+mj-ea"/>
              </a:rPr>
              <a:t>二、实验目的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7712" y="1032851"/>
            <a:ext cx="1158399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1. 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熟悉编程工具（</a:t>
            </a:r>
            <a:r>
              <a:rPr lang="en-US" altLang="zh-CN" sz="22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VS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、</a:t>
            </a:r>
            <a:r>
              <a:rPr lang="en-US" altLang="zh-CN" sz="2200" kern="0" dirty="0" err="1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DevC</a:t>
            </a:r>
            <a:r>
              <a:rPr lang="en-US" altLang="zh-CN" sz="22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++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、</a:t>
            </a:r>
            <a:r>
              <a:rPr lang="en-US" altLang="zh-CN" sz="22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Xcode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  <a:cs typeface="宋体" panose="02010600030101010101" pitchFamily="2" charset="-122"/>
              </a:rPr>
              <a:t>等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选择一种</a:t>
            </a:r>
            <a:r>
              <a:rPr lang="zh-CN" altLang="en-US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，实验指导书第</a:t>
            </a: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1</a:t>
            </a:r>
            <a:r>
              <a:rPr lang="zh-CN" altLang="en-US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章有部分说明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）的使用</a:t>
            </a:r>
            <a:endParaRPr lang="zh-CN" altLang="zh-CN" sz="2200" dirty="0">
              <a:effectLst/>
              <a:latin typeface="+mn-ea"/>
            </a:endParaRPr>
          </a:p>
          <a:p>
            <a:pPr algn="l"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2. 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了解</a:t>
            </a: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C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语言程序结构与常用语法元素</a:t>
            </a:r>
            <a:endParaRPr lang="zh-CN" altLang="zh-CN" sz="2200" dirty="0">
              <a:effectLst/>
              <a:latin typeface="+mn-ea"/>
            </a:endParaRPr>
          </a:p>
          <a:p>
            <a:pPr algn="l"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3. 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模仿示例编写输入、处理、输出功能完备的简单程序</a:t>
            </a:r>
            <a:endParaRPr lang="zh-CN" altLang="zh-CN" sz="2200" dirty="0">
              <a:effectLst/>
              <a:latin typeface="+mn-ea"/>
            </a:endParaRPr>
          </a:p>
          <a:p>
            <a:pPr algn="l"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4. 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初步掌握</a:t>
            </a:r>
            <a:r>
              <a:rPr lang="en-US" altLang="zh-CN" sz="2200" kern="0" dirty="0" err="1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printf</a:t>
            </a: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()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和</a:t>
            </a:r>
            <a:r>
              <a:rPr lang="en-US" altLang="zh-CN" sz="2200" kern="0" dirty="0" err="1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scanf</a:t>
            </a: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()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函数的用法</a:t>
            </a:r>
            <a:endParaRPr lang="zh-CN" altLang="zh-CN" sz="2200" dirty="0">
              <a:effectLst/>
              <a:latin typeface="+mn-ea"/>
            </a:endParaRPr>
          </a:p>
          <a:p>
            <a:pPr algn="l"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5. 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了解</a:t>
            </a:r>
            <a:r>
              <a:rPr lang="en-US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C</a:t>
            </a:r>
            <a:r>
              <a:rPr lang="zh-CN" altLang="zh-CN" sz="2200" kern="0" dirty="0"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</a:rPr>
              <a:t>语言程序规范</a:t>
            </a:r>
            <a:endParaRPr lang="zh-CN" altLang="zh-CN" sz="220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5393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8F0F1A8-3D96-2394-9118-6B8B6E5D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2" y="0"/>
            <a:ext cx="10779368" cy="103285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+mj-ea"/>
              </a:rPr>
              <a:t>三、第一次上机作业要求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CD69BF-3250-4033-B282-33EC7B91C9B8}"/>
              </a:ext>
            </a:extLst>
          </p:cNvPr>
          <p:cNvSpPr txBox="1"/>
          <p:nvPr/>
        </p:nvSpPr>
        <p:spPr>
          <a:xfrm>
            <a:off x="117233" y="846872"/>
            <a:ext cx="114445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将安装和测试编程工具的截图放在实验报告“运行结果”中 ：一张程序安装截图和一张成功运行截图</a:t>
            </a:r>
            <a:endParaRPr lang="en-US" altLang="zh-CN" sz="2200" kern="0" dirty="0">
              <a:solidFill>
                <a:srgbClr val="000000"/>
              </a:solidFill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CFE60D-2620-499B-11C9-A6A625DB3894}"/>
              </a:ext>
            </a:extLst>
          </p:cNvPr>
          <p:cNvSpPr txBox="1"/>
          <p:nvPr/>
        </p:nvSpPr>
        <p:spPr>
          <a:xfrm>
            <a:off x="4225758" y="650203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kern="0" dirty="0">
                <a:solidFill>
                  <a:srgbClr val="000000"/>
                </a:solidFill>
                <a:latin typeface="+mn-ea"/>
              </a:rPr>
              <a:t>成功运行截图示例</a:t>
            </a: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F08C857-693C-4CDD-82F4-FF9FE674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753" y="1595611"/>
            <a:ext cx="8010326" cy="47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8F0F1A8-3D96-2394-9118-6B8B6E5D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2" y="0"/>
            <a:ext cx="10779368" cy="103285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+mj-ea"/>
              </a:rPr>
              <a:t>三、第一次上机作业要求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CD69BF-3250-4033-B282-33EC7B91C9B8}"/>
              </a:ext>
            </a:extLst>
          </p:cNvPr>
          <p:cNvSpPr txBox="1"/>
          <p:nvPr/>
        </p:nvSpPr>
        <p:spPr>
          <a:xfrm>
            <a:off x="117233" y="846872"/>
            <a:ext cx="114445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457200">
              <a:buFont typeface="+mj-lt"/>
              <a:buAutoNum type="arabicPeriod" startAt="2"/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程序填空、自主编程代码放在实验报告“上机程序”部分（标明题号）</a:t>
            </a:r>
            <a:endParaRPr lang="en-US" altLang="zh-CN" sz="2200" kern="0" dirty="0">
              <a:solidFill>
                <a:srgbClr val="000000"/>
              </a:solidFill>
              <a:latin typeface="+mn-ea"/>
            </a:endParaRPr>
          </a:p>
          <a:p>
            <a:pPr marL="114300" indent="-457200">
              <a:buFont typeface="+mj-lt"/>
              <a:buAutoNum type="arabicPeriod" startAt="2"/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代码运行结果截图放在实验报告“运行结果”部分（标明题号）</a:t>
            </a:r>
            <a:endParaRPr lang="en-US" altLang="zh-CN" sz="2200" kern="0" dirty="0">
              <a:solidFill>
                <a:srgbClr val="000000"/>
              </a:solidFill>
              <a:latin typeface="+mn-ea"/>
            </a:endParaRPr>
          </a:p>
          <a:p>
            <a:pPr marL="114300" indent="-457200">
              <a:buFont typeface="+mj-lt"/>
              <a:buAutoNum type="arabicPeriod" startAt="2"/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实验过程中如果遇到问题并成功自行解决，可以记录在实验报告“调试中的问题及解决方法”中</a:t>
            </a:r>
            <a:endParaRPr lang="en-US" altLang="zh-CN" sz="2200" kern="0" dirty="0">
              <a:solidFill>
                <a:srgbClr val="000000"/>
              </a:solidFill>
              <a:latin typeface="+mn-ea"/>
            </a:endParaRPr>
          </a:p>
          <a:p>
            <a:pPr marL="114300" indent="-457200">
              <a:buFont typeface="+mj-lt"/>
              <a:buAutoNum type="arabicPeriod" startAt="2"/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实验：练习使用</a:t>
            </a:r>
            <a:r>
              <a:rPr lang="en-US" altLang="zh-CN" sz="2200" kern="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和</a:t>
            </a:r>
            <a:r>
              <a:rPr lang="en-US" altLang="zh-CN" sz="2200" kern="0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的用法，编程测试格式运算符（</a:t>
            </a:r>
            <a:r>
              <a:rPr lang="en-US" altLang="zh-CN" sz="2200" kern="0" dirty="0">
                <a:solidFill>
                  <a:srgbClr val="000000"/>
                </a:solidFill>
                <a:latin typeface="+mn-ea"/>
              </a:rPr>
              <a:t>%d,%f,%</a:t>
            </a:r>
            <a:r>
              <a:rPr lang="en-US" altLang="zh-CN" sz="2200" kern="0" dirty="0" err="1">
                <a:solidFill>
                  <a:srgbClr val="000000"/>
                </a:solidFill>
                <a:latin typeface="+mn-ea"/>
              </a:rPr>
              <a:t>lf</a:t>
            </a:r>
            <a:r>
              <a:rPr lang="en-US" altLang="zh-CN" sz="2200" kern="0" dirty="0">
                <a:solidFill>
                  <a:srgbClr val="000000"/>
                </a:solidFill>
                <a:latin typeface="+mn-ea"/>
              </a:rPr>
              <a:t>,%c)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的用法</a:t>
            </a:r>
            <a:br>
              <a:rPr lang="en-US" altLang="zh-CN" sz="2200" kern="0" dirty="0">
                <a:solidFill>
                  <a:srgbClr val="000000"/>
                </a:solidFill>
                <a:latin typeface="+mn-ea"/>
              </a:rPr>
            </a:br>
            <a:r>
              <a:rPr lang="en-US" altLang="zh-CN" sz="2200" kern="0" dirty="0">
                <a:solidFill>
                  <a:srgbClr val="000000"/>
                </a:solidFill>
                <a:latin typeface="+mn-ea"/>
              </a:rPr>
              <a:t>	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  需要提供运行结果，体现几种格式运算符的不同</a:t>
            </a:r>
            <a:endParaRPr lang="en-US" altLang="zh-CN" sz="2200" kern="0" dirty="0">
              <a:solidFill>
                <a:srgbClr val="000000"/>
              </a:solidFill>
              <a:latin typeface="+mn-ea"/>
            </a:endParaRPr>
          </a:p>
          <a:p>
            <a:pPr marL="457200" indent="-457200">
              <a:buFont typeface="+mj-lt"/>
              <a:buAutoNum type="arabicPeriod" startAt="6"/>
              <a:tabLst>
                <a:tab pos="30988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sz="2200" kern="0" dirty="0">
                <a:solidFill>
                  <a:srgbClr val="000000"/>
                </a:solidFill>
                <a:latin typeface="+mn-ea"/>
              </a:rPr>
              <a:t>实验报告一周内提交</a:t>
            </a:r>
            <a:endParaRPr lang="en-US" altLang="zh-CN" sz="2200" kern="0" dirty="0">
              <a:solidFill>
                <a:srgbClr val="000000"/>
              </a:solidFill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C97E38-D93C-67A6-906A-38A08C01AF3C}"/>
              </a:ext>
            </a:extLst>
          </p:cNvPr>
          <p:cNvSpPr txBox="1"/>
          <p:nvPr/>
        </p:nvSpPr>
        <p:spPr>
          <a:xfrm>
            <a:off x="4063195" y="648866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代码运行结果截图示例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CBF768-D87F-47C6-B778-E384B3E63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4450239"/>
            <a:ext cx="78295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47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8F0F1A8-3D96-2394-9118-6B8B6E5D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2" y="0"/>
            <a:ext cx="10779368" cy="103285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+mj-ea"/>
              </a:rPr>
              <a:t>四、选做题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CD69BF-3250-4033-B282-33EC7B91C9B8}"/>
              </a:ext>
            </a:extLst>
          </p:cNvPr>
          <p:cNvSpPr txBox="1"/>
          <p:nvPr/>
        </p:nvSpPr>
        <p:spPr>
          <a:xfrm>
            <a:off x="117233" y="846872"/>
            <a:ext cx="1144450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</a:rPr>
              <a:t>       判断一个数是否回文为数，如果是，输出</a:t>
            </a:r>
            <a:r>
              <a:rPr lang="en-US" altLang="zh-CN" sz="2200" dirty="0">
                <a:latin typeface="+mn-ea"/>
              </a:rPr>
              <a:t>true</a:t>
            </a:r>
            <a:r>
              <a:rPr lang="zh-CN" altLang="en-US" sz="2200" dirty="0">
                <a:latin typeface="+mn-ea"/>
              </a:rPr>
              <a:t>；否则，输出</a:t>
            </a:r>
            <a:r>
              <a:rPr lang="en-US" altLang="zh-CN" sz="2200" dirty="0">
                <a:latin typeface="+mn-ea"/>
              </a:rPr>
              <a:t>false</a:t>
            </a:r>
            <a:r>
              <a:rPr lang="zh-CN" altLang="en-US" sz="2200" dirty="0">
                <a:latin typeface="+mn-ea"/>
              </a:rPr>
              <a:t>。</a:t>
            </a:r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       回文数指正序（从左向右）和倒序（从右向左）读都是一样的整数。例如</a:t>
            </a:r>
            <a:r>
              <a:rPr lang="en-US" altLang="zh-CN" sz="2200" dirty="0">
                <a:latin typeface="+mn-ea"/>
              </a:rPr>
              <a:t>12321</a:t>
            </a:r>
            <a:r>
              <a:rPr lang="zh-CN" altLang="en-US" sz="2200" dirty="0">
                <a:latin typeface="+mn-ea"/>
              </a:rPr>
              <a:t>是回文数，</a:t>
            </a:r>
            <a:r>
              <a:rPr lang="en-US" altLang="zh-CN" sz="2200" dirty="0">
                <a:latin typeface="+mn-ea"/>
              </a:rPr>
              <a:t>12345</a:t>
            </a:r>
            <a:r>
              <a:rPr lang="zh-CN" altLang="en-US" sz="2200" dirty="0">
                <a:latin typeface="+mn-ea"/>
              </a:rPr>
              <a:t>不是回文数。</a:t>
            </a:r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       示例</a:t>
            </a:r>
            <a:r>
              <a:rPr lang="en-US" altLang="zh-CN" sz="2200" dirty="0">
                <a:latin typeface="+mn-ea"/>
              </a:rPr>
              <a:t>:</a:t>
            </a:r>
            <a:endParaRPr lang="zh-CN" altLang="en-US" sz="2200" dirty="0">
              <a:latin typeface="+mn-ea"/>
            </a:endParaRPr>
          </a:p>
          <a:p>
            <a:br>
              <a:rPr lang="zh-CN" altLang="en-US" sz="2200" dirty="0">
                <a:latin typeface="+mn-ea"/>
              </a:rPr>
            </a:br>
            <a:endParaRPr lang="zh-CN" altLang="en-US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       </a:t>
            </a: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提示：取余运算符为</a:t>
            </a:r>
            <a:r>
              <a:rPr lang="en-US" altLang="zh-CN" sz="2200" dirty="0">
                <a:latin typeface="+mn-ea"/>
              </a:rPr>
              <a:t>%</a:t>
            </a:r>
            <a:r>
              <a:rPr lang="zh-CN" altLang="en-US" sz="2200" dirty="0">
                <a:latin typeface="+mn-ea"/>
              </a:rPr>
              <a:t>（实验指导书</a:t>
            </a:r>
            <a:r>
              <a:rPr lang="en-US" altLang="zh-CN" sz="2200" dirty="0">
                <a:latin typeface="+mn-ea"/>
              </a:rPr>
              <a:t>P55</a:t>
            </a:r>
            <a:r>
              <a:rPr lang="zh-CN" altLang="en-US" sz="2200" dirty="0">
                <a:latin typeface="+mn-ea"/>
              </a:rPr>
              <a:t> 表</a:t>
            </a:r>
            <a:r>
              <a:rPr lang="en-US" altLang="zh-CN" sz="2200" dirty="0">
                <a:latin typeface="+mn-ea"/>
              </a:rPr>
              <a:t>2.1</a:t>
            </a:r>
            <a:r>
              <a:rPr lang="zh-CN" altLang="en-US" sz="2200" dirty="0">
                <a:latin typeface="+mn-ea"/>
              </a:rPr>
              <a:t> </a:t>
            </a:r>
            <a:r>
              <a:rPr lang="en-US" altLang="zh-CN" sz="2200" dirty="0">
                <a:latin typeface="+mn-ea"/>
              </a:rPr>
              <a:t>C</a:t>
            </a:r>
            <a:r>
              <a:rPr lang="zh-CN" altLang="en-US" sz="2200" dirty="0">
                <a:latin typeface="+mn-ea"/>
              </a:rPr>
              <a:t>语言的运算符与优先级）</a:t>
            </a:r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FD25E4-0445-4141-B335-B166ACC0B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09" y="2958031"/>
            <a:ext cx="5236078" cy="12988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028E3E8-DA83-4AA8-9891-1BCB09083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09" y="4398734"/>
            <a:ext cx="5195229" cy="12247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2681163-89D2-4BD9-8BE1-47F25373B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806" y="2938739"/>
            <a:ext cx="5574442" cy="135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62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8F0F1A8-3D96-2394-9118-6B8B6E5D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2" y="0"/>
            <a:ext cx="10779368" cy="103285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+mj-ea"/>
              </a:rPr>
              <a:t>五、评分标准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CD69BF-3250-4033-B282-33EC7B91C9B8}"/>
              </a:ext>
            </a:extLst>
          </p:cNvPr>
          <p:cNvSpPr txBox="1"/>
          <p:nvPr/>
        </p:nvSpPr>
        <p:spPr>
          <a:xfrm>
            <a:off x="117233" y="846872"/>
            <a:ext cx="11444503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</a:rPr>
              <a:t> 作业评分标准：</a:t>
            </a:r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分数</a:t>
            </a:r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对应情况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10-9.5	</a:t>
            </a:r>
            <a:r>
              <a:rPr lang="zh-CN" altLang="en-US" sz="2200" dirty="0">
                <a:latin typeface="+mn-ea"/>
              </a:rPr>
              <a:t>作业全部完成并全对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作业全部完成但有个别小错误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9-8.5	</a:t>
            </a:r>
            <a:r>
              <a:rPr lang="zh-CN" altLang="en-US" sz="2200" dirty="0">
                <a:latin typeface="+mn-ea"/>
              </a:rPr>
              <a:t>作业全部完成有一些错误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有一题未完成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8-</a:t>
            </a:r>
            <a:r>
              <a:rPr lang="zh-CN" altLang="en-US" sz="2200" dirty="0">
                <a:latin typeface="+mn-ea"/>
              </a:rPr>
              <a:t>  </a:t>
            </a:r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作业全部完成但错误较多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两题以上未完成</a:t>
            </a:r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一周内提交作业不扣分 超过一周每一周扣一分</a:t>
            </a:r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上机实验报告评分标准</a:t>
            </a:r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分数</a:t>
            </a:r>
            <a:r>
              <a:rPr lang="en-US" altLang="zh-CN" sz="2200" dirty="0">
                <a:latin typeface="+mn-ea"/>
              </a:rPr>
              <a:t>	</a:t>
            </a:r>
            <a:r>
              <a:rPr lang="zh-CN" altLang="en-US" sz="2200" dirty="0">
                <a:latin typeface="+mn-ea"/>
              </a:rPr>
              <a:t>对应情况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9+	</a:t>
            </a:r>
            <a:r>
              <a:rPr lang="zh-CN" altLang="en-US" sz="2200" dirty="0">
                <a:latin typeface="+mn-ea"/>
              </a:rPr>
              <a:t>实验内容全部完成</a:t>
            </a:r>
            <a:endParaRPr lang="en-US" altLang="zh-CN" sz="2200" dirty="0">
              <a:latin typeface="+mn-ea"/>
            </a:endParaRPr>
          </a:p>
          <a:p>
            <a:r>
              <a:rPr lang="en-US" altLang="zh-CN" sz="2200" dirty="0">
                <a:latin typeface="+mn-ea"/>
              </a:rPr>
              <a:t>9-	</a:t>
            </a:r>
            <a:r>
              <a:rPr lang="zh-CN" altLang="en-US" sz="2200" dirty="0">
                <a:latin typeface="+mn-ea"/>
              </a:rPr>
              <a:t>每有一项未完成</a:t>
            </a:r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r>
              <a:rPr lang="zh-CN" altLang="en-US" sz="2200" dirty="0">
                <a:latin typeface="+mn-ea"/>
              </a:rPr>
              <a:t>上机结束后一周内提交不扣分 超过一周扣一分</a:t>
            </a:r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  <a:p>
            <a:endParaRPr lang="en-US" altLang="zh-CN" sz="2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8032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3568</TotalTime>
  <Words>735</Words>
  <Application>Microsoft Office PowerPoint</Application>
  <PresentationFormat>宽屏</PresentationFormat>
  <Paragraphs>95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Wingdings</vt:lpstr>
      <vt:lpstr>等线 Light</vt:lpstr>
      <vt:lpstr>Arial</vt:lpstr>
      <vt:lpstr>Office 主题​​</vt:lpstr>
      <vt:lpstr>10月13日第一次上机</vt:lpstr>
      <vt:lpstr>一、上机系统介绍（https://cscourse.ustc.edu.cn/）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二、实验目的</vt:lpstr>
      <vt:lpstr>三、第一次上机作业要求</vt:lpstr>
      <vt:lpstr>三、第一次上机作业要求</vt:lpstr>
      <vt:lpstr>四、选做题</vt:lpstr>
      <vt:lpstr>五、评分标准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第一次上机</dc:title>
  <dc:creator>Alice Qin</dc:creator>
  <cp:lastModifiedBy>涛 殷</cp:lastModifiedBy>
  <cp:revision>71</cp:revision>
  <dcterms:created xsi:type="dcterms:W3CDTF">2022-09-24T04:14:49Z</dcterms:created>
  <dcterms:modified xsi:type="dcterms:W3CDTF">2025-10-12T02:02:43Z</dcterms:modified>
</cp:coreProperties>
</file>