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657" r:id="rId2"/>
    <p:sldId id="658" r:id="rId3"/>
    <p:sldId id="659" r:id="rId4"/>
    <p:sldId id="660" r:id="rId5"/>
    <p:sldId id="661" r:id="rId6"/>
    <p:sldId id="662" r:id="rId7"/>
    <p:sldId id="663" r:id="rId8"/>
    <p:sldId id="664" r:id="rId9"/>
    <p:sldId id="665" r:id="rId10"/>
    <p:sldId id="666" r:id="rId11"/>
    <p:sldId id="6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 Qin" initials="AQ" lastIdx="1" clrIdx="0">
    <p:extLst>
      <p:ext uri="{19B8F6BF-5375-455C-9EA6-DF929625EA0E}">
        <p15:presenceInfo xmlns:p15="http://schemas.microsoft.com/office/powerpoint/2012/main" userId="Alice Q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2FC41-5EBB-4076-BFBE-76960B949273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B322C-9250-48E5-B52D-809C78C9AF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16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70414-0151-23B0-D897-4C55BB68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70227C-BCC4-2AE5-A805-6D134DA41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F72F4-4F3C-433E-8969-6AED6F13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FD8399-E526-F932-A0AA-5B43A8A1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75B7B-ECE3-1F65-7427-FC0EA9FB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4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8CE85-03B3-40A6-F13F-F5733E7E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A86A95-3525-A9F7-CEFD-0F4D8D1F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8D09C-AF1A-9D46-2F02-AAD25585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295BB-A84E-25F1-8476-65299BFF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83F54-2CAD-F13B-996F-22209843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99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E620B-0070-5635-6B35-00C73AC8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9A5DE3-5FDB-9A3D-BC0A-5E53C1A7C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3F08B-5B3D-F3CB-6970-6DF1E174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F2C09-B61C-C3E6-7BA5-0CA21E17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C7FE0-1529-1132-8A38-CE15CB9B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2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CFFBD-CFBC-2597-5F26-62BFCACB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66F2D-6A30-C4F5-DE36-8093831DC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E30CBA-A4DA-1E27-EF1F-494C3318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6BCD9-BAA2-5A23-EFE6-C5EBEE38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99C3C6-1341-3140-82FC-11885BF8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658572-2DE6-6380-2D5F-AE3FEF78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64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D6E1F-E56A-48EF-0547-1B46BFB9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3EF44-1B6E-FF9B-969E-ED4C5301D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DCF83-1353-9D4A-3E7D-6EC419ED6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4B73DE-C0DB-6C94-5073-7B0A5F28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978959-F8CA-D21B-59E6-FA726A1C0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4557BD-4548-3507-41DA-7EDE7B01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81DBC5-6A83-BAD5-8110-27CCEB99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763578-D2EB-9AA1-AED0-18695535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41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FB2B-B692-9B29-232B-5C21C3DC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FABB9B-D345-5EE2-EFAA-47DA2645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4B796C-000F-6EB4-0942-078D1AB8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517D59-1558-BC28-70EB-B0B6D529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557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81B5A0-67B4-9E64-4B77-21F232B4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52141B-C068-9B8C-AD71-756F2273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1EBCB3-0B1A-93DE-61C9-34CCD25F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77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270E-5EAE-76D2-2571-066F56AE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E93809-A852-261A-3D12-40E2C2E7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D793BD-5CB3-EABF-6E95-11381F6B3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D9AC77-553C-6457-1908-95E879F9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D730F6-38BB-74A9-8267-359D2EDB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4BA16-510A-A6AA-C498-7D781D6C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84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FD5C7-0957-F3D5-EBFE-395C6DB2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E078F4-AE11-C4FA-A5C2-2E04DCEF3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989CCE-E6E8-160C-8F7D-13AC0C531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4C33B3-31AA-0DFC-CB3D-8823A89F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275E5-F623-CE3D-DE4A-7E973A06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9C8757-75C9-B197-88FA-7933701D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7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5FE75-B3F7-AD62-6048-72CBB008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E57523-CF10-E9FD-5AE7-10FD54904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285B7-1F5F-6BED-EF74-6572C3D1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A0E8B-5198-95A0-A7BC-989D8218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C081E-9B89-6D03-8820-1BFDB077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03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F67FC6-399F-719B-83A0-927846775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983A65-DC49-E4C3-54A9-BB744D3E7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0D493-8971-9A75-9753-20C141B4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AE464-8941-BE0A-F61C-55707B8F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0FB8D-A2BC-1F83-50C7-49EF249B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11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7C4961-DF51-7090-021B-CFBD8FC2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9F3EA0-69DB-22BD-C317-96C511AA1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CFEA1-8C6F-B149-5A1E-C39FB5EB7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A5C48-0C60-4EC1-8458-E3DCA264BD49}" type="datetimeFigureOut">
              <a:rPr lang="zh-CN" altLang="en-US" smtClean="0"/>
              <a:pPr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D943B-B3B6-CF26-0ADA-B648F893F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63139-F7ED-D969-F93C-F64D21C76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938E9-911D-4F9D-B99A-CD2B2593A1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75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8DABB-2FA6-4D00-A4A4-0E83AB97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2"/>
            <a:ext cx="10515600" cy="1325563"/>
          </a:xfrm>
        </p:spPr>
        <p:txBody>
          <a:bodyPr/>
          <a:lstStyle/>
          <a:p>
            <a:r>
              <a:rPr lang="zh-CN" altLang="en-US" b="1" dirty="0">
                <a:ea typeface="楷体_GB2312" pitchFamily="49" charset="-122"/>
              </a:rPr>
              <a:t>第三次上机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94B918-4899-46EB-9343-C6AF9029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532" y="1415015"/>
            <a:ext cx="10515600" cy="467487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时间：</a:t>
            </a:r>
            <a:r>
              <a:rPr lang="en-US" altLang="zh-CN" b="1" dirty="0">
                <a:latin typeface="+mn-ea"/>
              </a:rPr>
              <a:t>19:00-22:00   </a:t>
            </a:r>
            <a:r>
              <a:rPr lang="zh-CN" altLang="en-US" b="1" dirty="0">
                <a:latin typeface="+mn-ea"/>
              </a:rPr>
              <a:t>地点：西区电一楼机房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厅</a:t>
            </a:r>
            <a:endParaRPr lang="en-US" altLang="zh-CN" b="1" dirty="0">
              <a:latin typeface="+mn-ea"/>
            </a:endParaRPr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/>
              <a:t>内容：控制语句、数组</a:t>
            </a:r>
            <a:endParaRPr lang="en-US" altLang="zh-CN" b="1" dirty="0"/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/>
              <a:t>实验指导书</a:t>
            </a:r>
            <a:r>
              <a:rPr lang="en-US" altLang="zh-CN" b="1" dirty="0"/>
              <a:t>2.3.3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12</a:t>
            </a:r>
            <a:r>
              <a:rPr lang="zh-CN" altLang="en-US" b="1" dirty="0"/>
              <a:t>、</a:t>
            </a:r>
            <a:r>
              <a:rPr lang="en-US" altLang="zh-CN" b="1" dirty="0"/>
              <a:t>14</a:t>
            </a:r>
            <a:r>
              <a:rPr lang="zh-CN" altLang="en-US" b="1" dirty="0"/>
              <a:t>、</a:t>
            </a:r>
            <a:r>
              <a:rPr lang="en-US" altLang="zh-CN" b="1" dirty="0"/>
              <a:t>17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/>
              <a:t>实验指导书</a:t>
            </a:r>
            <a:r>
              <a:rPr lang="en-US" altLang="zh-CN" b="1" dirty="0"/>
              <a:t>2.4.3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8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/>
              <a:t>补充题：</a:t>
            </a:r>
            <a:endParaRPr lang="en-US" altLang="zh-CN" b="1" dirty="0"/>
          </a:p>
          <a:p>
            <a:pPr marL="914400" lvl="2" indent="0">
              <a:spcBef>
                <a:spcPts val="1200"/>
              </a:spcBef>
              <a:buClr>
                <a:srgbClr val="FF0000"/>
              </a:buClr>
              <a:buNone/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、输出</a:t>
            </a:r>
            <a:r>
              <a:rPr lang="en-US" altLang="zh-CN" sz="2400" b="1" dirty="0"/>
              <a:t>100-200</a:t>
            </a:r>
            <a:r>
              <a:rPr lang="zh-CN" altLang="en-US" sz="2400" b="1" dirty="0"/>
              <a:t>之间不能被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整除的数，每输出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个数换一行，并画出流程图。</a:t>
            </a:r>
            <a:endParaRPr lang="en-US" altLang="zh-CN" sz="2400" b="1" dirty="0"/>
          </a:p>
          <a:p>
            <a:pPr marL="0" indent="0">
              <a:buNone/>
              <a:defRPr/>
            </a:pPr>
            <a:r>
              <a:rPr lang="en-US" altLang="zh-CN" sz="2400" b="1" dirty="0"/>
              <a:t>	2</a:t>
            </a:r>
            <a:r>
              <a:rPr lang="zh-CN" altLang="en-US" sz="2400" b="1" dirty="0"/>
              <a:t>、输出数组（数值和字符）的最大值以及它的下标位置；</a:t>
            </a:r>
            <a:endParaRPr lang="en-US" altLang="zh-CN" sz="2400" b="1" dirty="0"/>
          </a:p>
          <a:p>
            <a:pPr marL="0" indent="0">
              <a:buNone/>
              <a:defRPr/>
            </a:pPr>
            <a:r>
              <a:rPr lang="en-US" altLang="zh-CN" sz="2400" b="1" dirty="0"/>
              <a:t>	3</a:t>
            </a:r>
            <a:r>
              <a:rPr lang="zh-CN" altLang="en-US" sz="2400" b="1" dirty="0"/>
              <a:t>、画出</a:t>
            </a:r>
            <a:r>
              <a:rPr lang="en-US" altLang="zh-CN" sz="2400" b="1" dirty="0"/>
              <a:t>2.3.3</a:t>
            </a:r>
            <a:r>
              <a:rPr lang="zh-CN" altLang="en-US" sz="2400" b="1" dirty="0"/>
              <a:t>自主编程练习的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题和</a:t>
            </a:r>
            <a:r>
              <a:rPr lang="en-US" altLang="zh-CN" sz="2400" b="1" dirty="0"/>
              <a:t>14</a:t>
            </a:r>
            <a:r>
              <a:rPr lang="zh-CN" altLang="en-US" sz="2400" b="1" dirty="0"/>
              <a:t>题的流程图</a:t>
            </a:r>
            <a:br>
              <a:rPr lang="zh-CN" altLang="en-US" sz="2400" b="1" dirty="0"/>
            </a:b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85057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BEE1A-D794-43A1-A988-37A32C9E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7E148-804A-4210-BEE4-AC3EB4920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u"/>
              <a:defRPr/>
            </a:pPr>
            <a:r>
              <a:rPr lang="zh-CN" altLang="en-US" b="1" dirty="0">
                <a:cs typeface="+mn-cs"/>
              </a:rPr>
              <a:t>选做题：</a:t>
            </a:r>
            <a:r>
              <a:rPr lang="zh-CN" altLang="zh-CN" sz="2800" b="1" dirty="0"/>
              <a:t>求集合中所有元素的排列情况，称为全排列问题。这是计算机科学中的一个经典问题，有多种求解方法。以集合</a:t>
            </a:r>
            <a:r>
              <a:rPr lang="en-US" altLang="zh-CN" sz="2800" b="1" dirty="0"/>
              <a:t>{1 , 2, 3 , ⋯</a:t>
            </a:r>
            <a:r>
              <a:rPr lang="zh-CN" altLang="zh-CN" sz="2800" b="1" dirty="0"/>
              <a:t>，</a:t>
            </a:r>
            <a:r>
              <a:rPr lang="en-US" altLang="zh-CN" sz="2800" b="1" dirty="0"/>
              <a:t>N}</a:t>
            </a:r>
            <a:r>
              <a:rPr lang="zh-CN" altLang="zh-CN" sz="2800" b="1" dirty="0"/>
              <a:t>（</a:t>
            </a:r>
            <a:r>
              <a:rPr lang="en-US" altLang="zh-CN" sz="2800" b="1" dirty="0"/>
              <a:t>N</a:t>
            </a:r>
            <a:r>
              <a:rPr lang="zh-CN" altLang="zh-CN" sz="2800" b="1" dirty="0"/>
              <a:t>≤</a:t>
            </a:r>
            <a:r>
              <a:rPr lang="en-US" altLang="zh-CN" sz="2800" b="1" dirty="0"/>
              <a:t>20</a:t>
            </a:r>
            <a:r>
              <a:rPr lang="zh-CN" altLang="zh-CN" sz="2800" b="1" dirty="0"/>
              <a:t>）为例，为得到全排列，一种简单的方法是从</a:t>
            </a:r>
            <a:r>
              <a:rPr lang="en-US" altLang="zh-CN" sz="2800" b="1" dirty="0"/>
              <a:t>1</a:t>
            </a:r>
            <a:r>
              <a:rPr lang="zh-CN" altLang="zh-CN" sz="2800" b="1" dirty="0"/>
              <a:t>和</a:t>
            </a:r>
            <a:r>
              <a:rPr lang="en-US" altLang="zh-CN" sz="2800" b="1" dirty="0"/>
              <a:t>2</a:t>
            </a:r>
            <a:r>
              <a:rPr lang="zh-CN" altLang="zh-CN" sz="2800" b="1" dirty="0"/>
              <a:t>的有序组合</a:t>
            </a:r>
            <a:r>
              <a:rPr lang="en-US" altLang="zh-CN" sz="2800" b="1" dirty="0"/>
              <a:t>12</a:t>
            </a:r>
            <a:r>
              <a:rPr lang="zh-CN" altLang="zh-CN" sz="2800" b="1" dirty="0"/>
              <a:t>开始</a:t>
            </a:r>
            <a:endParaRPr lang="en-US" altLang="zh-CN" sz="2800" b="1" dirty="0"/>
          </a:p>
          <a:p>
            <a:pPr marL="683895" lvl="1" indent="266700" algn="just">
              <a:lnSpc>
                <a:spcPct val="120000"/>
              </a:lnSpc>
              <a:spcBef>
                <a:spcPts val="0"/>
              </a:spcBef>
            </a:pPr>
            <a:r>
              <a:rPr lang="zh-CN" altLang="zh-CN" sz="2800" b="1" dirty="0"/>
              <a:t>首先将</a:t>
            </a:r>
            <a:r>
              <a:rPr lang="en-US" altLang="zh-CN" sz="2800" b="1" dirty="0"/>
              <a:t>3</a:t>
            </a:r>
            <a:r>
              <a:rPr lang="zh-CN" altLang="zh-CN" sz="2800" b="1" dirty="0"/>
              <a:t>插入到其中，得到如下排列：</a:t>
            </a:r>
            <a:r>
              <a:rPr lang="en-US" altLang="zh-CN" sz="2800" b="1" dirty="0"/>
              <a:t>123</a:t>
            </a:r>
            <a:r>
              <a:rPr lang="zh-CN" altLang="zh-CN" sz="2800" b="1" dirty="0"/>
              <a:t>，</a:t>
            </a:r>
            <a:r>
              <a:rPr lang="en-US" altLang="zh-CN" sz="2800" b="1" dirty="0"/>
              <a:t>132</a:t>
            </a:r>
            <a:r>
              <a:rPr lang="zh-CN" altLang="zh-CN" sz="2800" b="1" dirty="0"/>
              <a:t>，</a:t>
            </a:r>
            <a:r>
              <a:rPr lang="en-US" altLang="zh-CN" sz="2800" b="1" dirty="0"/>
              <a:t>312</a:t>
            </a:r>
            <a:endParaRPr lang="zh-CN" altLang="zh-CN" sz="2800" b="1" dirty="0"/>
          </a:p>
          <a:p>
            <a:pPr marL="683895" lvl="1" indent="266700" algn="just">
              <a:lnSpc>
                <a:spcPct val="120000"/>
              </a:lnSpc>
              <a:spcBef>
                <a:spcPts val="0"/>
              </a:spcBef>
            </a:pPr>
            <a:r>
              <a:rPr lang="zh-CN" altLang="zh-CN" sz="2800" b="1" dirty="0"/>
              <a:t>再交换</a:t>
            </a:r>
            <a:r>
              <a:rPr lang="en-US" altLang="zh-CN" sz="2800" b="1" dirty="0"/>
              <a:t>1</a:t>
            </a:r>
            <a:r>
              <a:rPr lang="zh-CN" altLang="zh-CN" sz="2800" b="1" dirty="0"/>
              <a:t>和</a:t>
            </a:r>
            <a:r>
              <a:rPr lang="en-US" altLang="zh-CN" sz="2800" b="1" dirty="0"/>
              <a:t>2</a:t>
            </a:r>
            <a:r>
              <a:rPr lang="zh-CN" altLang="zh-CN" sz="2800" b="1" dirty="0"/>
              <a:t>的位置，即有序组合</a:t>
            </a:r>
            <a:r>
              <a:rPr lang="en-US" altLang="zh-CN" sz="2800" b="1" dirty="0"/>
              <a:t>21</a:t>
            </a:r>
            <a:r>
              <a:rPr lang="zh-CN" altLang="zh-CN" sz="2800" b="1" dirty="0"/>
              <a:t>，插入</a:t>
            </a:r>
            <a:r>
              <a:rPr lang="en-US" altLang="zh-CN" sz="2800" b="1" dirty="0"/>
              <a:t>3</a:t>
            </a:r>
            <a:r>
              <a:rPr lang="zh-CN" altLang="zh-CN" sz="2800" b="1" dirty="0"/>
              <a:t>，可得如下排列：</a:t>
            </a:r>
            <a:r>
              <a:rPr lang="en-US" altLang="zh-CN" sz="2800" b="1" dirty="0"/>
              <a:t>213</a:t>
            </a:r>
            <a:r>
              <a:rPr lang="zh-CN" altLang="zh-CN" sz="2800" b="1" dirty="0"/>
              <a:t>，</a:t>
            </a:r>
            <a:r>
              <a:rPr lang="en-US" altLang="zh-CN" sz="2800" b="1" dirty="0"/>
              <a:t>231</a:t>
            </a:r>
            <a:r>
              <a:rPr lang="zh-CN" altLang="zh-CN" sz="2800" b="1" dirty="0"/>
              <a:t>，</a:t>
            </a:r>
            <a:r>
              <a:rPr lang="en-US" altLang="zh-CN" sz="2800" b="1" dirty="0"/>
              <a:t>321</a:t>
            </a:r>
            <a:endParaRPr lang="zh-CN" altLang="zh-CN" sz="2800" b="1" dirty="0"/>
          </a:p>
          <a:p>
            <a:pPr marL="683895" lvl="1" indent="266700" algn="just">
              <a:lnSpc>
                <a:spcPct val="120000"/>
              </a:lnSpc>
              <a:spcBef>
                <a:spcPts val="0"/>
              </a:spcBef>
            </a:pPr>
            <a:r>
              <a:rPr lang="zh-CN" altLang="zh-CN" sz="2800" b="1" dirty="0"/>
              <a:t>求解全排列问题时不需要进行加减乘除等运算，但要进行大量的数组元素移动和插入。在计算机科学领域，只要是在计算机上进行的操作都被视为计算，对任何计算过程的描述都是算法。以上算法思路看似简单，但要清晰地描述其完整的逻辑并不容易。</a:t>
            </a:r>
            <a:endParaRPr lang="en-US" altLang="zh-CN" sz="2800" b="1" dirty="0"/>
          </a:p>
          <a:p>
            <a:pPr marL="683895" lvl="1" indent="266700" algn="just">
              <a:lnSpc>
                <a:spcPct val="120000"/>
              </a:lnSpc>
              <a:spcBef>
                <a:spcPts val="0"/>
              </a:spcBef>
            </a:pPr>
            <a:r>
              <a:rPr lang="zh-CN" altLang="zh-CN" sz="2800" b="1" dirty="0"/>
              <a:t>实训要求：针对</a:t>
            </a:r>
            <a:r>
              <a:rPr lang="en-US" altLang="zh-CN" sz="2800" b="1" dirty="0"/>
              <a:t>N=5</a:t>
            </a:r>
            <a:r>
              <a:rPr lang="zh-CN" altLang="zh-CN" sz="2800" b="1" dirty="0"/>
              <a:t>的集合，用流程图描述全排列算法</a:t>
            </a:r>
            <a:r>
              <a:rPr lang="zh-CN" altLang="en-US" sz="2800" b="1" dirty="0"/>
              <a:t>（可略）</a:t>
            </a:r>
            <a:r>
              <a:rPr lang="zh-CN" altLang="zh-CN" sz="2800" b="1" dirty="0"/>
              <a:t>，再编程实现，将排列结果</a:t>
            </a:r>
            <a:r>
              <a:rPr lang="zh-CN" altLang="en-US" sz="2800" b="1" dirty="0"/>
              <a:t>输出或者</a:t>
            </a:r>
            <a:r>
              <a:rPr lang="zh-CN" altLang="zh-CN" sz="2800" b="1" dirty="0"/>
              <a:t>存入一个文件中。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135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6F948-D790-4651-8CB8-74231E80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2.3.3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12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A8FB0-ABA7-48B6-BB50-43E0C006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设计程序寻找所有的水仙花数。水仙花数指的是一个三位整数，其每位数字的立方和等于其本身。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11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6F948-D790-4651-8CB8-74231E80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2.3.3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14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A8FB0-ABA7-48B6-BB50-43E0C006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任一个大于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的偶数都可以写成两个素数之和。设计程序验证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以内的偶数满足哥德巴赫猜想。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由键盘输入，并判断其是否为大于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的偶数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）将从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开始到不大于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的偶数全部写成两个素数之和的形式输出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）将每个偶数所有的可能拆解都写出来，但不要把两个素数交换位置的也打印出来。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511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6F948-D790-4651-8CB8-74231E80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2.3.3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17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A8FB0-ABA7-48B6-BB50-43E0C006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设计程序用牛顿迭代法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(x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n+1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0" i="0" baseline="-2500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-f(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0" i="0" baseline="-2500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)/f’(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0" i="0" baseline="-2500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求一个正数的平方根</a:t>
            </a:r>
            <a:endParaRPr lang="en-US" altLang="zh-CN" b="0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=x^2</a:t>
            </a:r>
            <a:endParaRPr lang="en-US" altLang="zh-CN" b="0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输入一个正数，用</a:t>
            </a:r>
            <a:r>
              <a:rPr lang="en-US" altLang="zh-CN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类型表示</a:t>
            </a:r>
            <a:r>
              <a:rPr lang="en-US" altLang="zh-CN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为该正数</a:t>
            </a:r>
            <a:endParaRPr lang="en-US" altLang="zh-CN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计算此正数的平方根，精度小于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10^-6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n+1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-x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的绝对值小于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10^-6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x=3</a:t>
            </a:r>
            <a:r>
              <a:rPr lang="zh-CN" altLang="en-US" b="0" i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开始迭代</a:t>
            </a:r>
            <a:endParaRPr lang="en-US" altLang="zh-CN" b="0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打印此正数的平方根</a:t>
            </a:r>
            <a:endParaRPr lang="en-US" altLang="zh-CN" b="0" i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835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A6A70-B68D-4407-AB48-C8A7ACC4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2.4.3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3C4D4-E9E6-4F5E-B9EA-4B35DEBBF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个整数，存放在一个一维数组中，输入一个数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m&lt;10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），再输入一个整数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，在第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个元素后插入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（后续数组元素都后移一位），并输出最终的数组内容。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2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A6A70-B68D-4407-AB48-C8A7ACC4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2.4.3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7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3C4D4-E9E6-4F5E-B9EA-4B35DEBBF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随机产生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[-1,1]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之间的浮点数，使用冒泡法进行排序后，每行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个输出结果。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 随机数的产生使用“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stdlib.h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头文件中的“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srand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rand()”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 通过算术运算等将“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rand()”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函数产生的随机数大小调整到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[-1.0,1.0]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范围内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 产生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个随机数存储到数组中，并用冒泡法进行排序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 最后打印排序后的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个数，每行打印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061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A6A70-B68D-4407-AB48-C8A7ACC4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2.4.3</a:t>
            </a:r>
            <a:r>
              <a:rPr lang="zh-CN" altLang="en-US" b="1" dirty="0"/>
              <a:t>自主编程练习</a:t>
            </a:r>
            <a:r>
              <a:rPr lang="en-US" altLang="zh-CN" b="1" dirty="0"/>
              <a:t>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3C4D4-E9E6-4F5E-B9EA-4B35DEBBF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读入 </a:t>
            </a:r>
            <a:r>
              <a:rPr lang="en-US" altLang="zh-CN" sz="2000" dirty="0" err="1"/>
              <a:t>srand</a:t>
            </a:r>
            <a:r>
              <a:rPr lang="en-US" altLang="zh-CN" sz="2000" dirty="0"/>
              <a:t> </a:t>
            </a:r>
            <a:r>
              <a:rPr lang="zh-CN" altLang="en-US" sz="2000" dirty="0"/>
              <a:t>所使用的随机数种子，随机产生</a:t>
            </a:r>
            <a:r>
              <a:rPr lang="en-US" altLang="zh-CN" sz="2000" dirty="0"/>
              <a:t>20</a:t>
            </a:r>
            <a:r>
              <a:rPr lang="zh-CN" altLang="en-US" sz="2000" dirty="0"/>
              <a:t>个</a:t>
            </a:r>
            <a:r>
              <a:rPr lang="en-US" altLang="zh-CN" sz="2000" dirty="0"/>
              <a:t>[0,100]</a:t>
            </a:r>
            <a:r>
              <a:rPr lang="zh-CN" altLang="en-US" sz="2000" dirty="0"/>
              <a:t>之间的整数，每产生一个随机数都用插入法进行排序，完成后输出数组；再循环输入</a:t>
            </a:r>
            <a:r>
              <a:rPr lang="en-US" altLang="zh-CN" sz="2000" dirty="0"/>
              <a:t>3</a:t>
            </a:r>
            <a:r>
              <a:rPr lang="zh-CN" altLang="en-US" sz="2000" dirty="0"/>
              <a:t>个整数（其中</a:t>
            </a:r>
            <a:r>
              <a:rPr lang="en-US" altLang="zh-CN" sz="2000" dirty="0"/>
              <a:t>2</a:t>
            </a:r>
            <a:r>
              <a:rPr lang="zh-CN" altLang="en-US" sz="2000" dirty="0"/>
              <a:t>个在该数组中，</a:t>
            </a:r>
            <a:r>
              <a:rPr lang="en-US" altLang="zh-CN" sz="2000" dirty="0"/>
              <a:t>1</a:t>
            </a:r>
            <a:r>
              <a:rPr lang="zh-CN" altLang="en-US" sz="2000" dirty="0"/>
              <a:t>个不在），用二分法查找并显示输入的整数是否在数组中，如果在，输出是第几个元素。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 随机数的产生使用“</a:t>
            </a:r>
            <a:r>
              <a:rPr lang="en-US" altLang="zh-CN" sz="2000" dirty="0" err="1"/>
              <a:t>stdlib.h</a:t>
            </a:r>
            <a:r>
              <a:rPr lang="en-US" altLang="zh-CN" sz="2000" dirty="0"/>
              <a:t>”</a:t>
            </a:r>
            <a:r>
              <a:rPr lang="zh-CN" altLang="en-US" sz="2000" dirty="0"/>
              <a:t>头文件中的“</a:t>
            </a:r>
            <a:r>
              <a:rPr lang="en-US" altLang="zh-CN" sz="2000" dirty="0" err="1"/>
              <a:t>srand</a:t>
            </a:r>
            <a:r>
              <a:rPr lang="en-US" altLang="zh-CN" sz="2000" dirty="0"/>
              <a:t>()”</a:t>
            </a:r>
            <a:r>
              <a:rPr lang="zh-CN" altLang="en-US" sz="2000" dirty="0"/>
              <a:t>和“</a:t>
            </a:r>
            <a:r>
              <a:rPr lang="en-US" altLang="zh-CN" sz="2000" dirty="0"/>
              <a:t>rand()”</a:t>
            </a:r>
            <a:r>
              <a:rPr lang="zh-CN" altLang="en-US" sz="2000" dirty="0"/>
              <a:t>函数。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 通过算术运算等将“</a:t>
            </a:r>
            <a:r>
              <a:rPr lang="en-US" altLang="zh-CN" sz="2000" dirty="0"/>
              <a:t>rand()”</a:t>
            </a:r>
            <a:r>
              <a:rPr lang="zh-CN" altLang="en-US" sz="2000" dirty="0"/>
              <a:t>函数产生的随机数大小调整到</a:t>
            </a:r>
            <a:r>
              <a:rPr lang="en-US" altLang="zh-CN" sz="2000" dirty="0"/>
              <a:t>[0,100]</a:t>
            </a:r>
            <a:r>
              <a:rPr lang="zh-CN" altLang="en-US" sz="2000" dirty="0"/>
              <a:t>范围内（</a:t>
            </a:r>
            <a:r>
              <a:rPr lang="en-US" altLang="zh-CN" sz="2000" dirty="0"/>
              <a:t>rand() % 101</a:t>
            </a:r>
            <a:r>
              <a:rPr lang="zh-CN" altLang="en-US" sz="2000" dirty="0"/>
              <a:t>）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 数组初始为全零，元素个数也为</a:t>
            </a:r>
            <a:r>
              <a:rPr lang="en-US" altLang="zh-CN" sz="2000" dirty="0"/>
              <a:t>0</a:t>
            </a:r>
            <a:r>
              <a:rPr lang="zh-CN" altLang="en-US" sz="2000" dirty="0"/>
              <a:t>。每产生</a:t>
            </a:r>
            <a:r>
              <a:rPr lang="en-US" altLang="zh-CN" sz="2000" dirty="0"/>
              <a:t>1</a:t>
            </a:r>
            <a:r>
              <a:rPr lang="zh-CN" altLang="en-US" sz="2000" dirty="0"/>
              <a:t>个随机数，就按序插入到数组中，即插入排序，一共产生</a:t>
            </a:r>
            <a:r>
              <a:rPr lang="en-US" altLang="zh-CN" sz="2000" dirty="0"/>
              <a:t>20</a:t>
            </a:r>
            <a:r>
              <a:rPr lang="zh-CN" altLang="en-US" sz="2000" dirty="0"/>
              <a:t>个随机数。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 打印排序后的</a:t>
            </a:r>
            <a:r>
              <a:rPr lang="en-US" altLang="zh-CN" sz="2000" dirty="0"/>
              <a:t>20</a:t>
            </a:r>
            <a:r>
              <a:rPr lang="zh-CN" altLang="en-US" sz="2000" dirty="0"/>
              <a:t>个数，每行打印</a:t>
            </a:r>
            <a:r>
              <a:rPr lang="en-US" altLang="zh-CN" sz="2000" dirty="0"/>
              <a:t>5</a:t>
            </a:r>
            <a:r>
              <a:rPr lang="zh-CN" altLang="en-US" sz="2000" dirty="0"/>
              <a:t>个，行与行之间数据对齐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5</a:t>
            </a:r>
            <a:r>
              <a:rPr lang="zh-CN" altLang="en-US" sz="2000" dirty="0"/>
              <a:t>） 循环输入</a:t>
            </a:r>
            <a:r>
              <a:rPr lang="en-US" altLang="zh-CN" sz="2000" dirty="0"/>
              <a:t>3</a:t>
            </a:r>
            <a:r>
              <a:rPr lang="zh-CN" altLang="en-US" sz="2000" dirty="0"/>
              <a:t>个数，查找他们在数组中的位置并输出，找不到则输出“</a:t>
            </a:r>
            <a:r>
              <a:rPr lang="en-US" altLang="zh-CN" sz="2000" dirty="0"/>
              <a:t>Not found”</a:t>
            </a:r>
          </a:p>
          <a:p>
            <a:endParaRPr lang="en-US" altLang="zh-CN" sz="2000" dirty="0"/>
          </a:p>
          <a:p>
            <a:r>
              <a:rPr lang="zh-CN" altLang="en-US" sz="2000" dirty="0"/>
              <a:t>注：第一个输入为随机数种子，之后的输入为查询的数据</a:t>
            </a:r>
          </a:p>
        </p:txBody>
      </p:sp>
    </p:spTree>
    <p:extLst>
      <p:ext uri="{BB962C8B-B14F-4D97-AF65-F5344CB8AC3E}">
        <p14:creationId xmlns:p14="http://schemas.microsoft.com/office/powerpoint/2010/main" val="232463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E0238-90A6-4701-A30F-90D2D632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补充题</a:t>
            </a:r>
            <a:r>
              <a:rPr lang="en-US" altLang="zh-CN" b="1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FD50D1-8BEE-4C00-A475-179B50B86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/>
              <a:t>输出</a:t>
            </a:r>
            <a:r>
              <a:rPr lang="en-US" altLang="zh-CN" sz="2800" b="1" dirty="0"/>
              <a:t>100-200</a:t>
            </a:r>
            <a:r>
              <a:rPr lang="zh-CN" altLang="en-US" sz="2800" b="1" dirty="0"/>
              <a:t>之间不能被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整除的数，每输出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个数换一行，并画出流程图。</a:t>
            </a:r>
            <a:endParaRPr lang="en-US" altLang="zh-CN" sz="2800" b="1" dirty="0"/>
          </a:p>
          <a:p>
            <a:r>
              <a:rPr lang="zh-CN" altLang="en-US" b="1" dirty="0"/>
              <a:t>流程图画在实验报告上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229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E0238-90A6-4701-A30F-90D2D632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补充题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FD50D1-8BEE-4C00-A475-179B50B86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200" b="1" dirty="0"/>
              <a:t>输出数组（数值和字符）的最大值以及它的下标位置</a:t>
            </a:r>
            <a:endParaRPr lang="en-US" altLang="zh-CN" sz="2200" b="1" dirty="0"/>
          </a:p>
          <a:p>
            <a:r>
              <a:rPr lang="zh-CN" altLang="en-US" sz="2200" b="1" dirty="0"/>
              <a:t>手动输入随机数种子</a:t>
            </a:r>
            <a:endParaRPr lang="en-US" altLang="zh-CN" sz="2200" b="1" dirty="0"/>
          </a:p>
          <a:p>
            <a:r>
              <a:rPr lang="zh-CN" altLang="en-US" sz="2200" b="1" dirty="0"/>
              <a:t>随机生成</a:t>
            </a:r>
            <a:r>
              <a:rPr lang="en-US" altLang="zh-CN" sz="2200" b="1" dirty="0"/>
              <a:t>20</a:t>
            </a:r>
            <a:r>
              <a:rPr lang="zh-CN" altLang="en-US" sz="2200" b="1" dirty="0"/>
              <a:t>个数，数据类型为</a:t>
            </a:r>
            <a:r>
              <a:rPr lang="en-US" altLang="zh-CN" sz="2200" b="1" dirty="0"/>
              <a:t>unsigned int</a:t>
            </a:r>
          </a:p>
          <a:p>
            <a:r>
              <a:rPr lang="zh-CN" altLang="en-US" sz="2200" b="1" dirty="0"/>
              <a:t>打印数组，每</a:t>
            </a:r>
            <a:r>
              <a:rPr lang="en-US" altLang="zh-CN" sz="2200" b="1" dirty="0"/>
              <a:t>5</a:t>
            </a:r>
            <a:r>
              <a:rPr lang="zh-CN" altLang="en-US" sz="2200" b="1" dirty="0"/>
              <a:t>个数一行，用</a:t>
            </a:r>
            <a:r>
              <a:rPr lang="en-US" altLang="zh-CN" sz="2200" b="1" dirty="0"/>
              <a:t>\t</a:t>
            </a:r>
            <a:r>
              <a:rPr lang="zh-CN" altLang="en-US" sz="2200" b="1"/>
              <a:t>分隔</a:t>
            </a:r>
            <a:endParaRPr lang="en-US" altLang="zh-CN" sz="2200" b="1" dirty="0"/>
          </a:p>
          <a:p>
            <a:r>
              <a:rPr lang="zh-CN" altLang="en-US" sz="2200" b="1" dirty="0"/>
              <a:t>输出其中的最大值及其下标位置，下标从</a:t>
            </a:r>
            <a:r>
              <a:rPr lang="en-US" altLang="zh-CN" sz="2200" b="1" dirty="0"/>
              <a:t>0</a:t>
            </a:r>
            <a:r>
              <a:rPr lang="zh-CN" altLang="en-US" sz="2200" b="1" dirty="0"/>
              <a:t>开始计数</a:t>
            </a:r>
            <a:endParaRPr lang="en-US" altLang="zh-CN" sz="22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985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E0238-90A6-4701-A30F-90D2D632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补充题</a:t>
            </a:r>
            <a:r>
              <a:rPr lang="en-US" altLang="zh-CN" b="1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FD50D1-8BEE-4C00-A475-179B50B86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/>
              <a:t>画出</a:t>
            </a:r>
            <a:r>
              <a:rPr lang="en-US" altLang="zh-CN" sz="2800" b="1" dirty="0"/>
              <a:t>2.3.3</a:t>
            </a:r>
            <a:r>
              <a:rPr lang="zh-CN" altLang="en-US" sz="2800" b="1" dirty="0"/>
              <a:t>自主编程练习的</a:t>
            </a:r>
            <a:r>
              <a:rPr lang="en-US" altLang="zh-CN" sz="2800" b="1" dirty="0"/>
              <a:t>12</a:t>
            </a:r>
            <a:r>
              <a:rPr lang="zh-CN" altLang="en-US" sz="2800" b="1" dirty="0"/>
              <a:t>题和</a:t>
            </a:r>
            <a:r>
              <a:rPr lang="en-US" altLang="zh-CN" sz="2800" b="1" dirty="0"/>
              <a:t>14</a:t>
            </a:r>
            <a:r>
              <a:rPr lang="zh-CN" altLang="en-US" sz="2800" b="1" dirty="0"/>
              <a:t>题的流程图</a:t>
            </a:r>
            <a:endParaRPr lang="en-US" altLang="zh-CN" sz="28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注：编程出错时不妨先画流程图，从流程图检查算法是否正确，然后检查代码和流程图是否匹配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248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7845</TotalTime>
  <Words>1069</Words>
  <Application>Microsoft Office PowerPoint</Application>
  <PresentationFormat>宽屏</PresentationFormat>
  <Paragraphs>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Helvetica Neue</vt:lpstr>
      <vt:lpstr>等线</vt:lpstr>
      <vt:lpstr>等线 Light</vt:lpstr>
      <vt:lpstr>宋体</vt:lpstr>
      <vt:lpstr>Arial</vt:lpstr>
      <vt:lpstr>Wingdings</vt:lpstr>
      <vt:lpstr>Office 主题​​</vt:lpstr>
      <vt:lpstr>第三次上机</vt:lpstr>
      <vt:lpstr>PowerPoint 演示文稿</vt:lpstr>
      <vt:lpstr>实验指导书2.3.3自主编程练习12</vt:lpstr>
      <vt:lpstr>实验指导书2.3.3自主编程练习14</vt:lpstr>
      <vt:lpstr>实验指导书2.3.3自主编程练习17</vt:lpstr>
      <vt:lpstr>实验指导书2.4.3自主编程练习4</vt:lpstr>
      <vt:lpstr>实验指导书2.4.3自主编程练习7</vt:lpstr>
      <vt:lpstr>实验指导书2.4.3自主编程练习8</vt:lpstr>
      <vt:lpstr>补充题1</vt:lpstr>
      <vt:lpstr>补充题2</vt:lpstr>
      <vt:lpstr>补充题3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第一次上机</dc:title>
  <dc:creator>Alice Qin</dc:creator>
  <cp:lastModifiedBy>涛 殷</cp:lastModifiedBy>
  <cp:revision>133</cp:revision>
  <dcterms:created xsi:type="dcterms:W3CDTF">2022-10-02T07:25:47Z</dcterms:created>
  <dcterms:modified xsi:type="dcterms:W3CDTF">2025-10-23T15:10:41Z</dcterms:modified>
</cp:coreProperties>
</file>