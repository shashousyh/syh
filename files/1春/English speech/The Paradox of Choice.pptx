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70" r:id="rId10"/>
    <p:sldId id="264" r:id="rId11"/>
    <p:sldId id="263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Playfair Display" panose="00000500000000000000" pitchFamily="2" charset="0"/>
      <p:regular r:id="rId21"/>
      <p:bold r:id="rId22"/>
      <p:italic r:id="rId23"/>
      <p:boldItalic r:id="rId24"/>
    </p:embeddedFont>
    <p:embeddedFont>
      <p:font typeface="Playfair Display SemiBold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30" autoAdjust="0"/>
    <p:restoredTop sz="86269" autoAdjust="0"/>
  </p:normalViewPr>
  <p:slideViewPr>
    <p:cSldViewPr snapToGrid="0">
      <p:cViewPr varScale="1">
        <p:scale>
          <a:sx n="83" d="100"/>
          <a:sy n="83" d="100"/>
        </p:scale>
        <p:origin x="525" y="45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zh-CN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Today I want to talk about a fascinating idea called </a:t>
            </a:r>
            <a:r>
              <a:rPr lang="en-US" altLang="zh-CN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Paradox of Choice</a:t>
            </a: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which explains that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zh-CN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while </a:t>
            </a: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some choice is essential for autonomy, too many options…</a:t>
            </a:r>
            <a:endParaRPr lang="zh-CN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First, too many options cause </a:t>
            </a:r>
            <a:r>
              <a:rPr lang="en-US" altLang="zh-CN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cognitive overload.</a:t>
            </a:r>
            <a:r>
              <a:rPr lang="zh-CN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Our brains have a very limited working memory.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When we’re forced to compare dozens of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prices, features and reviews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 once, we simply can’t process everything.</a:t>
            </a:r>
            <a:endParaRPr dirty="0"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dirty="0">
                <a:effectLst/>
              </a:rPr>
              <a:t>In a supermarket, researchers set up a tasting booth with 24 different jars of jam. 60 percent of shoppers stopped to try them — but only 3 percent actually bought a jar. When the researchers reduced the selection to just 6 jars, the purchase rate jumped to 30 percent.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100" dirty="0">
              <a:solidFill>
                <a:srgbClr val="525A66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Same customers, same jam—fewer choices led to more sales. </a:t>
            </a:r>
            <a:endParaRPr dirty="0"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A44C8007-E6CF-2466-E76A-530087E3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>
            <a:extLst>
              <a:ext uri="{FF2B5EF4-FFF2-40B4-BE49-F238E27FC236}">
                <a16:creationId xmlns:a16="http://schemas.microsoft.com/office/drawing/2014/main" id="{A917B06F-6DF2-A585-5CDB-BFE5B649BA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Even after we choose, we can be unhappy because of opportunity cost. </a:t>
            </a:r>
            <a:endParaRPr dirty="0"/>
          </a:p>
        </p:txBody>
      </p:sp>
      <p:sp>
        <p:nvSpPr>
          <p:cNvPr id="113" name="Google Shape;113;p4:notes">
            <a:extLst>
              <a:ext uri="{FF2B5EF4-FFF2-40B4-BE49-F238E27FC236}">
                <a16:creationId xmlns:a16="http://schemas.microsoft.com/office/drawing/2014/main" id="{9F2A5CA1-65C1-92BD-90D7-AA536E72FB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6116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more options we see, the more options we have to reject.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dirty="0">
                <a:effectLst/>
              </a:rPr>
              <a:t>Our minds keep focusing on what we didn’t choose.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We may keep wondering, “What if the other option was better?” This leads to regret and lower satisfaction.</a:t>
            </a:r>
            <a:endParaRPr lang="zh-CN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People who chase the absolute best—“maximizers”—suffer most. “</a:t>
            </a:r>
            <a:r>
              <a:rPr lang="en-US" altLang="zh-CN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Satisficers</a:t>
            </a: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,” who settle for “good enough,” end up far happier.</a:t>
            </a:r>
            <a:endParaRPr lang="zh-CN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43389907-44E5-45B3-5896-1A5FBB41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>
            <a:extLst>
              <a:ext uri="{FF2B5EF4-FFF2-40B4-BE49-F238E27FC236}">
                <a16:creationId xmlns:a16="http://schemas.microsoft.com/office/drawing/2014/main" id="{910147A8-D350-33D1-3009-102F0A509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>
            <a:extLst>
              <a:ext uri="{FF2B5EF4-FFF2-40B4-BE49-F238E27FC236}">
                <a16:creationId xmlns:a16="http://schemas.microsoft.com/office/drawing/2014/main" id="{48952E21-1C28-7E26-46AC-FCBE2EA11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0345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 what can we do about this?</a:t>
            </a:r>
            <a:endParaRPr lang="zh-CN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Actually, I suffer this every weekend with my roommates. “Let’s get dinner!” they say.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zh-CN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dirty="0">
                <a:effectLst/>
              </a:rPr>
              <a:t>But when I ask what they want, they just reply, “Anything — you decide.” They just want to eat.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How do I solve this? I will ask them,</a:t>
            </a:r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Here are three practical strategies:</a:t>
            </a:r>
            <a:endParaRPr lang="zh-CN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True freedom isn’t endless options.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It’s making a meaningful decision without being overwhelmed by everything we left behind.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Next time you face too many choices, remember: sometimes less really is more.</a:t>
            </a:r>
            <a:endParaRPr lang="zh-CN" altLang="zh-C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917" y="1699123"/>
            <a:ext cx="10074165" cy="231353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40531" y="2184823"/>
            <a:ext cx="7510938" cy="78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Paradox of Choice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430473" y="2972394"/>
            <a:ext cx="933105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D46B41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How Increased Options Decrease Our Satisfaction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FF7213-9C84-4953-FD59-94D0D679D8B6}"/>
              </a:ext>
            </a:extLst>
          </p:cNvPr>
          <p:cNvSpPr txBox="1"/>
          <p:nvPr/>
        </p:nvSpPr>
        <p:spPr>
          <a:xfrm>
            <a:off x="4769475" y="4082603"/>
            <a:ext cx="2653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科普英语学术汇报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ABD735-DDCC-5460-7E8E-A3082C8E8571}"/>
              </a:ext>
            </a:extLst>
          </p:cNvPr>
          <p:cNvSpPr txBox="1"/>
          <p:nvPr/>
        </p:nvSpPr>
        <p:spPr>
          <a:xfrm>
            <a:off x="4421745" y="4608842"/>
            <a:ext cx="3348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宋亦寒 </a:t>
            </a:r>
            <a:r>
              <a:rPr lang="en-US" altLang="zh-CN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PB25000200</a:t>
            </a:r>
            <a:endParaRPr lang="zh-CN" alt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2554236" y="1456658"/>
            <a:ext cx="7083527" cy="363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1" u="none" strike="noStrike" cap="none" dirty="0">
                <a:solidFill>
                  <a:srgbClr val="2C313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	We live in a world that tells us more choices equal more freedom, and more freedom equals more happiness. 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150" i="1" dirty="0">
                <a:solidFill>
                  <a:srgbClr val="2C313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—— </a:t>
            </a:r>
            <a:r>
              <a:rPr lang="en-US" sz="3150" b="0" i="1" u="none" strike="noStrike" cap="none" dirty="0">
                <a:solidFill>
                  <a:srgbClr val="2C313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But psychological research presents a different reality. </a:t>
            </a:r>
            <a:endParaRPr dirty="0"/>
          </a:p>
        </p:txBody>
      </p:sp>
      <p:sp>
        <p:nvSpPr>
          <p:cNvPr id="93" name="Google Shape;93;p14"/>
          <p:cNvSpPr txBox="1"/>
          <p:nvPr/>
        </p:nvSpPr>
        <p:spPr>
          <a:xfrm>
            <a:off x="1522511" y="1750464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>
                <a:solidFill>
                  <a:srgbClr val="F7E6D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0562921" y="6256775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>
                <a:solidFill>
                  <a:srgbClr val="F7E6D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71450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605314" y="2216776"/>
            <a:ext cx="549068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More Isn't Always Better</a:t>
            </a:r>
            <a:endParaRPr sz="1800" dirty="0"/>
          </a:p>
        </p:txBody>
      </p:sp>
      <p:sp>
        <p:nvSpPr>
          <p:cNvPr id="101" name="Google Shape;101;p15"/>
          <p:cNvSpPr txBox="1"/>
          <p:nvPr/>
        </p:nvSpPr>
        <p:spPr>
          <a:xfrm>
            <a:off x="605315" y="3187753"/>
            <a:ext cx="522922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many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options can actually create anxiety, decision paralysis, and lower satisfaction with whatever we finally pick.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1275" y="172402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303134" y="3889484"/>
            <a:ext cx="6234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46B4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Defining the Paradox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1025" y="1314450"/>
            <a:ext cx="11029950" cy="19050"/>
          </a:xfrm>
          <a:prstGeom prst="rect">
            <a:avLst/>
          </a:prstGeom>
          <a:solidFill>
            <a:srgbClr val="F7E6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Why Too Many Options Hurt Us</a:t>
            </a:r>
            <a:endParaRPr dirty="0"/>
          </a:p>
        </p:txBody>
      </p:sp>
      <p:sp>
        <p:nvSpPr>
          <p:cNvPr id="131" name="Google Shape;131;p16"/>
          <p:cNvSpPr/>
          <p:nvPr/>
        </p:nvSpPr>
        <p:spPr>
          <a:xfrm>
            <a:off x="581025" y="1314450"/>
            <a:ext cx="11029950" cy="19050"/>
          </a:xfrm>
          <a:prstGeom prst="rect">
            <a:avLst/>
          </a:prstGeom>
          <a:solidFill>
            <a:srgbClr val="F7E6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2" name="Picture 4" descr="The Paradox of Choice - The Decision Lab">
            <a:extLst>
              <a:ext uri="{FF2B5EF4-FFF2-40B4-BE49-F238E27FC236}">
                <a16:creationId xmlns:a16="http://schemas.microsoft.com/office/drawing/2014/main" id="{016B4001-3F32-0991-44DC-D39B7251C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133" y="1457325"/>
            <a:ext cx="6918101" cy="518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F43F210-5499-0850-57C3-B64C935BD703}"/>
              </a:ext>
            </a:extLst>
          </p:cNvPr>
          <p:cNvSpPr txBox="1"/>
          <p:nvPr/>
        </p:nvSpPr>
        <p:spPr>
          <a:xfrm>
            <a:off x="4042946" y="5400675"/>
            <a:ext cx="465760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2C313A"/>
                </a:solidFill>
                <a:latin typeface="Playfair Display SemiBold"/>
              </a:rPr>
              <a:t>cognitive overload…</a:t>
            </a:r>
            <a:endParaRPr lang="zh-CN" altLang="en-US" sz="3600" dirty="0">
              <a:solidFill>
                <a:srgbClr val="2C313A"/>
              </a:solidFill>
              <a:latin typeface="Playfair Display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7797521" y="2618433"/>
            <a:ext cx="436494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Less Options, More Action</a:t>
            </a:r>
            <a:endParaRPr sz="180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7950307" y="3372861"/>
            <a:ext cx="405937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</a:rPr>
              <a:t>      24 jam jars drew more tasters but only 3% bought. However, six jars raised purchases to 30%. </a:t>
            </a:r>
            <a:endParaRPr lang="zh-CN" altLang="zh-CN" sz="2400" dirty="0">
              <a:solidFill>
                <a:srgbClr val="525A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Famous "Jam Study" (2000)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1314450"/>
            <a:ext cx="11029950" cy="19050"/>
          </a:xfrm>
          <a:prstGeom prst="rect">
            <a:avLst/>
          </a:prstGeom>
          <a:solidFill>
            <a:srgbClr val="F7E6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AutoShape 2" descr="The Paradox of Choice - Your Marketing Rules">
            <a:extLst>
              <a:ext uri="{FF2B5EF4-FFF2-40B4-BE49-F238E27FC236}">
                <a16:creationId xmlns:a16="http://schemas.microsoft.com/office/drawing/2014/main" id="{9AC01687-CBB7-BEA2-B237-4D5C20C3CF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94862" y="34936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26" name="Picture 2" descr="The Paradox of Choice - Your Marketing Rules">
            <a:extLst>
              <a:ext uri="{FF2B5EF4-FFF2-40B4-BE49-F238E27FC236}">
                <a16:creationId xmlns:a16="http://schemas.microsoft.com/office/drawing/2014/main" id="{740F666B-9856-D9DC-3B2B-566391728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8965"/>
            <a:ext cx="7588054" cy="4265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14">
          <a:extLst>
            <a:ext uri="{FF2B5EF4-FFF2-40B4-BE49-F238E27FC236}">
              <a16:creationId xmlns:a16="http://schemas.microsoft.com/office/drawing/2014/main" id="{BF0F653D-B40C-0F39-8C5D-0028A14B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B2D5FA53-808E-663E-A346-49EBD401FC90}"/>
              </a:ext>
            </a:extLst>
          </p:cNvPr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Why Too Many Options Hurt Us</a:t>
            </a:r>
            <a:endParaRPr dirty="0"/>
          </a:p>
        </p:txBody>
      </p:sp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FB42EEB2-C520-3358-F3B3-880324C13E96}"/>
              </a:ext>
            </a:extLst>
          </p:cNvPr>
          <p:cNvSpPr/>
          <p:nvPr/>
        </p:nvSpPr>
        <p:spPr>
          <a:xfrm>
            <a:off x="581025" y="1314450"/>
            <a:ext cx="11029950" cy="19050"/>
          </a:xfrm>
          <a:prstGeom prst="rect">
            <a:avLst/>
          </a:prstGeom>
          <a:solidFill>
            <a:srgbClr val="F7E6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 descr="Regret Aversion - The Decision Lab">
            <a:extLst>
              <a:ext uri="{FF2B5EF4-FFF2-40B4-BE49-F238E27FC236}">
                <a16:creationId xmlns:a16="http://schemas.microsoft.com/office/drawing/2014/main" id="{AF8DC1B8-A1CD-DC46-5A61-DB977A214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114" y="1457325"/>
            <a:ext cx="7008357" cy="5259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4F01669-4A30-77BA-6C68-2E363A3D148B}"/>
              </a:ext>
            </a:extLst>
          </p:cNvPr>
          <p:cNvSpPr txBox="1"/>
          <p:nvPr/>
        </p:nvSpPr>
        <p:spPr>
          <a:xfrm>
            <a:off x="3919470" y="1531781"/>
            <a:ext cx="442603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2C313A"/>
                </a:solidFill>
                <a:latin typeface="Playfair Display SemiBold"/>
              </a:rPr>
              <a:t>Opportunity cost…</a:t>
            </a:r>
            <a:endParaRPr lang="zh-CN" altLang="en-US" sz="3600" dirty="0">
              <a:solidFill>
                <a:srgbClr val="2C313A"/>
              </a:solidFill>
              <a:latin typeface="Playfair Display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23663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86690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81025" y="1866900"/>
            <a:ext cx="549068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Cost of Choosing</a:t>
            </a:r>
            <a:endParaRPr sz="1800"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448997" y="2400668"/>
            <a:ext cx="5777733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Even when we finally make a choice, we often still feel unhappy due to the psychological weight of </a:t>
            </a:r>
            <a:r>
              <a:rPr lang="en-US" sz="2400" b="1" i="0" u="none" strike="noStrike" cap="none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Opportunity Cost</a:t>
            </a:r>
            <a:r>
              <a:rPr lang="en-US" sz="2400" b="0" i="0" u="none" strike="noStrike" cap="none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—the value of everything we gave up.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590550" y="4867274"/>
            <a:ext cx="591239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 dirty="0">
                <a:solidFill>
                  <a:srgbClr val="525A66"/>
                </a:solidFill>
                <a:latin typeface="Inter"/>
                <a:ea typeface="Inter"/>
                <a:cs typeface="Inter"/>
                <a:sym typeface="Inter"/>
              </a:rPr>
              <a:t>"What if that other option was better?"</a:t>
            </a:r>
            <a:endParaRPr sz="2000" i="1" dirty="0"/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1275" y="187642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255204" y="501034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46B4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581025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Burden of Missed Opportunities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81025" y="1314450"/>
            <a:ext cx="11029950" cy="19050"/>
          </a:xfrm>
          <a:prstGeom prst="rect">
            <a:avLst/>
          </a:prstGeom>
          <a:solidFill>
            <a:srgbClr val="F7E6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1019175" y="1390650"/>
            <a:ext cx="457057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D46B4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"Maximizer"</a:t>
            </a:r>
            <a:endParaRPr sz="1800" dirty="0"/>
          </a:p>
        </p:txBody>
      </p:sp>
      <p:sp>
        <p:nvSpPr>
          <p:cNvPr id="170" name="Google Shape;170;p19"/>
          <p:cNvSpPr/>
          <p:nvPr/>
        </p:nvSpPr>
        <p:spPr>
          <a:xfrm>
            <a:off x="1019175" y="1838325"/>
            <a:ext cx="4352925" cy="9525"/>
          </a:xfrm>
          <a:prstGeom prst="rect">
            <a:avLst/>
          </a:prstGeom>
          <a:solidFill>
            <a:srgbClr val="F7E6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019174" y="2437306"/>
            <a:ext cx="435292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They aim to make the absolute best possible choice in every situation.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6819900" y="1390650"/>
            <a:ext cx="457057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D46B4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"</a:t>
            </a:r>
            <a:r>
              <a:rPr lang="en-US" sz="2800" b="0" i="0" u="none" strike="noStrike" cap="none" dirty="0" err="1">
                <a:solidFill>
                  <a:srgbClr val="D46B4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Satisficer</a:t>
            </a:r>
            <a:r>
              <a:rPr lang="en-US" sz="2800" b="0" i="0" u="none" strike="noStrike" cap="none" dirty="0">
                <a:solidFill>
                  <a:srgbClr val="D46B4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"</a:t>
            </a:r>
            <a:endParaRPr sz="1800" dirty="0"/>
          </a:p>
        </p:txBody>
      </p:sp>
      <p:sp>
        <p:nvSpPr>
          <p:cNvPr id="173" name="Google Shape;173;p19"/>
          <p:cNvSpPr/>
          <p:nvPr/>
        </p:nvSpPr>
        <p:spPr>
          <a:xfrm>
            <a:off x="6819900" y="1838325"/>
            <a:ext cx="4352925" cy="9525"/>
          </a:xfrm>
          <a:prstGeom prst="rect">
            <a:avLst/>
          </a:prstGeom>
          <a:solidFill>
            <a:srgbClr val="F7E6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6819900" y="2038350"/>
            <a:ext cx="492015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Satisficers</a:t>
            </a:r>
            <a:r>
              <a:rPr lang="en-US" sz="2400" b="0" i="0" u="none" strike="noStrike" cap="none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operate on a model of "bounded rationality," seeking a solution that is simply good enough.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504931" y="4539103"/>
            <a:ext cx="5599057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525A66"/>
                </a:solidFill>
                <a:latin typeface="Inter"/>
                <a:ea typeface="Inter"/>
                <a:cs typeface="Inter"/>
                <a:sym typeface="Inter"/>
              </a:rPr>
              <a:t>They engage in exhaustive searches, comparing every available option.</a:t>
            </a:r>
            <a:endParaRPr sz="2400"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6707898" y="4539103"/>
            <a:ext cx="514415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525A66"/>
                </a:solidFill>
                <a:latin typeface="Inter"/>
                <a:ea typeface="Inter"/>
                <a:cs typeface="Inter"/>
                <a:sym typeface="Inter"/>
              </a:rPr>
              <a:t>They establish a clear, acceptable standard before searching.</a:t>
            </a:r>
            <a:endParaRPr sz="2400" dirty="0"/>
          </a:p>
        </p:txBody>
      </p:sp>
      <p:sp>
        <p:nvSpPr>
          <p:cNvPr id="183" name="Google Shape;183;p19"/>
          <p:cNvSpPr txBox="1"/>
          <p:nvPr/>
        </p:nvSpPr>
        <p:spPr>
          <a:xfrm rot="5400000">
            <a:off x="2947986" y="392673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46B4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dirty="0"/>
          </a:p>
        </p:txBody>
      </p:sp>
      <p:sp>
        <p:nvSpPr>
          <p:cNvPr id="187" name="Google Shape;187;p19"/>
          <p:cNvSpPr txBox="1"/>
          <p:nvPr/>
        </p:nvSpPr>
        <p:spPr>
          <a:xfrm rot="5400000">
            <a:off x="9337127" y="4081903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46B4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02197" y="291848"/>
            <a:ext cx="1158144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Personality Types</a:t>
            </a:r>
            <a:endParaRPr dirty="0"/>
          </a:p>
        </p:txBody>
      </p:sp>
      <p:sp>
        <p:nvSpPr>
          <p:cNvPr id="192" name="Google Shape;192;p19"/>
          <p:cNvSpPr/>
          <p:nvPr/>
        </p:nvSpPr>
        <p:spPr>
          <a:xfrm>
            <a:off x="502197" y="1013263"/>
            <a:ext cx="11029950" cy="19050"/>
          </a:xfrm>
          <a:prstGeom prst="rect">
            <a:avLst/>
          </a:prstGeom>
          <a:solidFill>
            <a:srgbClr val="F7E6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66">
          <a:extLst>
            <a:ext uri="{FF2B5EF4-FFF2-40B4-BE49-F238E27FC236}">
              <a16:creationId xmlns:a16="http://schemas.microsoft.com/office/drawing/2014/main" id="{5B6E9156-D5B1-5F37-54C4-2B52C0555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aximizer vs. Satisficer | TECHNICALLY SCATTERED">
            <a:extLst>
              <a:ext uri="{FF2B5EF4-FFF2-40B4-BE49-F238E27FC236}">
                <a16:creationId xmlns:a16="http://schemas.microsoft.com/office/drawing/2014/main" id="{A5D12637-4005-32F1-B5CF-33A88F8EB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265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2445544" y="2621087"/>
            <a:ext cx="7300912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What to do?</a:t>
            </a:r>
            <a:endParaRPr dirty="0"/>
          </a:p>
        </p:txBody>
      </p:sp>
      <p:sp>
        <p:nvSpPr>
          <p:cNvPr id="214" name="Google Shape;214;p21"/>
          <p:cNvSpPr/>
          <p:nvPr/>
        </p:nvSpPr>
        <p:spPr>
          <a:xfrm>
            <a:off x="5524500" y="4063982"/>
            <a:ext cx="1143000" cy="38100"/>
          </a:xfrm>
          <a:prstGeom prst="rect">
            <a:avLst/>
          </a:prstGeom>
          <a:solidFill>
            <a:srgbClr val="D46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46" name="Picture 2" descr="555 Idea Bulb Icon Stock Videos, Footage, &amp; 4K Video Clips - Getty Images">
            <a:extLst>
              <a:ext uri="{FF2B5EF4-FFF2-40B4-BE49-F238E27FC236}">
                <a16:creationId xmlns:a16="http://schemas.microsoft.com/office/drawing/2014/main" id="{24F79E6F-84FF-A61E-21BC-32FA320AE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27995" y1="25231" x2="27995" y2="25231"/>
                        <a14:backgroundMark x1="15365" y1="15509" x2="24609" y2="18056"/>
                        <a14:backgroundMark x1="17188" y1="25463" x2="13281" y2="14583"/>
                        <a14:backgroundMark x1="13281" y1="14583" x2="13411" y2="14815"/>
                        <a14:backgroundMark x1="75000" y1="26389" x2="84505" y2="84954"/>
                        <a14:backgroundMark x1="84505" y1="84954" x2="84115" y2="43750"/>
                        <a14:backgroundMark x1="84115" y1="43750" x2="75911" y2="57639"/>
                        <a14:backgroundMark x1="75911" y1="57639" x2="81510" y2="743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79122">
            <a:off x="7944118" y="495837"/>
            <a:ext cx="4912878" cy="276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/>
        </p:nvSpPr>
        <p:spPr>
          <a:xfrm>
            <a:off x="6045419" y="1514772"/>
            <a:ext cx="549068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Creating Artificial Constraints</a:t>
            </a:r>
            <a:endParaRPr sz="1800" dirty="0"/>
          </a:p>
        </p:txBody>
      </p:sp>
      <p:sp>
        <p:nvSpPr>
          <p:cNvPr id="199" name="Google Shape;199;p20"/>
          <p:cNvSpPr txBox="1"/>
          <p:nvPr/>
        </p:nvSpPr>
        <p:spPr>
          <a:xfrm>
            <a:off x="6045419" y="2217683"/>
            <a:ext cx="581221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Consider </a:t>
            </a:r>
            <a:r>
              <a:rPr lang="en-US" altLang="zh-CN" sz="2400" b="0" i="0" u="none" strike="noStrike" cap="none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a </a:t>
            </a:r>
            <a:r>
              <a:rPr lang="en-US" sz="2400" b="0" i="0" u="none" strike="noStrike" cap="none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weekend scenario: asking roommates what they want for dinner. They just reply “Anything—you decide</a:t>
            </a:r>
            <a:r>
              <a:rPr lang="en-US" sz="2400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”</a:t>
            </a:r>
            <a:r>
              <a:rPr lang="en-US" sz="2400" b="0" i="0" u="none" strike="noStrike" cap="none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045419" y="4844172"/>
            <a:ext cx="597841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By cutting hundreds of options down to just a few, a decision can be made in a few minutes.</a:t>
            </a:r>
            <a:endParaRPr sz="2400" dirty="0">
              <a:solidFill>
                <a:srgbClr val="525A66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331169" y="3642189"/>
            <a:ext cx="494347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 dirty="0">
                <a:solidFill>
                  <a:srgbClr val="525A66"/>
                </a:solidFill>
                <a:latin typeface="Inter"/>
                <a:ea typeface="Inter"/>
                <a:cs typeface="Inter"/>
                <a:sym typeface="Inter"/>
              </a:rPr>
              <a:t>"Chinese food or Western food?"</a:t>
            </a:r>
            <a:endParaRPr sz="2400" dirty="0"/>
          </a:p>
        </p:txBody>
      </p:sp>
      <p:sp>
        <p:nvSpPr>
          <p:cNvPr id="204" name="Google Shape;204;p20"/>
          <p:cNvSpPr txBox="1"/>
          <p:nvPr/>
        </p:nvSpPr>
        <p:spPr>
          <a:xfrm>
            <a:off x="6331169" y="4153584"/>
            <a:ext cx="494347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u="none" strike="noStrike" cap="none" dirty="0">
                <a:solidFill>
                  <a:srgbClr val="525A66"/>
                </a:solidFill>
                <a:latin typeface="Inter"/>
                <a:ea typeface="Inter"/>
                <a:cs typeface="Inter"/>
                <a:sym typeface="Inter"/>
              </a:rPr>
              <a:t>"Hotpot or Barbecue?"</a:t>
            </a:r>
            <a:endParaRPr sz="2400" dirty="0"/>
          </a:p>
        </p:txBody>
      </p:sp>
      <p:sp>
        <p:nvSpPr>
          <p:cNvPr id="205" name="Google Shape;205;p20"/>
          <p:cNvSpPr txBox="1"/>
          <p:nvPr/>
        </p:nvSpPr>
        <p:spPr>
          <a:xfrm>
            <a:off x="6045419" y="378525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46B4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045419" y="428055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46B4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81025" y="581025"/>
            <a:ext cx="11581447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The Dinner </a:t>
            </a:r>
            <a:r>
              <a:rPr lang="zh-CN" altLang="en-US" sz="345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“</a:t>
            </a:r>
            <a:r>
              <a:rPr lang="en-US" sz="345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Dilemma</a:t>
            </a:r>
            <a:r>
              <a:rPr lang="zh-CN" altLang="en-US" sz="345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”</a:t>
            </a:r>
            <a:endParaRPr dirty="0"/>
          </a:p>
        </p:txBody>
      </p:sp>
      <p:sp>
        <p:nvSpPr>
          <p:cNvPr id="208" name="Google Shape;208;p20"/>
          <p:cNvSpPr/>
          <p:nvPr/>
        </p:nvSpPr>
        <p:spPr>
          <a:xfrm>
            <a:off x="581025" y="1314450"/>
            <a:ext cx="11029950" cy="19050"/>
          </a:xfrm>
          <a:prstGeom prst="rect">
            <a:avLst/>
          </a:prstGeom>
          <a:solidFill>
            <a:srgbClr val="F7E6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190C12-8553-066F-C9C5-5C5FAE54C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24" y="894226"/>
            <a:ext cx="9753600" cy="5495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/>
        </p:nvSpPr>
        <p:spPr>
          <a:xfrm>
            <a:off x="1070422" y="1930949"/>
            <a:ext cx="47060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1</a:t>
            </a:r>
            <a:r>
              <a:rPr lang="en-US" sz="2800" dirty="0">
                <a:solidFill>
                  <a:srgbClr val="2C313A"/>
                </a:solidFill>
                <a:latin typeface="Playfair Display SemiBold"/>
                <a:sym typeface="Playfair Display SemiBold"/>
              </a:rPr>
              <a:t>. Limit Options on Purpose</a:t>
            </a:r>
            <a:endParaRPr sz="2800" dirty="0">
              <a:solidFill>
                <a:srgbClr val="2C313A"/>
              </a:solidFill>
              <a:latin typeface="Playfair Display SemiBold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923934" y="1770905"/>
            <a:ext cx="541739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Don’t let every possibility into your brain.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1070422" y="3315492"/>
            <a:ext cx="367566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2. </a:t>
            </a:r>
            <a:r>
              <a:rPr lang="en-US" sz="2800" dirty="0">
                <a:solidFill>
                  <a:srgbClr val="2C313A"/>
                </a:solidFill>
                <a:latin typeface="Playfair Display SemiBold"/>
                <a:sym typeface="Playfair Display SemiBold"/>
              </a:rPr>
              <a:t>Become a </a:t>
            </a:r>
            <a:r>
              <a:rPr lang="en-US" sz="2800" dirty="0" err="1">
                <a:solidFill>
                  <a:srgbClr val="2C313A"/>
                </a:solidFill>
                <a:latin typeface="Playfair Display SemiBold"/>
                <a:sym typeface="Playfair Display SemiBold"/>
              </a:rPr>
              <a:t>Satisficer</a:t>
            </a:r>
            <a:endParaRPr sz="2800" dirty="0">
              <a:solidFill>
                <a:srgbClr val="2C313A"/>
              </a:solidFill>
              <a:latin typeface="Playfair Display SemiBold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5923934" y="2940005"/>
            <a:ext cx="4706007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Set a clear "good enough" standard for the task at hand. </a:t>
            </a:r>
            <a:endParaRPr sz="2400" dirty="0">
              <a:solidFill>
                <a:srgbClr val="525A66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1070422" y="5075523"/>
            <a:ext cx="371770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3. </a:t>
            </a:r>
            <a:r>
              <a:rPr lang="en-US" sz="2800" dirty="0">
                <a:solidFill>
                  <a:srgbClr val="2C313A"/>
                </a:solidFill>
                <a:latin typeface="Playfair Display SemiBold"/>
                <a:sym typeface="Playfair Display SemiBold"/>
              </a:rPr>
              <a:t>Make it Irreversible</a:t>
            </a:r>
            <a:endParaRPr sz="2800" dirty="0">
              <a:solidFill>
                <a:srgbClr val="2C313A"/>
              </a:solidFill>
              <a:latin typeface="Playfair Display SemiBold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5923934" y="4700036"/>
            <a:ext cx="4518134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Once you choose, throw away other options.</a:t>
            </a:r>
            <a:endParaRPr sz="2400" dirty="0">
              <a:solidFill>
                <a:srgbClr val="525A66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61707" y="583136"/>
            <a:ext cx="115814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Three Practical Strategies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561707" y="1316561"/>
            <a:ext cx="11029950" cy="19050"/>
          </a:xfrm>
          <a:prstGeom prst="rect">
            <a:avLst/>
          </a:prstGeom>
          <a:solidFill>
            <a:srgbClr val="F7E6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/>
        </p:nvSpPr>
        <p:spPr>
          <a:xfrm>
            <a:off x="2205514" y="1995321"/>
            <a:ext cx="7780972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2C313A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Less Really Is More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747548" y="3359584"/>
            <a:ext cx="10696904" cy="128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525A66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True freedom is not having endless options, but is being able to make a meaningful decision without being overwhelmed by everything we left behind.</a:t>
            </a:r>
            <a:endParaRPr sz="2600" dirty="0">
              <a:solidFill>
                <a:srgbClr val="525A66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4AEC68-3B37-753C-765B-2DE41AD23A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53793"/>
            <a:ext cx="12552608" cy="8368405"/>
          </a:xfrm>
          <a:prstGeom prst="rect">
            <a:avLst/>
          </a:prstGeom>
        </p:spPr>
      </p:pic>
      <p:sp>
        <p:nvSpPr>
          <p:cNvPr id="5" name="Google Shape;249;p24">
            <a:extLst>
              <a:ext uri="{FF2B5EF4-FFF2-40B4-BE49-F238E27FC236}">
                <a16:creationId xmlns:a16="http://schemas.microsoft.com/office/drawing/2014/main" id="{F1B706A5-B4A8-0467-5C0B-94B2FF549D04}"/>
              </a:ext>
            </a:extLst>
          </p:cNvPr>
          <p:cNvSpPr txBox="1"/>
          <p:nvPr/>
        </p:nvSpPr>
        <p:spPr>
          <a:xfrm>
            <a:off x="673686" y="3767979"/>
            <a:ext cx="670300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altLang="zh-CN" sz="4800" dirty="0"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solidFill>
                  <a:schemeClr val="bg1"/>
                </a:solidFill>
                <a:latin typeface="Playfair Display SemiBold" panose="020B0604020202020204" charset="0"/>
              </a:rPr>
              <a:t>Thank you for listening.</a:t>
            </a:r>
            <a:endParaRPr lang="zh-CN" altLang="zh-CN" sz="34400" dirty="0"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  <a:solidFill>
                <a:schemeClr val="bg1"/>
              </a:solidFill>
              <a:effectLst/>
              <a:latin typeface="Playfair Display SemiBold" panose="020B060402020202020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FEB29F8-E2CA-ACC9-113F-AFE6536D627F}"/>
              </a:ext>
            </a:extLst>
          </p:cNvPr>
          <p:cNvCxnSpPr>
            <a:cxnSpLocks/>
          </p:cNvCxnSpPr>
          <p:nvPr/>
        </p:nvCxnSpPr>
        <p:spPr>
          <a:xfrm>
            <a:off x="673686" y="4857109"/>
            <a:ext cx="452048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729</Words>
  <Application>Microsoft Office PowerPoint</Application>
  <PresentationFormat>宽屏</PresentationFormat>
  <Paragraphs>84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Times New Roman</vt:lpstr>
      <vt:lpstr>Playfair Display</vt:lpstr>
      <vt:lpstr>Calibri</vt:lpstr>
      <vt:lpstr>Playfair Display SemiBold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SYH</dc:creator>
  <cp:lastModifiedBy>亦寒 宋</cp:lastModifiedBy>
  <cp:revision>30</cp:revision>
  <dcterms:modified xsi:type="dcterms:W3CDTF">2026-04-27T06:52:38Z</dcterms:modified>
</cp:coreProperties>
</file>