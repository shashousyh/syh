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9" r:id="rId2"/>
    <p:sldId id="270" r:id="rId3"/>
    <p:sldId id="271" r:id="rId4"/>
    <p:sldId id="27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6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A0C0"/>
    <a:srgbClr val="D0DCE8"/>
    <a:srgbClr val="6A99C7"/>
    <a:srgbClr val="29619E"/>
    <a:srgbClr val="4C80B7"/>
    <a:srgbClr val="29619C"/>
    <a:srgbClr val="D3DFEB"/>
    <a:srgbClr val="6794B7"/>
    <a:srgbClr val="2F6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35" y="57"/>
      </p:cViewPr>
      <p:guideLst>
        <p:guide orient="horz" pos="2126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16E563D-511B-F0B0-B919-8CB429DC42D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11</a:t>
            </a:r>
            <a:r>
              <a:rPr lang="zh-CN" altLang="en-US"/>
              <a:t>组 </a:t>
            </a:r>
            <a:r>
              <a:rPr lang="en-US" altLang="zh-CN"/>
              <a:t>XXX PB25XXXXXX</a:t>
            </a: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E3424B-42DD-01FD-9FD9-6F124E3A59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F1533-D17F-4A4E-90A4-FA8AD168A27B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FB69F0-DEC3-B3AA-2DF9-F102BACEA8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66CC78-C725-F8A5-483D-38B9464777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2DFC9-494D-4101-B250-8795233951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47582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11</a:t>
            </a:r>
            <a:r>
              <a:rPr lang="zh-CN" altLang="en-US"/>
              <a:t>组 </a:t>
            </a:r>
            <a:r>
              <a:rPr lang="en-US" altLang="zh-CN"/>
              <a:t>XXX PB25XXXXXX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4E6E3-6EB2-45E9-9FC8-8C06BCC923C2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E947-E9EC-4861-B0E1-EB08EA379869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803A1-C592-4286-8191-89328B8C0CA4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38F2-59E2-4D6D-B7D5-334F94CA7618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589FC-B5DC-40A8-B2A1-572B80D0CB3E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7E3F6-D27D-41E5-A76A-8AE9C2F84A27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0395-25BB-4A72-B5F0-9ABD7D82C238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A7DA3-AE65-4862-B354-11121556C3DB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B839-4403-44B5-BF7F-50DA802FC01D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148E-2A75-4F9E-B2DA-448C87FD6A42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2C945-A2FA-4377-8C84-98E895200808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42A54-CC05-4ECD-8B5E-4DAE2C12A814}" type="datetime1">
              <a:rPr lang="zh-CN" altLang="en-US" smtClean="0"/>
              <a:t>2026/3/5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2F83-F97F-0BED-A938-D1AA1B33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风格转换">
            <a:extLst>
              <a:ext uri="{FF2B5EF4-FFF2-40B4-BE49-F238E27FC236}">
                <a16:creationId xmlns:a16="http://schemas.microsoft.com/office/drawing/2014/main" id="{965A75A6-9A92-5F7F-4441-7BED49E962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rcRect t="10409" b="13447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pic>
        <p:nvPicPr>
          <p:cNvPr id="10" name="图片 9" descr="IMG_7170">
            <a:extLst>
              <a:ext uri="{FF2B5EF4-FFF2-40B4-BE49-F238E27FC236}">
                <a16:creationId xmlns:a16="http://schemas.microsoft.com/office/drawing/2014/main" id="{9CCE91FA-BB13-48BD-6029-BA14A91F5E4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 descr="logo">
            <a:extLst>
              <a:ext uri="{FF2B5EF4-FFF2-40B4-BE49-F238E27FC236}">
                <a16:creationId xmlns:a16="http://schemas.microsoft.com/office/drawing/2014/main" id="{70261550-324E-A191-C091-9EEC9680E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69450" y="98425"/>
            <a:ext cx="2440940" cy="4673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2655FA7-7242-16AA-7791-9396DEE08564}"/>
              </a:ext>
            </a:extLst>
          </p:cNvPr>
          <p:cNvSpPr txBox="1"/>
          <p:nvPr/>
        </p:nvSpPr>
        <p:spPr>
          <a:xfrm>
            <a:off x="-635" y="0"/>
            <a:ext cx="426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组   宋亦寒</a:t>
            </a:r>
            <a:r>
              <a:rPr lang="en-US" altLang="zh-CN" dirty="0"/>
              <a:t>   PB25000200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2846F6-1B99-CB27-9C51-AE540FF5E8B6}"/>
              </a:ext>
            </a:extLst>
          </p:cNvPr>
          <p:cNvSpPr txBox="1"/>
          <p:nvPr/>
        </p:nvSpPr>
        <p:spPr>
          <a:xfrm>
            <a:off x="149438" y="973122"/>
            <a:ext cx="6221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1950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年代，著名心理学家</a:t>
            </a:r>
            <a:r>
              <a:rPr lang="zh-CN" altLang="en-US" sz="24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爱利克</a:t>
            </a:r>
            <a:r>
              <a:rPr lang="en-US" altLang="zh-CN" sz="24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4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埃里克森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Erik Erikson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）在著作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《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儿童与社会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》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提出了“心理社会发展</a:t>
            </a:r>
            <a:r>
              <a:rPr lang="zh-CN" altLang="en-US" sz="24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八阶段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理论”。他认为人的一生会经历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8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个发展阶段，每个阶段都有一个核心的“心理冲突（危机）”需要解决。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0218F8-E89B-4231-7AC7-160DBF441E2C}"/>
              </a:ext>
            </a:extLst>
          </p:cNvPr>
          <p:cNvSpPr txBox="1"/>
          <p:nvPr/>
        </p:nvSpPr>
        <p:spPr>
          <a:xfrm>
            <a:off x="149437" y="3208346"/>
            <a:ext cx="62218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我们正处于第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个阶段（通常指</a:t>
            </a:r>
            <a:r>
              <a:rPr lang="en-US" altLang="zh-CN" sz="24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13-19</a:t>
            </a:r>
            <a:r>
              <a:rPr lang="zh-CN" altLang="en-US" sz="24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岁左右的青春期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），但在现代社会，由于受教育时间延长，大学阶段甚至毕业后初期都包含在内）。这个阶段的</a:t>
            </a:r>
            <a:r>
              <a:rPr lang="zh-CN" altLang="en-US" sz="24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核心冲突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是：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323B0B-B65E-CF48-9599-ED058F8DB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0451" y="904339"/>
            <a:ext cx="5752111" cy="494150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1D8AE31-8AB7-8BAD-BC67-F43CEB8BEA48}"/>
              </a:ext>
            </a:extLst>
          </p:cNvPr>
          <p:cNvSpPr txBox="1"/>
          <p:nvPr/>
        </p:nvSpPr>
        <p:spPr>
          <a:xfrm>
            <a:off x="1162240" y="4993450"/>
            <a:ext cx="419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自我同一性 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vs 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角色混乱</a:t>
            </a:r>
            <a:endParaRPr lang="zh-CN" altLang="en-US" sz="28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8E2B82-B675-E2AF-BE53-03FC046016BA}"/>
              </a:ext>
            </a:extLst>
          </p:cNvPr>
          <p:cNvSpPr/>
          <p:nvPr/>
        </p:nvSpPr>
        <p:spPr>
          <a:xfrm>
            <a:off x="6326257" y="3676649"/>
            <a:ext cx="5327374" cy="53847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373DFE-412E-3662-79A1-B6B2CFD3D0FD}"/>
              </a:ext>
            </a:extLst>
          </p:cNvPr>
          <p:cNvSpPr txBox="1"/>
          <p:nvPr/>
        </p:nvSpPr>
        <p:spPr>
          <a:xfrm>
            <a:off x="6371332" y="565785"/>
            <a:ext cx="1480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（自我品质）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3CB20D2-D0D3-DEB4-8137-C8FB5668CAFF}"/>
              </a:ext>
            </a:extLst>
          </p:cNvPr>
          <p:cNvSpPr txBox="1"/>
          <p:nvPr/>
        </p:nvSpPr>
        <p:spPr>
          <a:xfrm>
            <a:off x="149437" y="5864450"/>
            <a:ext cx="11201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 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唯一阶段目标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建立“自我同一性”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。建立失败则会陷入“角色混乱”。</a:t>
            </a:r>
            <a:endParaRPr lang="zh-CN" altLang="en-US" sz="2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653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4ED25-41D3-BA76-D4BE-5E865510E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风格转换">
            <a:extLst>
              <a:ext uri="{FF2B5EF4-FFF2-40B4-BE49-F238E27FC236}">
                <a16:creationId xmlns:a16="http://schemas.microsoft.com/office/drawing/2014/main" id="{A618699D-A176-F872-A734-66FEBDD82C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rcRect t="10409" b="13447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pic>
        <p:nvPicPr>
          <p:cNvPr id="10" name="图片 9" descr="IMG_7170">
            <a:extLst>
              <a:ext uri="{FF2B5EF4-FFF2-40B4-BE49-F238E27FC236}">
                <a16:creationId xmlns:a16="http://schemas.microsoft.com/office/drawing/2014/main" id="{BCE43BDB-B7B3-7534-E9BC-FA37814731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 descr="logo">
            <a:extLst>
              <a:ext uri="{FF2B5EF4-FFF2-40B4-BE49-F238E27FC236}">
                <a16:creationId xmlns:a16="http://schemas.microsoft.com/office/drawing/2014/main" id="{ACF8D273-515B-6844-FE2E-CCD3F82DE4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69450" y="98425"/>
            <a:ext cx="2440940" cy="4673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D1F154E-68C9-2135-4B43-66FB8228AC30}"/>
              </a:ext>
            </a:extLst>
          </p:cNvPr>
          <p:cNvSpPr txBox="1"/>
          <p:nvPr/>
        </p:nvSpPr>
        <p:spPr>
          <a:xfrm>
            <a:off x="-635" y="0"/>
            <a:ext cx="426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组   宋亦寒</a:t>
            </a:r>
            <a:r>
              <a:rPr lang="en-US" altLang="zh-CN" dirty="0"/>
              <a:t>   PB25000200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456FD4-3ABE-10F5-62B3-C25932D2E979}"/>
              </a:ext>
            </a:extLst>
          </p:cNvPr>
          <p:cNvSpPr txBox="1"/>
          <p:nvPr/>
        </p:nvSpPr>
        <p:spPr>
          <a:xfrm>
            <a:off x="367748" y="830211"/>
            <a:ext cx="11589026" cy="5197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en-US" sz="32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什么是“自我同一性”？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时间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上的连续感：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我知道我过去是个什么样的人，我现在正在做什么，并且清楚这会把我引向一个什么样的未来。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空间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上的一致感：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无论是在父母面前、在舍友面前，还是在社团同学面前，我的内在核心价值观和自我认知是一致的，我没有觉得自己在“精神分裂”地扮演不同的人。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社会认同感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在</a:t>
            </a:r>
            <a:r>
              <a:rPr lang="zh-CN" altLang="en-US" sz="2400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个人的目标与社会的期待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之间找到了一个平衡点。人是社会性动物。自我同一性不仅仅是“我觉得自己是谁”，还必须包含“社会是否接纳这样的我”。当我们内在的热爱、能力正好能够满足社会的某种需求并得到外界的积极反馈时，同一性就更加稳固了。</a:t>
            </a:r>
          </a:p>
        </p:txBody>
      </p:sp>
    </p:spTree>
    <p:extLst>
      <p:ext uri="{BB962C8B-B14F-4D97-AF65-F5344CB8AC3E}">
        <p14:creationId xmlns:p14="http://schemas.microsoft.com/office/powerpoint/2010/main" val="1686972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E4382-C2F1-51CA-CE66-3DC296C3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风格转换">
            <a:extLst>
              <a:ext uri="{FF2B5EF4-FFF2-40B4-BE49-F238E27FC236}">
                <a16:creationId xmlns:a16="http://schemas.microsoft.com/office/drawing/2014/main" id="{67A32637-6425-7241-940D-11B12E6675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rcRect t="10409" b="13447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pic>
        <p:nvPicPr>
          <p:cNvPr id="10" name="图片 9" descr="IMG_7170">
            <a:extLst>
              <a:ext uri="{FF2B5EF4-FFF2-40B4-BE49-F238E27FC236}">
                <a16:creationId xmlns:a16="http://schemas.microsoft.com/office/drawing/2014/main" id="{4E991F63-20D0-9AFA-5515-459CE6D9EA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 descr="logo">
            <a:extLst>
              <a:ext uri="{FF2B5EF4-FFF2-40B4-BE49-F238E27FC236}">
                <a16:creationId xmlns:a16="http://schemas.microsoft.com/office/drawing/2014/main" id="{061B68F2-AEB2-C65C-29F1-3711A1D64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69450" y="98425"/>
            <a:ext cx="2440940" cy="4673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9FE8DC3-416A-7CC2-7B3F-286E01A9218D}"/>
              </a:ext>
            </a:extLst>
          </p:cNvPr>
          <p:cNvSpPr txBox="1"/>
          <p:nvPr/>
        </p:nvSpPr>
        <p:spPr>
          <a:xfrm>
            <a:off x="-635" y="0"/>
            <a:ext cx="426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组   宋亦寒</a:t>
            </a:r>
            <a:r>
              <a:rPr lang="en-US" altLang="zh-CN" dirty="0"/>
              <a:t>   PB25000200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CB933-E755-BFF5-50F9-E70AE4F77AFC}"/>
              </a:ext>
            </a:extLst>
          </p:cNvPr>
          <p:cNvSpPr txBox="1"/>
          <p:nvPr/>
        </p:nvSpPr>
        <p:spPr>
          <a:xfrm>
            <a:off x="2271091" y="1013791"/>
            <a:ext cx="4084983" cy="186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4473D75-24B8-5C6D-8DC7-3C697F5EF4EB}"/>
              </a:ext>
            </a:extLst>
          </p:cNvPr>
          <p:cNvSpPr txBox="1"/>
          <p:nvPr/>
        </p:nvSpPr>
        <p:spPr>
          <a:xfrm>
            <a:off x="862729" y="755374"/>
            <a:ext cx="104659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加拿大发展心理学家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詹姆斯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·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玛西亚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James E. Marcia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）在</a:t>
            </a: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1966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年基于埃里克森的理论进一步发展出来的“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同一性状态模型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B63805-4744-B6A2-5689-7C207FFA3D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309" y="1955452"/>
            <a:ext cx="7675360" cy="43981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1D485C9-C60C-0A23-8732-F6FD01397F6B}"/>
              </a:ext>
            </a:extLst>
          </p:cNvPr>
          <p:cNvSpPr txBox="1"/>
          <p:nvPr/>
        </p:nvSpPr>
        <p:spPr>
          <a:xfrm>
            <a:off x="1020369" y="2869902"/>
            <a:ext cx="24639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也许大部分人都处于这一象限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r"/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r"/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玛西亚认为，</a:t>
            </a:r>
            <a:r>
              <a:rPr lang="zh-CN" altLang="en-US" b="1" u="sng" dirty="0">
                <a:latin typeface="华文中宋" panose="02010600040101010101" pitchFamily="2" charset="-122"/>
                <a:ea typeface="华文中宋" panose="02010600040101010101" pitchFamily="2" charset="-122"/>
              </a:rPr>
              <a:t>延缓期是通向成熟的必经之路。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这种暂时的动荡并不是失败，而是一种积极的孵化。只要你不停止思考，不放弃尝试，你终有一天会跨越这段迷雾，成长为目标明确、内心笃定的获致型。</a:t>
            </a:r>
          </a:p>
          <a:p>
            <a:pPr algn="r"/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DF90C24-8D99-8080-B26F-F35528001B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1098" y="3085966"/>
            <a:ext cx="527699" cy="52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99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3B3F-9329-9FD0-20CF-9E510D08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风格转换">
            <a:extLst>
              <a:ext uri="{FF2B5EF4-FFF2-40B4-BE49-F238E27FC236}">
                <a16:creationId xmlns:a16="http://schemas.microsoft.com/office/drawing/2014/main" id="{5C038210-5F8E-F244-2374-FE5BED5711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rcRect t="10409" b="13447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  <p:pic>
        <p:nvPicPr>
          <p:cNvPr id="10" name="图片 9" descr="IMG_7170">
            <a:extLst>
              <a:ext uri="{FF2B5EF4-FFF2-40B4-BE49-F238E27FC236}">
                <a16:creationId xmlns:a16="http://schemas.microsoft.com/office/drawing/2014/main" id="{DC4B2267-5F11-792F-46CF-BD25C5DB80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 descr="logo">
            <a:extLst>
              <a:ext uri="{FF2B5EF4-FFF2-40B4-BE49-F238E27FC236}">
                <a16:creationId xmlns:a16="http://schemas.microsoft.com/office/drawing/2014/main" id="{4292A7A6-E654-705C-EA12-511D8CC1B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69450" y="98425"/>
            <a:ext cx="2440940" cy="4673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FA53EE7-4392-FB15-AF51-01BAA6C64124}"/>
              </a:ext>
            </a:extLst>
          </p:cNvPr>
          <p:cNvSpPr txBox="1"/>
          <p:nvPr/>
        </p:nvSpPr>
        <p:spPr>
          <a:xfrm>
            <a:off x="-635" y="0"/>
            <a:ext cx="4265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</a:t>
            </a:r>
            <a:r>
              <a:rPr lang="en-US" altLang="zh-CN" dirty="0"/>
              <a:t>11</a:t>
            </a:r>
            <a:r>
              <a:rPr lang="zh-CN" altLang="en-US" dirty="0"/>
              <a:t>组   宋亦寒</a:t>
            </a:r>
            <a:r>
              <a:rPr lang="en-US" altLang="zh-CN" dirty="0"/>
              <a:t>   PB25000200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A66661-9A15-0BAE-F1DD-EB17273F1D59}"/>
              </a:ext>
            </a:extLst>
          </p:cNvPr>
          <p:cNvSpPr txBox="1"/>
          <p:nvPr/>
        </p:nvSpPr>
        <p:spPr>
          <a:xfrm>
            <a:off x="1132583" y="1094965"/>
            <a:ext cx="9806927" cy="2242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自我同一性不是一个静止的终点，而是一个</a:t>
            </a:r>
            <a:r>
              <a:rPr lang="zh-CN" altLang="en-US" sz="2400" b="1" dirty="0">
                <a:solidFill>
                  <a:schemeClr val="accent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动态变化</a:t>
            </a: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的过程。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	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我们可能会在“延缓型”和“获致型”之间反复波动，甚至暂时退回到弥散型或早闭型，这都是我们自我整合时的正常表现。这种反复并不一定代表退步，而是我们在不断地调整中，向着更稳定的自我迈进。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6E76289-ADA5-CFE4-7A16-A14ACD550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5769" y="3503689"/>
            <a:ext cx="2857500" cy="225934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7AE8275-5548-316F-E31D-11026DF587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682" y="3482653"/>
            <a:ext cx="3501273" cy="230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4819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476</Words>
  <Application>Microsoft Office PowerPoint</Application>
  <PresentationFormat>宽屏</PresentationFormat>
  <Paragraphs>19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华文中宋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戴欣怡</dc:creator>
  <cp:lastModifiedBy>亦寒 宋</cp:lastModifiedBy>
  <cp:revision>15</cp:revision>
  <dcterms:created xsi:type="dcterms:W3CDTF">2023-08-09T12:44:00Z</dcterms:created>
  <dcterms:modified xsi:type="dcterms:W3CDTF">2026-03-05T20:05:10Z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02B35DC8BE20436BA6947BAC151FD7A8_13</vt:lpwstr>
  </property>
</Properties>
</file>