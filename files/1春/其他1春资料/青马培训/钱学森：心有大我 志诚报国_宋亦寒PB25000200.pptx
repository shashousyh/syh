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Lst>
  <p:sldSz cx="16256000" cy="9144000"/>
  <p:notesSz cx="9144000" cy="16256000"/>
  <p:embeddedFontLst>
    <p:embeddedFont>
      <p:font typeface="黑体" panose="02010609060101010101" pitchFamily="49" charset="-122"/>
      <p:regular r:id="rId30"/>
    </p:embeddedFont>
    <p:embeddedFont>
      <p:font typeface="楷体" panose="02010609060101010101" pitchFamily="49" charset="-122"/>
      <p:regular r:id="rId3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15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153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3657600"/>
          </a:xfrm>
          <a:prstGeom prst="rect">
            <a:avLst/>
          </a:prstGeom>
          <a:gradFill flip="none" rotWithShape="1">
            <a:gsLst>
              <a:gs pos="0">
                <a:srgbClr val="5A0A0A"/>
              </a:gs>
              <a:gs pos="50000">
                <a:srgbClr val="8B1A1A"/>
              </a:gs>
              <a:gs pos="100000">
                <a:srgbClr val="A52020"/>
              </a:gs>
            </a:gsLst>
            <a:lin ang="10800000" scaled="1"/>
          </a:gradFill>
          <a:ln/>
        </p:spPr>
        <p:txBody>
          <a:bodyPr/>
          <a:lstStyle/>
          <a:p>
            <a:endParaRPr/>
          </a:p>
        </p:txBody>
      </p:sp>
      <p:sp>
        <p:nvSpPr>
          <p:cNvPr id="8" name="Text 6"/>
          <p:cNvSpPr/>
          <p:nvPr/>
        </p:nvSpPr>
        <p:spPr>
          <a:xfrm>
            <a:off x="848139" y="5130800"/>
            <a:ext cx="12700000" cy="762000"/>
          </a:xfrm>
          <a:prstGeom prst="rect">
            <a:avLst/>
          </a:prstGeom>
          <a:noFill/>
          <a:ln/>
        </p:spPr>
        <p:txBody>
          <a:bodyPr wrap="none" lIns="0" tIns="0" rIns="0" bIns="0" rtlCol="0" anchor="ctr"/>
          <a:lstStyle/>
          <a:p>
            <a:pPr>
              <a:lnSpc>
                <a:spcPct val="100000"/>
              </a:lnSpc>
            </a:pPr>
            <a:r>
              <a:rPr lang="en-US" sz="4800" b="1" dirty="0">
                <a:latin typeface="黑体" pitchFamily="34" charset="0"/>
                <a:ea typeface="黑体"/>
              </a:rPr>
              <a:t>钱学森：心有大我 志诚报国</a:t>
            </a:r>
            <a:endParaRPr lang="en-US" sz="4800" dirty="0"/>
          </a:p>
        </p:txBody>
      </p:sp>
      <p:sp>
        <p:nvSpPr>
          <p:cNvPr id="9" name="Text 7"/>
          <p:cNvSpPr/>
          <p:nvPr/>
        </p:nvSpPr>
        <p:spPr>
          <a:xfrm>
            <a:off x="762000" y="2997200"/>
            <a:ext cx="11430000" cy="381000"/>
          </a:xfrm>
          <a:prstGeom prst="rect">
            <a:avLst/>
          </a:prstGeom>
          <a:noFill/>
          <a:ln/>
        </p:spPr>
        <p:txBody>
          <a:bodyPr wrap="none" lIns="0" tIns="0" rIns="0" bIns="0" rtlCol="0" anchor="ctr"/>
          <a:lstStyle/>
          <a:p>
            <a:pPr>
              <a:lnSpc>
                <a:spcPct val="100000"/>
              </a:lnSpc>
            </a:pPr>
            <a:endParaRPr lang="en-US" sz="1600" dirty="0"/>
          </a:p>
        </p:txBody>
      </p:sp>
      <p:sp>
        <p:nvSpPr>
          <p:cNvPr id="10" name="Shape 8"/>
          <p:cNvSpPr/>
          <p:nvPr/>
        </p:nvSpPr>
        <p:spPr>
          <a:xfrm>
            <a:off x="762000" y="3810000"/>
            <a:ext cx="7620000" cy="0"/>
          </a:xfrm>
          <a:prstGeom prst="straightConnector1">
            <a:avLst/>
          </a:prstGeom>
          <a:noFill/>
          <a:ln w="25400">
            <a:solidFill>
              <a:srgbClr val="B8860B"/>
            </a:solidFill>
            <a:prstDash val="solid"/>
            <a:headEnd type="none"/>
            <a:tailEnd type="none"/>
          </a:ln>
        </p:spPr>
        <p:txBody>
          <a:bodyPr/>
          <a:lstStyle/>
          <a:p>
            <a:endParaRPr/>
          </a:p>
        </p:txBody>
      </p:sp>
      <p:sp>
        <p:nvSpPr>
          <p:cNvPr id="15" name="Text 13"/>
          <p:cNvSpPr/>
          <p:nvPr/>
        </p:nvSpPr>
        <p:spPr>
          <a:xfrm>
            <a:off x="848139" y="6184900"/>
            <a:ext cx="7620000" cy="330200"/>
          </a:xfrm>
          <a:prstGeom prst="rect">
            <a:avLst/>
          </a:prstGeom>
          <a:noFill/>
          <a:ln/>
        </p:spPr>
        <p:txBody>
          <a:bodyPr wrap="none" lIns="0" tIns="0" rIns="0" bIns="0" rtlCol="0" anchor="ctr"/>
          <a:lstStyle/>
          <a:p>
            <a:pPr>
              <a:lnSpc>
                <a:spcPct val="100000"/>
              </a:lnSpc>
            </a:pPr>
            <a:r>
              <a:rPr lang="en-US" sz="3200" dirty="0"/>
              <a:t>弘扬科学家精神 · 奋进新征程 · 建功新时代</a:t>
            </a:r>
            <a:endParaRPr lang="en-US" sz="2000" dirty="0"/>
          </a:p>
        </p:txBody>
      </p:sp>
      <p:sp>
        <p:nvSpPr>
          <p:cNvPr id="19" name="Shape 17"/>
          <p:cNvSpPr/>
          <p:nvPr/>
        </p:nvSpPr>
        <p:spPr>
          <a:xfrm>
            <a:off x="0" y="8890000"/>
            <a:ext cx="16256000" cy="0"/>
          </a:xfrm>
          <a:prstGeom prst="straightConnector1">
            <a:avLst/>
          </a:prstGeom>
          <a:noFill/>
          <a:ln w="38100">
            <a:solidFill>
              <a:srgbClr val="B8860B"/>
            </a:solidFill>
            <a:prstDash val="solid"/>
            <a:headEnd type="none"/>
            <a:tailEnd type="none"/>
          </a:ln>
        </p:spPr>
        <p:txBody>
          <a:bodyPr/>
          <a:lstStyle/>
          <a:p>
            <a:endParaRPr/>
          </a:p>
        </p:txBody>
      </p:sp>
      <p:pic>
        <p:nvPicPr>
          <p:cNvPr id="21" name="Picture 20" descr="图片1.png"/>
          <p:cNvPicPr>
            <a:picLocks noChangeAspect="1"/>
          </p:cNvPicPr>
          <p:nvPr/>
        </p:nvPicPr>
        <p:blipFill>
          <a:blip r:embed="rId3"/>
          <a:stretch>
            <a:fillRect/>
          </a:stretch>
        </p:blipFill>
        <p:spPr>
          <a:xfrm>
            <a:off x="13641787" y="284480"/>
            <a:ext cx="2491099" cy="50292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前言</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7620000" cy="3556000"/>
          </a:xfrm>
          <a:prstGeom prst="rect">
            <a:avLst/>
          </a:prstGeom>
          <a:solidFill>
            <a:srgbClr val="FFF5F5"/>
          </a:solidFill>
          <a:ln w="12700">
            <a:solidFill>
              <a:srgbClr val="8B1A1A">
                <a:alpha val="25098"/>
              </a:srgbClr>
            </a:solidFill>
            <a:prstDash val="solid"/>
          </a:ln>
        </p:spPr>
        <p:txBody>
          <a:bodyPr/>
          <a:lstStyle/>
          <a:p>
            <a:endParaRPr/>
          </a:p>
        </p:txBody>
      </p:sp>
      <p:sp>
        <p:nvSpPr>
          <p:cNvPr id="17" name="Shape 15"/>
          <p:cNvSpPr/>
          <p:nvPr/>
        </p:nvSpPr>
        <p:spPr>
          <a:xfrm>
            <a:off x="1044575" y="1803400"/>
            <a:ext cx="400050" cy="457200"/>
          </a:xfrm>
          <a:custGeom>
            <a:avLst/>
            <a:gdLst/>
            <a:ahLst/>
            <a:cxnLst/>
            <a:rect l="l" t="t" r="r" b="b"/>
            <a:pathLst>
              <a:path w="400050" h="457200">
                <a:moveTo>
                  <a:pt x="0" y="192881"/>
                </a:moveTo>
                <a:cubicBezTo>
                  <a:pt x="0" y="133677"/>
                  <a:pt x="47952" y="85725"/>
                  <a:pt x="107156" y="85725"/>
                </a:cubicBezTo>
                <a:lnTo>
                  <a:pt x="114300" y="85725"/>
                </a:lnTo>
                <a:cubicBezTo>
                  <a:pt x="130106" y="85725"/>
                  <a:pt x="142875" y="98494"/>
                  <a:pt x="142875" y="114300"/>
                </a:cubicBezTo>
                <a:cubicBezTo>
                  <a:pt x="142875" y="130106"/>
                  <a:pt x="130106" y="142875"/>
                  <a:pt x="114300" y="142875"/>
                </a:cubicBezTo>
                <a:lnTo>
                  <a:pt x="107156" y="142875"/>
                </a:lnTo>
                <a:cubicBezTo>
                  <a:pt x="79564" y="142875"/>
                  <a:pt x="57150" y="165289"/>
                  <a:pt x="57150" y="192881"/>
                </a:cubicBezTo>
                <a:lnTo>
                  <a:pt x="57150" y="200025"/>
                </a:lnTo>
                <a:lnTo>
                  <a:pt x="114300" y="200025"/>
                </a:lnTo>
                <a:cubicBezTo>
                  <a:pt x="145822" y="200025"/>
                  <a:pt x="171450" y="225653"/>
                  <a:pt x="171450" y="257175"/>
                </a:cubicBezTo>
                <a:lnTo>
                  <a:pt x="171450" y="314325"/>
                </a:lnTo>
                <a:cubicBezTo>
                  <a:pt x="171450" y="345847"/>
                  <a:pt x="145822" y="371475"/>
                  <a:pt x="114300" y="371475"/>
                </a:cubicBezTo>
                <a:lnTo>
                  <a:pt x="57150" y="371475"/>
                </a:lnTo>
                <a:cubicBezTo>
                  <a:pt x="25628" y="371475"/>
                  <a:pt x="0" y="345847"/>
                  <a:pt x="0" y="314325"/>
                </a:cubicBezTo>
                <a:lnTo>
                  <a:pt x="0" y="192881"/>
                </a:lnTo>
                <a:close/>
                <a:moveTo>
                  <a:pt x="228600" y="192881"/>
                </a:moveTo>
                <a:cubicBezTo>
                  <a:pt x="228600" y="133677"/>
                  <a:pt x="276552" y="85725"/>
                  <a:pt x="335756" y="85725"/>
                </a:cubicBezTo>
                <a:lnTo>
                  <a:pt x="342900" y="85725"/>
                </a:lnTo>
                <a:cubicBezTo>
                  <a:pt x="358706" y="85725"/>
                  <a:pt x="371475" y="98494"/>
                  <a:pt x="371475" y="114300"/>
                </a:cubicBezTo>
                <a:cubicBezTo>
                  <a:pt x="371475" y="130106"/>
                  <a:pt x="358706" y="142875"/>
                  <a:pt x="342900" y="142875"/>
                </a:cubicBezTo>
                <a:lnTo>
                  <a:pt x="335756" y="142875"/>
                </a:lnTo>
                <a:cubicBezTo>
                  <a:pt x="308164" y="142875"/>
                  <a:pt x="285750" y="165289"/>
                  <a:pt x="285750" y="192881"/>
                </a:cubicBezTo>
                <a:lnTo>
                  <a:pt x="285750" y="200025"/>
                </a:lnTo>
                <a:lnTo>
                  <a:pt x="342900" y="200025"/>
                </a:lnTo>
                <a:cubicBezTo>
                  <a:pt x="374422" y="200025"/>
                  <a:pt x="400050" y="225653"/>
                  <a:pt x="400050" y="257175"/>
                </a:cubicBezTo>
                <a:lnTo>
                  <a:pt x="400050" y="314325"/>
                </a:lnTo>
                <a:cubicBezTo>
                  <a:pt x="400050" y="345847"/>
                  <a:pt x="374422" y="371475"/>
                  <a:pt x="342900" y="371475"/>
                </a:cubicBezTo>
                <a:lnTo>
                  <a:pt x="285750" y="371475"/>
                </a:lnTo>
                <a:cubicBezTo>
                  <a:pt x="254228" y="371475"/>
                  <a:pt x="228600" y="345847"/>
                  <a:pt x="228600" y="314325"/>
                </a:cubicBezTo>
                <a:lnTo>
                  <a:pt x="228600" y="192881"/>
                </a:lnTo>
                <a:close/>
              </a:path>
            </a:pathLst>
          </a:custGeom>
          <a:solidFill>
            <a:srgbClr val="B8860B"/>
          </a:solidFill>
          <a:ln/>
        </p:spPr>
        <p:txBody>
          <a:bodyPr/>
          <a:lstStyle/>
          <a:p>
            <a:endParaRPr/>
          </a:p>
        </p:txBody>
      </p:sp>
      <p:sp>
        <p:nvSpPr>
          <p:cNvPr id="18" name="Text 16"/>
          <p:cNvSpPr/>
          <p:nvPr/>
        </p:nvSpPr>
        <p:spPr>
          <a:xfrm>
            <a:off x="1016000" y="2413000"/>
            <a:ext cx="6858000" cy="2413000"/>
          </a:xfrm>
          <a:prstGeom prst="rect">
            <a:avLst/>
          </a:prstGeom>
          <a:noFill/>
          <a:ln/>
        </p:spPr>
        <p:txBody>
          <a:bodyPr wrap="square" lIns="0" tIns="0" rIns="0" bIns="0" rtlCol="0" anchor="ctr"/>
          <a:lstStyle/>
          <a:p>
            <a:pPr>
              <a:lnSpc>
                <a:spcPct val="180000"/>
              </a:lnSpc>
            </a:pPr>
            <a:r>
              <a:rPr lang="en-US" sz="2400" dirty="0">
                <a:solidFill>
                  <a:srgbClr val="2C2C2C"/>
                </a:solidFill>
              </a:rPr>
              <a:t>钱学森是国家科技自立自强的践行者，"两弹一星"功勋奖章获得者，中国航天事业奠基人。他早年立下科技强国的远大志向，</a:t>
            </a:r>
            <a:r>
              <a:rPr lang="en-US" sz="2400" b="1" dirty="0">
                <a:solidFill>
                  <a:srgbClr val="8B1A1A"/>
                </a:solidFill>
              </a:rPr>
              <a:t>"让同胞过上有尊严的幸福生活"</a:t>
            </a:r>
            <a:r>
              <a:rPr lang="en-US" sz="2400" dirty="0">
                <a:solidFill>
                  <a:srgbClr val="2C2C2C"/>
                </a:solidFill>
              </a:rPr>
              <a:t>是他的伟大梦想。</a:t>
            </a:r>
            <a:endParaRPr lang="en-US" sz="1600" dirty="0"/>
          </a:p>
        </p:txBody>
      </p:sp>
      <p:sp>
        <p:nvSpPr>
          <p:cNvPr id="19" name="Shape 17"/>
          <p:cNvSpPr/>
          <p:nvPr/>
        </p:nvSpPr>
        <p:spPr>
          <a:xfrm>
            <a:off x="8509000" y="1549400"/>
            <a:ext cx="7112000" cy="3556000"/>
          </a:xfrm>
          <a:prstGeom prst="rect">
            <a:avLst/>
          </a:prstGeom>
          <a:solidFill>
            <a:srgbClr val="FFF5F5"/>
          </a:solidFill>
          <a:ln w="12700">
            <a:solidFill>
              <a:srgbClr val="8B1A1A">
                <a:alpha val="25098"/>
              </a:srgbClr>
            </a:solidFill>
            <a:prstDash val="solid"/>
          </a:ln>
        </p:spPr>
        <p:txBody>
          <a:bodyPr/>
          <a:lstStyle/>
          <a:p>
            <a:endParaRPr/>
          </a:p>
        </p:txBody>
      </p:sp>
      <p:sp>
        <p:nvSpPr>
          <p:cNvPr id="20" name="Text 18"/>
          <p:cNvSpPr/>
          <p:nvPr/>
        </p:nvSpPr>
        <p:spPr>
          <a:xfrm>
            <a:off x="8890000" y="1778000"/>
            <a:ext cx="6350000" cy="381000"/>
          </a:xfrm>
          <a:prstGeom prst="rect">
            <a:avLst/>
          </a:prstGeom>
          <a:noFill/>
          <a:ln/>
        </p:spPr>
        <p:txBody>
          <a:bodyPr wrap="none" lIns="0" tIns="0" rIns="0" bIns="0" rtlCol="0" anchor="ctr"/>
          <a:lstStyle/>
          <a:p>
            <a:pPr>
              <a:lnSpc>
                <a:spcPct val="100000"/>
              </a:lnSpc>
            </a:pPr>
            <a:r>
              <a:rPr lang="en-US" sz="2400" b="1" dirty="0">
                <a:solidFill>
                  <a:srgbClr val="8B1A1A"/>
                </a:solidFill>
              </a:rPr>
              <a:t>宣讲主旨</a:t>
            </a:r>
            <a:endParaRPr lang="en-US" sz="1600" dirty="0"/>
          </a:p>
        </p:txBody>
      </p:sp>
      <p:sp>
        <p:nvSpPr>
          <p:cNvPr id="21" name="Text 19"/>
          <p:cNvSpPr/>
          <p:nvPr/>
        </p:nvSpPr>
        <p:spPr>
          <a:xfrm>
            <a:off x="8890000" y="2286000"/>
            <a:ext cx="6350000" cy="2540000"/>
          </a:xfrm>
          <a:prstGeom prst="rect">
            <a:avLst/>
          </a:prstGeom>
          <a:noFill/>
          <a:ln/>
        </p:spPr>
        <p:txBody>
          <a:bodyPr wrap="square" lIns="0" tIns="0" rIns="0" bIns="0" rtlCol="0" anchor="ctr"/>
          <a:lstStyle/>
          <a:p>
            <a:pPr>
              <a:lnSpc>
                <a:spcPct val="170000"/>
              </a:lnSpc>
            </a:pPr>
            <a:r>
              <a:rPr lang="en-US" sz="2400" dirty="0">
                <a:solidFill>
                  <a:srgbClr val="2C2C2C"/>
                </a:solidFill>
              </a:rPr>
              <a:t>本宣讲将沿着钱学森的人生足迹，从</a:t>
            </a:r>
            <a:r>
              <a:rPr lang="en-US" sz="2400" b="1" dirty="0">
                <a:solidFill>
                  <a:srgbClr val="2C2C2C"/>
                </a:solidFill>
              </a:rPr>
              <a:t>立志报国、毅然归国、科技强国、传道授业</a:t>
            </a:r>
            <a:r>
              <a:rPr lang="en-US" sz="2400" dirty="0">
                <a:solidFill>
                  <a:srgbClr val="2C2C2C"/>
                </a:solidFill>
              </a:rPr>
              <a:t>四个维度，探寻他的科学家精神，激励新时代科技工作者奋进新征程、建功新时代。</a:t>
            </a:r>
            <a:endParaRPr lang="en-US" sz="1600" dirty="0"/>
          </a:p>
        </p:txBody>
      </p:sp>
      <p:sp>
        <p:nvSpPr>
          <p:cNvPr id="22" name="Shape 20"/>
          <p:cNvSpPr/>
          <p:nvPr/>
        </p:nvSpPr>
        <p:spPr>
          <a:xfrm>
            <a:off x="635000" y="5461000"/>
            <a:ext cx="14986000" cy="711200"/>
          </a:xfrm>
          <a:prstGeom prst="rect">
            <a:avLst/>
          </a:prstGeom>
          <a:solidFill>
            <a:srgbClr val="8B1A1A"/>
          </a:solidFill>
          <a:ln/>
        </p:spPr>
        <p:txBody>
          <a:bodyPr/>
          <a:lstStyle/>
          <a:p>
            <a:endParaRPr/>
          </a:p>
        </p:txBody>
      </p:sp>
      <p:sp>
        <p:nvSpPr>
          <p:cNvPr id="23" name="Text 21"/>
          <p:cNvSpPr/>
          <p:nvPr/>
        </p:nvSpPr>
        <p:spPr>
          <a:xfrm>
            <a:off x="635000" y="5461000"/>
            <a:ext cx="14986000" cy="711200"/>
          </a:xfrm>
          <a:prstGeom prst="rect">
            <a:avLst/>
          </a:prstGeom>
          <a:noFill/>
          <a:ln/>
        </p:spPr>
        <p:txBody>
          <a:bodyPr wrap="none" lIns="0" tIns="0" rIns="0" bIns="0" rtlCol="0" anchor="ctr"/>
          <a:lstStyle/>
          <a:p>
            <a:pPr algn="ctr">
              <a:lnSpc>
                <a:spcPct val="100000"/>
              </a:lnSpc>
            </a:pPr>
            <a:r>
              <a:rPr lang="en-US" sz="2400" b="1" dirty="0">
                <a:solidFill>
                  <a:srgbClr val="FFFFFF"/>
                </a:solidFill>
              </a:rPr>
              <a:t>钱学森（1911—2009）· 空气动力学家 · 中国航天事业奠基人 · "两弹一星"功勋奖章获得者</a:t>
            </a:r>
            <a:endParaRPr lang="en-US" sz="1600" dirty="0"/>
          </a:p>
        </p:txBody>
      </p:sp>
      <p:sp>
        <p:nvSpPr>
          <p:cNvPr id="24" name="Shape 22"/>
          <p:cNvSpPr/>
          <p:nvPr/>
        </p:nvSpPr>
        <p:spPr>
          <a:xfrm>
            <a:off x="635000" y="6477000"/>
            <a:ext cx="2794000" cy="1016000"/>
          </a:xfrm>
          <a:prstGeom prst="rect">
            <a:avLst/>
          </a:prstGeom>
          <a:solidFill>
            <a:srgbClr val="B8860B"/>
          </a:solidFill>
          <a:ln/>
        </p:spPr>
        <p:txBody>
          <a:bodyPr/>
          <a:lstStyle/>
          <a:p>
            <a:endParaRPr/>
          </a:p>
        </p:txBody>
      </p:sp>
      <p:sp>
        <p:nvSpPr>
          <p:cNvPr id="25" name="Text 23"/>
          <p:cNvSpPr/>
          <p:nvPr/>
        </p:nvSpPr>
        <p:spPr>
          <a:xfrm>
            <a:off x="635000" y="6477000"/>
            <a:ext cx="2794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爱国</a:t>
            </a:r>
            <a:endParaRPr lang="en-US" sz="1600" dirty="0"/>
          </a:p>
        </p:txBody>
      </p:sp>
      <p:sp>
        <p:nvSpPr>
          <p:cNvPr id="26" name="Shape 24"/>
          <p:cNvSpPr/>
          <p:nvPr/>
        </p:nvSpPr>
        <p:spPr>
          <a:xfrm>
            <a:off x="3683000" y="6477000"/>
            <a:ext cx="2794000" cy="1016000"/>
          </a:xfrm>
          <a:prstGeom prst="rect">
            <a:avLst/>
          </a:prstGeom>
          <a:solidFill>
            <a:srgbClr val="8B1A1A"/>
          </a:solidFill>
          <a:ln/>
        </p:spPr>
        <p:txBody>
          <a:bodyPr/>
          <a:lstStyle/>
          <a:p>
            <a:endParaRPr/>
          </a:p>
        </p:txBody>
      </p:sp>
      <p:sp>
        <p:nvSpPr>
          <p:cNvPr id="27" name="Text 25"/>
          <p:cNvSpPr/>
          <p:nvPr/>
        </p:nvSpPr>
        <p:spPr>
          <a:xfrm>
            <a:off x="3683000" y="6477000"/>
            <a:ext cx="2794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创新</a:t>
            </a:r>
            <a:endParaRPr lang="en-US" sz="1600" dirty="0"/>
          </a:p>
        </p:txBody>
      </p:sp>
      <p:sp>
        <p:nvSpPr>
          <p:cNvPr id="28" name="Shape 26"/>
          <p:cNvSpPr/>
          <p:nvPr/>
        </p:nvSpPr>
        <p:spPr>
          <a:xfrm>
            <a:off x="6731000" y="6477000"/>
            <a:ext cx="2794000" cy="1016000"/>
          </a:xfrm>
          <a:prstGeom prst="rect">
            <a:avLst/>
          </a:prstGeom>
          <a:solidFill>
            <a:srgbClr val="6D0E0E"/>
          </a:solidFill>
          <a:ln/>
        </p:spPr>
        <p:txBody>
          <a:bodyPr/>
          <a:lstStyle/>
          <a:p>
            <a:endParaRPr/>
          </a:p>
        </p:txBody>
      </p:sp>
      <p:sp>
        <p:nvSpPr>
          <p:cNvPr id="29" name="Text 27"/>
          <p:cNvSpPr/>
          <p:nvPr/>
        </p:nvSpPr>
        <p:spPr>
          <a:xfrm>
            <a:off x="6731000" y="6477000"/>
            <a:ext cx="2794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求实</a:t>
            </a:r>
            <a:endParaRPr lang="en-US" sz="1600" dirty="0"/>
          </a:p>
        </p:txBody>
      </p:sp>
      <p:sp>
        <p:nvSpPr>
          <p:cNvPr id="30" name="Shape 28"/>
          <p:cNvSpPr/>
          <p:nvPr/>
        </p:nvSpPr>
        <p:spPr>
          <a:xfrm>
            <a:off x="9779000" y="6477000"/>
            <a:ext cx="2794000" cy="1016000"/>
          </a:xfrm>
          <a:prstGeom prst="rect">
            <a:avLst/>
          </a:prstGeom>
          <a:solidFill>
            <a:srgbClr val="B8860B"/>
          </a:solidFill>
          <a:ln/>
        </p:spPr>
        <p:txBody>
          <a:bodyPr/>
          <a:lstStyle/>
          <a:p>
            <a:endParaRPr/>
          </a:p>
        </p:txBody>
      </p:sp>
      <p:sp>
        <p:nvSpPr>
          <p:cNvPr id="31" name="Text 29"/>
          <p:cNvSpPr/>
          <p:nvPr/>
        </p:nvSpPr>
        <p:spPr>
          <a:xfrm>
            <a:off x="9779000" y="6477000"/>
            <a:ext cx="2794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奉献</a:t>
            </a:r>
            <a:endParaRPr lang="en-US" sz="1600" dirty="0"/>
          </a:p>
        </p:txBody>
      </p:sp>
      <p:sp>
        <p:nvSpPr>
          <p:cNvPr id="32" name="Shape 30"/>
          <p:cNvSpPr/>
          <p:nvPr/>
        </p:nvSpPr>
        <p:spPr>
          <a:xfrm>
            <a:off x="12827000" y="6477000"/>
            <a:ext cx="2794000" cy="1016000"/>
          </a:xfrm>
          <a:prstGeom prst="rect">
            <a:avLst/>
          </a:prstGeom>
          <a:solidFill>
            <a:srgbClr val="8B1A1A"/>
          </a:solidFill>
          <a:ln/>
        </p:spPr>
        <p:txBody>
          <a:bodyPr/>
          <a:lstStyle/>
          <a:p>
            <a:endParaRPr/>
          </a:p>
        </p:txBody>
      </p:sp>
      <p:sp>
        <p:nvSpPr>
          <p:cNvPr id="33" name="Text 31"/>
          <p:cNvSpPr/>
          <p:nvPr/>
        </p:nvSpPr>
        <p:spPr>
          <a:xfrm>
            <a:off x="12827000" y="6477000"/>
            <a:ext cx="2794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协同</a:t>
            </a:r>
            <a:endParaRPr lang="en-US" sz="1600" dirty="0"/>
          </a:p>
        </p:txBody>
      </p:sp>
      <p:sp>
        <p:nvSpPr>
          <p:cNvPr id="35" name="Shape 33"/>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4826000" cy="9144000"/>
          </a:xfrm>
          <a:prstGeom prst="rect">
            <a:avLst/>
          </a:prstGeom>
          <a:gradFill flip="none" rotWithShape="1">
            <a:gsLst>
              <a:gs pos="0">
                <a:srgbClr val="5A0A0A"/>
              </a:gs>
              <a:gs pos="100000">
                <a:srgbClr val="8B1A1A"/>
              </a:gs>
            </a:gsLst>
            <a:lin ang="10800000" scaled="1"/>
          </a:gradFill>
          <a:ln/>
        </p:spPr>
        <p:txBody>
          <a:bodyPr/>
          <a:lstStyle/>
          <a:p>
            <a:endParaRPr/>
          </a:p>
        </p:txBody>
      </p:sp>
      <p:sp>
        <p:nvSpPr>
          <p:cNvPr id="3" name="Text 1"/>
          <p:cNvSpPr/>
          <p:nvPr/>
        </p:nvSpPr>
        <p:spPr>
          <a:xfrm>
            <a:off x="508000" y="3302000"/>
            <a:ext cx="3810000" cy="889000"/>
          </a:xfrm>
          <a:prstGeom prst="rect">
            <a:avLst/>
          </a:prstGeom>
          <a:noFill/>
          <a:ln/>
        </p:spPr>
        <p:txBody>
          <a:bodyPr wrap="none" lIns="0" tIns="0" rIns="0" bIns="0" rtlCol="0" anchor="ctr"/>
          <a:lstStyle/>
          <a:p>
            <a:pPr>
              <a:lnSpc>
                <a:spcPct val="100000"/>
              </a:lnSpc>
            </a:pPr>
            <a:r>
              <a:rPr lang="en-US" sz="5200" b="1" dirty="0">
                <a:solidFill>
                  <a:srgbClr val="FFFFFF"/>
                </a:solidFill>
                <a:latin typeface="黑体" pitchFamily="34" charset="0"/>
                <a:ea typeface="黑体"/>
              </a:rPr>
              <a:t>目录</a:t>
            </a:r>
            <a:endParaRPr lang="en-US" sz="1600" dirty="0"/>
          </a:p>
        </p:txBody>
      </p:sp>
      <p:sp>
        <p:nvSpPr>
          <p:cNvPr id="4" name="Text 2"/>
          <p:cNvSpPr/>
          <p:nvPr/>
        </p:nvSpPr>
        <p:spPr>
          <a:xfrm>
            <a:off x="508000" y="4254500"/>
            <a:ext cx="3810000" cy="355600"/>
          </a:xfrm>
          <a:prstGeom prst="rect">
            <a:avLst/>
          </a:prstGeom>
          <a:noFill/>
          <a:ln/>
        </p:spPr>
        <p:txBody>
          <a:bodyPr wrap="none" lIns="0" tIns="0" rIns="0" bIns="0" rtlCol="0" anchor="ctr"/>
          <a:lstStyle/>
          <a:p>
            <a:pPr>
              <a:lnSpc>
                <a:spcPct val="100000"/>
              </a:lnSpc>
            </a:pPr>
            <a:endParaRPr lang="en-US" sz="1600" dirty="0"/>
          </a:p>
        </p:txBody>
      </p:sp>
      <p:sp>
        <p:nvSpPr>
          <p:cNvPr id="5" name="Shape 3"/>
          <p:cNvSpPr/>
          <p:nvPr/>
        </p:nvSpPr>
        <p:spPr>
          <a:xfrm>
            <a:off x="508000" y="3149600"/>
            <a:ext cx="1016000" cy="0"/>
          </a:xfrm>
          <a:prstGeom prst="straightConnector1">
            <a:avLst/>
          </a:prstGeom>
          <a:noFill/>
          <a:ln w="38100">
            <a:solidFill>
              <a:srgbClr val="B8860B"/>
            </a:solidFill>
            <a:prstDash val="solid"/>
            <a:headEnd type="none"/>
            <a:tailEnd type="none"/>
          </a:ln>
        </p:spPr>
        <p:txBody>
          <a:bodyPr/>
          <a:lstStyle/>
          <a:p>
            <a:endParaRPr/>
          </a:p>
        </p:txBody>
      </p:sp>
      <p:sp>
        <p:nvSpPr>
          <p:cNvPr id="6" name="Text 4"/>
          <p:cNvSpPr/>
          <p:nvPr/>
        </p:nvSpPr>
        <p:spPr>
          <a:xfrm>
            <a:off x="5461000" y="1524000"/>
            <a:ext cx="812800" cy="571500"/>
          </a:xfrm>
          <a:prstGeom prst="rect">
            <a:avLst/>
          </a:prstGeom>
          <a:noFill/>
          <a:ln/>
        </p:spPr>
        <p:txBody>
          <a:bodyPr wrap="none" lIns="0" tIns="0" rIns="0" bIns="0" rtlCol="0" anchor="ctr"/>
          <a:lstStyle/>
          <a:p>
            <a:pPr>
              <a:lnSpc>
                <a:spcPct val="100000"/>
              </a:lnSpc>
            </a:pPr>
            <a:r>
              <a:rPr lang="en-US" sz="3600" b="1" dirty="0">
                <a:solidFill>
                  <a:srgbClr val="8B1A1A"/>
                </a:solidFill>
                <a:latin typeface="黑体" pitchFamily="34" charset="0"/>
                <a:ea typeface="黑体"/>
              </a:rPr>
              <a:t>01</a:t>
            </a:r>
            <a:endParaRPr lang="en-US" sz="1600" dirty="0"/>
          </a:p>
        </p:txBody>
      </p:sp>
      <p:sp>
        <p:nvSpPr>
          <p:cNvPr id="7" name="Text 5"/>
          <p:cNvSpPr/>
          <p:nvPr/>
        </p:nvSpPr>
        <p:spPr>
          <a:xfrm>
            <a:off x="6350000" y="1524000"/>
            <a:ext cx="5080000" cy="355600"/>
          </a:xfrm>
          <a:prstGeom prst="rect">
            <a:avLst/>
          </a:prstGeom>
          <a:noFill/>
          <a:ln/>
        </p:spPr>
        <p:txBody>
          <a:bodyPr wrap="none" lIns="0" tIns="0" rIns="0" bIns="0" rtlCol="0" anchor="ctr"/>
          <a:lstStyle/>
          <a:p>
            <a:pPr>
              <a:lnSpc>
                <a:spcPct val="100000"/>
              </a:lnSpc>
            </a:pPr>
            <a:r>
              <a:rPr lang="en-US" sz="2400" b="1" dirty="0">
                <a:solidFill>
                  <a:srgbClr val="2C2C2C"/>
                </a:solidFill>
              </a:rPr>
              <a:t>学思并进 立志报国</a:t>
            </a:r>
            <a:endParaRPr lang="en-US" sz="1600" dirty="0"/>
          </a:p>
        </p:txBody>
      </p:sp>
      <p:sp>
        <p:nvSpPr>
          <p:cNvPr id="8" name="Text 6"/>
          <p:cNvSpPr/>
          <p:nvPr/>
        </p:nvSpPr>
        <p:spPr>
          <a:xfrm>
            <a:off x="6350000" y="1930400"/>
            <a:ext cx="5080000" cy="254000"/>
          </a:xfrm>
          <a:prstGeom prst="rect">
            <a:avLst/>
          </a:prstGeom>
          <a:noFill/>
          <a:ln/>
        </p:spPr>
        <p:txBody>
          <a:bodyPr wrap="none" lIns="0" tIns="0" rIns="0" bIns="0" rtlCol="0" anchor="ctr"/>
          <a:lstStyle/>
          <a:p>
            <a:pPr>
              <a:lnSpc>
                <a:spcPct val="100000"/>
              </a:lnSpc>
            </a:pPr>
            <a:r>
              <a:rPr lang="en-US" sz="2400" dirty="0">
                <a:solidFill>
                  <a:srgbClr val="999999"/>
                </a:solidFill>
              </a:rPr>
              <a:t>童年启蒙 · 求学之路 · 留学深造</a:t>
            </a:r>
            <a:endParaRPr lang="en-US" sz="1600" dirty="0"/>
          </a:p>
        </p:txBody>
      </p:sp>
      <p:sp>
        <p:nvSpPr>
          <p:cNvPr id="9" name="Shape 7"/>
          <p:cNvSpPr/>
          <p:nvPr/>
        </p:nvSpPr>
        <p:spPr>
          <a:xfrm>
            <a:off x="5461000" y="2438400"/>
            <a:ext cx="10033000" cy="0"/>
          </a:xfrm>
          <a:prstGeom prst="straightConnector1">
            <a:avLst/>
          </a:prstGeom>
          <a:noFill/>
          <a:ln w="12700">
            <a:solidFill>
              <a:srgbClr val="B8860B">
                <a:alpha val="31373"/>
              </a:srgbClr>
            </a:solidFill>
            <a:prstDash val="solid"/>
            <a:headEnd type="none"/>
            <a:tailEnd type="none"/>
          </a:ln>
        </p:spPr>
        <p:txBody>
          <a:bodyPr/>
          <a:lstStyle/>
          <a:p>
            <a:endParaRPr/>
          </a:p>
        </p:txBody>
      </p:sp>
      <p:sp>
        <p:nvSpPr>
          <p:cNvPr id="10" name="Text 8"/>
          <p:cNvSpPr/>
          <p:nvPr/>
        </p:nvSpPr>
        <p:spPr>
          <a:xfrm>
            <a:off x="5461000" y="2641600"/>
            <a:ext cx="812800" cy="571500"/>
          </a:xfrm>
          <a:prstGeom prst="rect">
            <a:avLst/>
          </a:prstGeom>
          <a:noFill/>
          <a:ln/>
        </p:spPr>
        <p:txBody>
          <a:bodyPr wrap="none" lIns="0" tIns="0" rIns="0" bIns="0" rtlCol="0" anchor="ctr"/>
          <a:lstStyle/>
          <a:p>
            <a:pPr>
              <a:lnSpc>
                <a:spcPct val="100000"/>
              </a:lnSpc>
            </a:pPr>
            <a:r>
              <a:rPr lang="en-US" sz="3600" b="1" dirty="0">
                <a:solidFill>
                  <a:srgbClr val="8B1A1A"/>
                </a:solidFill>
                <a:latin typeface="黑体" pitchFamily="34" charset="0"/>
                <a:ea typeface="黑体"/>
              </a:rPr>
              <a:t>02</a:t>
            </a:r>
            <a:endParaRPr lang="en-US" sz="1600" dirty="0"/>
          </a:p>
        </p:txBody>
      </p:sp>
      <p:sp>
        <p:nvSpPr>
          <p:cNvPr id="11" name="Text 9"/>
          <p:cNvSpPr/>
          <p:nvPr/>
        </p:nvSpPr>
        <p:spPr>
          <a:xfrm>
            <a:off x="6350000" y="2641600"/>
            <a:ext cx="5080000" cy="355600"/>
          </a:xfrm>
          <a:prstGeom prst="rect">
            <a:avLst/>
          </a:prstGeom>
          <a:noFill/>
          <a:ln/>
        </p:spPr>
        <p:txBody>
          <a:bodyPr wrap="none" lIns="0" tIns="0" rIns="0" bIns="0" rtlCol="0" anchor="ctr"/>
          <a:lstStyle/>
          <a:p>
            <a:pPr>
              <a:lnSpc>
                <a:spcPct val="100000"/>
              </a:lnSpc>
            </a:pPr>
            <a:r>
              <a:rPr lang="en-US" sz="2400" b="1" dirty="0">
                <a:solidFill>
                  <a:srgbClr val="2C2C2C"/>
                </a:solidFill>
              </a:rPr>
              <a:t>冲破阻挠 毅然归国</a:t>
            </a:r>
            <a:endParaRPr lang="en-US" sz="1600" dirty="0"/>
          </a:p>
        </p:txBody>
      </p:sp>
      <p:sp>
        <p:nvSpPr>
          <p:cNvPr id="12" name="Text 10"/>
          <p:cNvSpPr/>
          <p:nvPr/>
        </p:nvSpPr>
        <p:spPr>
          <a:xfrm>
            <a:off x="6350000" y="3048000"/>
            <a:ext cx="5080000" cy="254000"/>
          </a:xfrm>
          <a:prstGeom prst="rect">
            <a:avLst/>
          </a:prstGeom>
          <a:noFill/>
          <a:ln/>
        </p:spPr>
        <p:txBody>
          <a:bodyPr wrap="none" lIns="0" tIns="0" rIns="0" bIns="0" rtlCol="0" anchor="ctr"/>
          <a:lstStyle/>
          <a:p>
            <a:pPr>
              <a:lnSpc>
                <a:spcPct val="100000"/>
              </a:lnSpc>
            </a:pPr>
            <a:r>
              <a:rPr lang="en-US" sz="2400" dirty="0">
                <a:solidFill>
                  <a:srgbClr val="999999"/>
                </a:solidFill>
              </a:rPr>
              <a:t>五年软禁 · 不屈斗争 · 归国时刻</a:t>
            </a:r>
            <a:endParaRPr lang="en-US" sz="1600" dirty="0"/>
          </a:p>
        </p:txBody>
      </p:sp>
      <p:sp>
        <p:nvSpPr>
          <p:cNvPr id="13" name="Shape 11"/>
          <p:cNvSpPr/>
          <p:nvPr/>
        </p:nvSpPr>
        <p:spPr>
          <a:xfrm>
            <a:off x="5461000" y="3556000"/>
            <a:ext cx="10033000" cy="0"/>
          </a:xfrm>
          <a:prstGeom prst="straightConnector1">
            <a:avLst/>
          </a:prstGeom>
          <a:noFill/>
          <a:ln w="12700">
            <a:solidFill>
              <a:srgbClr val="B8860B">
                <a:alpha val="31373"/>
              </a:srgbClr>
            </a:solidFill>
            <a:prstDash val="solid"/>
            <a:headEnd type="none"/>
            <a:tailEnd type="none"/>
          </a:ln>
        </p:spPr>
        <p:txBody>
          <a:bodyPr/>
          <a:lstStyle/>
          <a:p>
            <a:endParaRPr/>
          </a:p>
        </p:txBody>
      </p:sp>
      <p:sp>
        <p:nvSpPr>
          <p:cNvPr id="14" name="Text 12"/>
          <p:cNvSpPr/>
          <p:nvPr/>
        </p:nvSpPr>
        <p:spPr>
          <a:xfrm>
            <a:off x="5461000" y="3759200"/>
            <a:ext cx="812800" cy="571500"/>
          </a:xfrm>
          <a:prstGeom prst="rect">
            <a:avLst/>
          </a:prstGeom>
          <a:noFill/>
          <a:ln/>
        </p:spPr>
        <p:txBody>
          <a:bodyPr wrap="none" lIns="0" tIns="0" rIns="0" bIns="0" rtlCol="0" anchor="ctr"/>
          <a:lstStyle/>
          <a:p>
            <a:pPr>
              <a:lnSpc>
                <a:spcPct val="100000"/>
              </a:lnSpc>
            </a:pPr>
            <a:r>
              <a:rPr lang="en-US" sz="3600" b="1" dirty="0">
                <a:solidFill>
                  <a:srgbClr val="8B1A1A"/>
                </a:solidFill>
                <a:latin typeface="黑体" pitchFamily="34" charset="0"/>
                <a:ea typeface="黑体"/>
              </a:rPr>
              <a:t>03</a:t>
            </a:r>
            <a:endParaRPr lang="en-US" sz="1600" dirty="0"/>
          </a:p>
        </p:txBody>
      </p:sp>
      <p:sp>
        <p:nvSpPr>
          <p:cNvPr id="15" name="Text 13"/>
          <p:cNvSpPr/>
          <p:nvPr/>
        </p:nvSpPr>
        <p:spPr>
          <a:xfrm>
            <a:off x="6350000" y="3759200"/>
            <a:ext cx="5080000" cy="355600"/>
          </a:xfrm>
          <a:prstGeom prst="rect">
            <a:avLst/>
          </a:prstGeom>
          <a:noFill/>
          <a:ln/>
        </p:spPr>
        <p:txBody>
          <a:bodyPr wrap="none" lIns="0" tIns="0" rIns="0" bIns="0" rtlCol="0" anchor="ctr"/>
          <a:lstStyle/>
          <a:p>
            <a:pPr>
              <a:lnSpc>
                <a:spcPct val="100000"/>
              </a:lnSpc>
            </a:pPr>
            <a:r>
              <a:rPr lang="en-US" sz="2400" b="1" dirty="0">
                <a:solidFill>
                  <a:srgbClr val="2C2C2C"/>
                </a:solidFill>
              </a:rPr>
              <a:t>攻关创新 科技强国</a:t>
            </a:r>
            <a:endParaRPr lang="en-US" sz="1600" dirty="0"/>
          </a:p>
        </p:txBody>
      </p:sp>
      <p:sp>
        <p:nvSpPr>
          <p:cNvPr id="16" name="Text 14"/>
          <p:cNvSpPr/>
          <p:nvPr/>
        </p:nvSpPr>
        <p:spPr>
          <a:xfrm>
            <a:off x="6350000" y="4165600"/>
            <a:ext cx="5080000" cy="254000"/>
          </a:xfrm>
          <a:prstGeom prst="rect">
            <a:avLst/>
          </a:prstGeom>
          <a:noFill/>
          <a:ln/>
        </p:spPr>
        <p:txBody>
          <a:bodyPr wrap="none" lIns="0" tIns="0" rIns="0" bIns="0" rtlCol="0" anchor="ctr"/>
          <a:lstStyle/>
          <a:p>
            <a:pPr>
              <a:lnSpc>
                <a:spcPct val="100000"/>
              </a:lnSpc>
            </a:pPr>
            <a:r>
              <a:rPr lang="en-US" sz="2400" dirty="0">
                <a:solidFill>
                  <a:srgbClr val="999999"/>
                </a:solidFill>
              </a:rPr>
              <a:t>创建五院 · 导弹研制 · 两弹结合 · 卫星飞天</a:t>
            </a:r>
            <a:endParaRPr lang="en-US" sz="1600" dirty="0"/>
          </a:p>
        </p:txBody>
      </p:sp>
      <p:sp>
        <p:nvSpPr>
          <p:cNvPr id="17" name="Shape 15"/>
          <p:cNvSpPr/>
          <p:nvPr/>
        </p:nvSpPr>
        <p:spPr>
          <a:xfrm>
            <a:off x="5461000" y="4673600"/>
            <a:ext cx="10033000" cy="0"/>
          </a:xfrm>
          <a:prstGeom prst="straightConnector1">
            <a:avLst/>
          </a:prstGeom>
          <a:noFill/>
          <a:ln w="12700">
            <a:solidFill>
              <a:srgbClr val="B8860B">
                <a:alpha val="31373"/>
              </a:srgbClr>
            </a:solidFill>
            <a:prstDash val="solid"/>
            <a:headEnd type="none"/>
            <a:tailEnd type="none"/>
          </a:ln>
        </p:spPr>
        <p:txBody>
          <a:bodyPr/>
          <a:lstStyle/>
          <a:p>
            <a:endParaRPr/>
          </a:p>
        </p:txBody>
      </p:sp>
      <p:sp>
        <p:nvSpPr>
          <p:cNvPr id="18" name="Text 16"/>
          <p:cNvSpPr/>
          <p:nvPr/>
        </p:nvSpPr>
        <p:spPr>
          <a:xfrm>
            <a:off x="5461000" y="4876800"/>
            <a:ext cx="812800" cy="571500"/>
          </a:xfrm>
          <a:prstGeom prst="rect">
            <a:avLst/>
          </a:prstGeom>
          <a:noFill/>
          <a:ln/>
        </p:spPr>
        <p:txBody>
          <a:bodyPr wrap="none" lIns="0" tIns="0" rIns="0" bIns="0" rtlCol="0" anchor="ctr"/>
          <a:lstStyle/>
          <a:p>
            <a:pPr>
              <a:lnSpc>
                <a:spcPct val="100000"/>
              </a:lnSpc>
            </a:pPr>
            <a:r>
              <a:rPr lang="en-US" sz="3600" b="1" dirty="0">
                <a:solidFill>
                  <a:srgbClr val="8B1A1A"/>
                </a:solidFill>
                <a:latin typeface="黑体" pitchFamily="34" charset="0"/>
                <a:ea typeface="黑体"/>
              </a:rPr>
              <a:t>04</a:t>
            </a:r>
            <a:endParaRPr lang="en-US" sz="1600" dirty="0"/>
          </a:p>
        </p:txBody>
      </p:sp>
      <p:sp>
        <p:nvSpPr>
          <p:cNvPr id="19" name="Text 17"/>
          <p:cNvSpPr/>
          <p:nvPr/>
        </p:nvSpPr>
        <p:spPr>
          <a:xfrm>
            <a:off x="6350000" y="4876800"/>
            <a:ext cx="5080000" cy="355600"/>
          </a:xfrm>
          <a:prstGeom prst="rect">
            <a:avLst/>
          </a:prstGeom>
          <a:noFill/>
          <a:ln/>
        </p:spPr>
        <p:txBody>
          <a:bodyPr wrap="none" lIns="0" tIns="0" rIns="0" bIns="0" rtlCol="0" anchor="ctr"/>
          <a:lstStyle/>
          <a:p>
            <a:pPr>
              <a:lnSpc>
                <a:spcPct val="100000"/>
              </a:lnSpc>
            </a:pPr>
            <a:r>
              <a:rPr lang="en-US" sz="2400" b="1" dirty="0">
                <a:solidFill>
                  <a:srgbClr val="2C2C2C"/>
                </a:solidFill>
              </a:rPr>
              <a:t>传道授业 硕果累累</a:t>
            </a:r>
            <a:endParaRPr lang="en-US" sz="1600" dirty="0"/>
          </a:p>
        </p:txBody>
      </p:sp>
      <p:sp>
        <p:nvSpPr>
          <p:cNvPr id="20" name="Text 18"/>
          <p:cNvSpPr/>
          <p:nvPr/>
        </p:nvSpPr>
        <p:spPr>
          <a:xfrm>
            <a:off x="6350000" y="5283200"/>
            <a:ext cx="5080000" cy="254000"/>
          </a:xfrm>
          <a:prstGeom prst="rect">
            <a:avLst/>
          </a:prstGeom>
          <a:noFill/>
          <a:ln/>
        </p:spPr>
        <p:txBody>
          <a:bodyPr wrap="none" lIns="0" tIns="0" rIns="0" bIns="0" rtlCol="0" anchor="ctr"/>
          <a:lstStyle/>
          <a:p>
            <a:pPr>
              <a:lnSpc>
                <a:spcPct val="100000"/>
              </a:lnSpc>
            </a:pPr>
            <a:r>
              <a:rPr lang="en-US" sz="2400" dirty="0">
                <a:solidFill>
                  <a:srgbClr val="999999"/>
                </a:solidFill>
              </a:rPr>
              <a:t>创办中科大 · 教育思想 · 人才培养 · 晚年贡献</a:t>
            </a:r>
            <a:endParaRPr lang="en-US" sz="1600" dirty="0"/>
          </a:p>
        </p:txBody>
      </p:sp>
      <p:sp>
        <p:nvSpPr>
          <p:cNvPr id="21" name="Shape 19"/>
          <p:cNvSpPr/>
          <p:nvPr/>
        </p:nvSpPr>
        <p:spPr>
          <a:xfrm>
            <a:off x="5461000" y="5791200"/>
            <a:ext cx="10033000" cy="0"/>
          </a:xfrm>
          <a:prstGeom prst="straightConnector1">
            <a:avLst/>
          </a:prstGeom>
          <a:noFill/>
          <a:ln w="12700">
            <a:solidFill>
              <a:srgbClr val="B8860B">
                <a:alpha val="31373"/>
              </a:srgbClr>
            </a:solidFill>
            <a:prstDash val="solid"/>
            <a:headEnd type="none"/>
            <a:tailEnd type="none"/>
          </a:ln>
        </p:spPr>
        <p:txBody>
          <a:bodyPr/>
          <a:lstStyle/>
          <a:p>
            <a:endParaRPr/>
          </a:p>
        </p:txBody>
      </p:sp>
      <p:sp>
        <p:nvSpPr>
          <p:cNvPr id="22" name="Text 20"/>
          <p:cNvSpPr/>
          <p:nvPr/>
        </p:nvSpPr>
        <p:spPr>
          <a:xfrm>
            <a:off x="5461000" y="5994400"/>
            <a:ext cx="812800" cy="571500"/>
          </a:xfrm>
          <a:prstGeom prst="rect">
            <a:avLst/>
          </a:prstGeom>
          <a:noFill/>
          <a:ln/>
        </p:spPr>
        <p:txBody>
          <a:bodyPr wrap="none" lIns="0" tIns="0" rIns="0" bIns="0" rtlCol="0" anchor="ctr"/>
          <a:lstStyle/>
          <a:p>
            <a:pPr>
              <a:lnSpc>
                <a:spcPct val="100000"/>
              </a:lnSpc>
            </a:pPr>
            <a:r>
              <a:rPr lang="en-US" sz="3600" b="1" dirty="0">
                <a:solidFill>
                  <a:srgbClr val="8B1A1A"/>
                </a:solidFill>
                <a:latin typeface="黑体" pitchFamily="34" charset="0"/>
                <a:ea typeface="黑体"/>
              </a:rPr>
              <a:t>05</a:t>
            </a:r>
            <a:endParaRPr lang="en-US" sz="1600" dirty="0"/>
          </a:p>
        </p:txBody>
      </p:sp>
      <p:sp>
        <p:nvSpPr>
          <p:cNvPr id="23" name="Text 21"/>
          <p:cNvSpPr/>
          <p:nvPr/>
        </p:nvSpPr>
        <p:spPr>
          <a:xfrm>
            <a:off x="6350000" y="5994400"/>
            <a:ext cx="5080000" cy="355600"/>
          </a:xfrm>
          <a:prstGeom prst="rect">
            <a:avLst/>
          </a:prstGeom>
          <a:noFill/>
          <a:ln/>
        </p:spPr>
        <p:txBody>
          <a:bodyPr wrap="none" lIns="0" tIns="0" rIns="0" bIns="0" rtlCol="0" anchor="ctr"/>
          <a:lstStyle/>
          <a:p>
            <a:pPr>
              <a:lnSpc>
                <a:spcPct val="100000"/>
              </a:lnSpc>
            </a:pPr>
            <a:r>
              <a:rPr lang="en-US" sz="2400" b="1" dirty="0">
                <a:solidFill>
                  <a:srgbClr val="2C2C2C"/>
                </a:solidFill>
              </a:rPr>
              <a:t>科学家精神 薪火相传</a:t>
            </a:r>
            <a:endParaRPr lang="en-US" sz="1600" dirty="0"/>
          </a:p>
        </p:txBody>
      </p:sp>
      <p:sp>
        <p:nvSpPr>
          <p:cNvPr id="24" name="Text 22"/>
          <p:cNvSpPr/>
          <p:nvPr/>
        </p:nvSpPr>
        <p:spPr>
          <a:xfrm>
            <a:off x="6350000" y="6400800"/>
            <a:ext cx="5080000" cy="254000"/>
          </a:xfrm>
          <a:prstGeom prst="rect">
            <a:avLst/>
          </a:prstGeom>
          <a:noFill/>
          <a:ln/>
        </p:spPr>
        <p:txBody>
          <a:bodyPr wrap="none" lIns="0" tIns="0" rIns="0" bIns="0" rtlCol="0" anchor="ctr"/>
          <a:lstStyle/>
          <a:p>
            <a:pPr>
              <a:lnSpc>
                <a:spcPct val="100000"/>
              </a:lnSpc>
            </a:pPr>
            <a:r>
              <a:rPr lang="en-US" sz="2400" dirty="0">
                <a:solidFill>
                  <a:srgbClr val="999999"/>
                </a:solidFill>
              </a:rPr>
              <a:t>爱国 · 创新 · 奉献 · 协同 · 育人</a:t>
            </a:r>
            <a:endParaRPr lang="en-US" sz="1600" dirty="0"/>
          </a:p>
        </p:txBody>
      </p:sp>
      <p:sp>
        <p:nvSpPr>
          <p:cNvPr id="25" name="Text 23"/>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2400" dirty="0">
                <a:solidFill>
                  <a:srgbClr val="8B1A1A"/>
                </a:solidFill>
              </a:rPr>
              <a:t>3</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5080000" y="0"/>
            <a:ext cx="11176000" cy="9144000"/>
          </a:xfrm>
          <a:prstGeom prst="rect">
            <a:avLst/>
          </a:prstGeom>
          <a:gradFill flip="none" rotWithShape="1">
            <a:gsLst>
              <a:gs pos="0">
                <a:srgbClr val="8B1A1A"/>
              </a:gs>
              <a:gs pos="100000">
                <a:srgbClr val="5A0A0A"/>
              </a:gs>
            </a:gsLst>
            <a:lin ang="5400000" scaled="1"/>
          </a:gradFill>
          <a:ln/>
        </p:spPr>
        <p:txBody>
          <a:bodyPr/>
          <a:lstStyle/>
          <a:p>
            <a:endParaRPr/>
          </a:p>
        </p:txBody>
      </p:sp>
      <p:sp>
        <p:nvSpPr>
          <p:cNvPr id="3" name="Text 1"/>
          <p:cNvSpPr/>
          <p:nvPr/>
        </p:nvSpPr>
        <p:spPr>
          <a:xfrm>
            <a:off x="508000" y="2794000"/>
            <a:ext cx="4318000" cy="2540000"/>
          </a:xfrm>
          <a:prstGeom prst="rect">
            <a:avLst/>
          </a:prstGeom>
          <a:noFill/>
          <a:ln/>
        </p:spPr>
        <p:txBody>
          <a:bodyPr wrap="none" lIns="0" tIns="0" rIns="0" bIns="0" rtlCol="0" anchor="ctr"/>
          <a:lstStyle/>
          <a:p>
            <a:pPr>
              <a:lnSpc>
                <a:spcPct val="100000"/>
              </a:lnSpc>
            </a:pPr>
            <a:r>
              <a:rPr lang="en-US" sz="14000" b="1" dirty="0">
                <a:solidFill>
                  <a:srgbClr val="B8860B"/>
                </a:solidFill>
                <a:latin typeface="黑体" pitchFamily="34" charset="0"/>
                <a:ea typeface="黑体"/>
              </a:rPr>
              <a:t>01</a:t>
            </a:r>
            <a:endParaRPr lang="en-US" sz="1600" dirty="0"/>
          </a:p>
        </p:txBody>
      </p:sp>
      <p:sp>
        <p:nvSpPr>
          <p:cNvPr id="4" name="Shape 2"/>
          <p:cNvSpPr/>
          <p:nvPr/>
        </p:nvSpPr>
        <p:spPr>
          <a:xfrm>
            <a:off x="508000" y="5588000"/>
            <a:ext cx="4064000" cy="0"/>
          </a:xfrm>
          <a:prstGeom prst="straightConnector1">
            <a:avLst/>
          </a:prstGeom>
          <a:noFill/>
          <a:ln w="38100">
            <a:solidFill>
              <a:srgbClr val="B8860B"/>
            </a:solidFill>
            <a:prstDash val="solid"/>
            <a:headEnd type="none"/>
            <a:tailEnd type="none"/>
          </a:ln>
        </p:spPr>
        <p:txBody>
          <a:bodyPr/>
          <a:lstStyle/>
          <a:p>
            <a:endParaRPr/>
          </a:p>
        </p:txBody>
      </p:sp>
      <p:sp>
        <p:nvSpPr>
          <p:cNvPr id="5" name="Text 3"/>
          <p:cNvSpPr/>
          <p:nvPr/>
        </p:nvSpPr>
        <p:spPr>
          <a:xfrm>
            <a:off x="5842000" y="3302000"/>
            <a:ext cx="9144000" cy="762000"/>
          </a:xfrm>
          <a:prstGeom prst="rect">
            <a:avLst/>
          </a:prstGeom>
          <a:noFill/>
          <a:ln/>
        </p:spPr>
        <p:txBody>
          <a:bodyPr wrap="none" lIns="0" tIns="0" rIns="0" bIns="0" rtlCol="0" anchor="ctr"/>
          <a:lstStyle/>
          <a:p>
            <a:pPr>
              <a:lnSpc>
                <a:spcPct val="100000"/>
              </a:lnSpc>
            </a:pPr>
            <a:r>
              <a:rPr lang="en-US" sz="3800" b="1" dirty="0">
                <a:solidFill>
                  <a:srgbClr val="FFFFFF"/>
                </a:solidFill>
                <a:latin typeface="黑体" pitchFamily="34" charset="0"/>
                <a:ea typeface="黑体"/>
              </a:rPr>
              <a:t>学思并进 立志报国</a:t>
            </a:r>
            <a:endParaRPr lang="en-US" sz="1600" dirty="0"/>
          </a:p>
        </p:txBody>
      </p:sp>
      <p:sp>
        <p:nvSpPr>
          <p:cNvPr id="6" name="Text 4"/>
          <p:cNvSpPr/>
          <p:nvPr/>
        </p:nvSpPr>
        <p:spPr>
          <a:xfrm>
            <a:off x="5842000" y="4191000"/>
            <a:ext cx="8890000" cy="355600"/>
          </a:xfrm>
          <a:prstGeom prst="rect">
            <a:avLst/>
          </a:prstGeom>
          <a:noFill/>
          <a:ln/>
        </p:spPr>
        <p:txBody>
          <a:bodyPr wrap="none" lIns="0" tIns="0" rIns="0" bIns="0" rtlCol="0" anchor="ctr"/>
          <a:lstStyle/>
          <a:p>
            <a:pPr>
              <a:lnSpc>
                <a:spcPct val="100000"/>
              </a:lnSpc>
            </a:pPr>
            <a:endParaRPr lang="en-US" sz="1600" dirty="0"/>
          </a:p>
        </p:txBody>
      </p:sp>
      <p:sp>
        <p:nvSpPr>
          <p:cNvPr id="7" name="Text 5"/>
          <p:cNvSpPr/>
          <p:nvPr/>
        </p:nvSpPr>
        <p:spPr>
          <a:xfrm>
            <a:off x="5842000" y="50800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1.1　童年启蒙与家庭教育</a:t>
            </a:r>
            <a:endParaRPr lang="en-US" sz="1600" dirty="0"/>
          </a:p>
        </p:txBody>
      </p:sp>
      <p:sp>
        <p:nvSpPr>
          <p:cNvPr id="8" name="Text 6"/>
          <p:cNvSpPr/>
          <p:nvPr/>
        </p:nvSpPr>
        <p:spPr>
          <a:xfrm>
            <a:off x="5842000" y="55118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1.2　求学之路：从北师大附小到清华庚款</a:t>
            </a:r>
            <a:endParaRPr lang="en-US" sz="1600" dirty="0"/>
          </a:p>
        </p:txBody>
      </p:sp>
      <p:sp>
        <p:nvSpPr>
          <p:cNvPr id="9" name="Text 7"/>
          <p:cNvSpPr/>
          <p:nvPr/>
        </p:nvSpPr>
        <p:spPr>
          <a:xfrm>
            <a:off x="5842000" y="59436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1.3　留学美国：从麻省理工到加州理工</a:t>
            </a:r>
            <a:endParaRPr lang="en-US" sz="1600" dirty="0"/>
          </a:p>
        </p:txBody>
      </p:sp>
      <p:sp>
        <p:nvSpPr>
          <p:cNvPr id="10" name="Shape 8"/>
          <p:cNvSpPr/>
          <p:nvPr/>
        </p:nvSpPr>
        <p:spPr>
          <a:xfrm>
            <a:off x="5842000" y="31496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11" name="Text 9"/>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2400" dirty="0">
                <a:solidFill>
                  <a:srgbClr val="FFFFFF">
                    <a:alpha val="66667"/>
                  </a:srgbClr>
                </a:solidFill>
              </a:rPr>
              <a:t>4</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童年启蒙与家庭教育</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1524000" y="1778000"/>
            <a:ext cx="0" cy="6604000"/>
          </a:xfrm>
          <a:prstGeom prst="straightConnector1">
            <a:avLst/>
          </a:prstGeom>
          <a:noFill/>
          <a:ln w="25400">
            <a:solidFill>
              <a:srgbClr val="B8860B"/>
            </a:solidFill>
            <a:prstDash val="solid"/>
            <a:headEnd type="none"/>
            <a:tailEnd type="none"/>
          </a:ln>
        </p:spPr>
        <p:txBody>
          <a:bodyPr/>
          <a:lstStyle/>
          <a:p>
            <a:endParaRPr/>
          </a:p>
        </p:txBody>
      </p:sp>
      <p:sp>
        <p:nvSpPr>
          <p:cNvPr id="17" name="Shape 15"/>
          <p:cNvSpPr/>
          <p:nvPr/>
        </p:nvSpPr>
        <p:spPr>
          <a:xfrm>
            <a:off x="1422400" y="1905000"/>
            <a:ext cx="203200" cy="203200"/>
          </a:xfrm>
          <a:prstGeom prst="ellipse">
            <a:avLst/>
          </a:prstGeom>
          <a:solidFill>
            <a:srgbClr val="8B1A1A"/>
          </a:solidFill>
          <a:ln/>
        </p:spPr>
        <p:txBody>
          <a:bodyPr/>
          <a:lstStyle/>
          <a:p>
            <a:endParaRPr/>
          </a:p>
        </p:txBody>
      </p:sp>
      <p:sp>
        <p:nvSpPr>
          <p:cNvPr id="18" name="Text 16"/>
          <p:cNvSpPr/>
          <p:nvPr/>
        </p:nvSpPr>
        <p:spPr>
          <a:xfrm>
            <a:off x="1905000" y="1778000"/>
            <a:ext cx="2540000" cy="355600"/>
          </a:xfrm>
          <a:prstGeom prst="rect">
            <a:avLst/>
          </a:prstGeom>
          <a:noFill/>
          <a:ln/>
        </p:spPr>
        <p:txBody>
          <a:bodyPr wrap="none" lIns="0" tIns="0" rIns="0" bIns="0" rtlCol="0" anchor="ctr"/>
          <a:lstStyle/>
          <a:p>
            <a:pPr>
              <a:lnSpc>
                <a:spcPct val="100000"/>
              </a:lnSpc>
            </a:pPr>
            <a:r>
              <a:rPr lang="en-US" sz="2400" b="1" dirty="0">
                <a:solidFill>
                  <a:srgbClr val="8B1A1A"/>
                </a:solidFill>
              </a:rPr>
              <a:t>1911年</a:t>
            </a:r>
            <a:endParaRPr lang="en-US" sz="1600" dirty="0"/>
          </a:p>
        </p:txBody>
      </p:sp>
      <p:sp>
        <p:nvSpPr>
          <p:cNvPr id="19" name="Text 17"/>
          <p:cNvSpPr/>
          <p:nvPr/>
        </p:nvSpPr>
        <p:spPr>
          <a:xfrm>
            <a:off x="1905000" y="2388704"/>
            <a:ext cx="5842000" cy="1016000"/>
          </a:xfrm>
          <a:prstGeom prst="rect">
            <a:avLst/>
          </a:prstGeom>
          <a:noFill/>
          <a:ln/>
        </p:spPr>
        <p:txBody>
          <a:bodyPr wrap="square" lIns="0" tIns="0" rIns="0" bIns="0" rtlCol="0" anchor="ctr"/>
          <a:lstStyle/>
          <a:p>
            <a:pPr>
              <a:lnSpc>
                <a:spcPct val="160000"/>
              </a:lnSpc>
            </a:pPr>
            <a:r>
              <a:rPr lang="en-US" sz="2400" dirty="0">
                <a:solidFill>
                  <a:srgbClr val="2C2C2C"/>
                </a:solidFill>
              </a:rPr>
              <a:t>生于上海，祖籍浙江杭州。父亲钱家治是倡导近代教育的教育行政官员，母亲章兰娟出身富贾名家、知书达理。</a:t>
            </a:r>
            <a:endParaRPr lang="en-US" sz="1600" dirty="0"/>
          </a:p>
        </p:txBody>
      </p:sp>
      <p:sp>
        <p:nvSpPr>
          <p:cNvPr id="20" name="Shape 18"/>
          <p:cNvSpPr/>
          <p:nvPr/>
        </p:nvSpPr>
        <p:spPr>
          <a:xfrm>
            <a:off x="1422400" y="3556000"/>
            <a:ext cx="203200" cy="203200"/>
          </a:xfrm>
          <a:prstGeom prst="ellipse">
            <a:avLst/>
          </a:prstGeom>
          <a:solidFill>
            <a:srgbClr val="8B1A1A"/>
          </a:solidFill>
          <a:ln/>
        </p:spPr>
        <p:txBody>
          <a:bodyPr/>
          <a:lstStyle/>
          <a:p>
            <a:endParaRPr/>
          </a:p>
        </p:txBody>
      </p:sp>
      <p:sp>
        <p:nvSpPr>
          <p:cNvPr id="21" name="Text 19"/>
          <p:cNvSpPr/>
          <p:nvPr/>
        </p:nvSpPr>
        <p:spPr>
          <a:xfrm>
            <a:off x="1905000" y="3938104"/>
            <a:ext cx="2540000" cy="355600"/>
          </a:xfrm>
          <a:prstGeom prst="rect">
            <a:avLst/>
          </a:prstGeom>
          <a:noFill/>
          <a:ln/>
        </p:spPr>
        <p:txBody>
          <a:bodyPr wrap="none" lIns="0" tIns="0" rIns="0" bIns="0" rtlCol="0" anchor="ctr"/>
          <a:lstStyle/>
          <a:p>
            <a:pPr>
              <a:lnSpc>
                <a:spcPct val="100000"/>
              </a:lnSpc>
            </a:pPr>
            <a:r>
              <a:rPr lang="en-US" sz="2400" b="1" dirty="0">
                <a:solidFill>
                  <a:srgbClr val="8B1A1A"/>
                </a:solidFill>
              </a:rPr>
              <a:t>1917年</a:t>
            </a:r>
            <a:endParaRPr lang="en-US" sz="1600" dirty="0"/>
          </a:p>
        </p:txBody>
      </p:sp>
      <p:sp>
        <p:nvSpPr>
          <p:cNvPr id="22" name="Text 20"/>
          <p:cNvSpPr/>
          <p:nvPr/>
        </p:nvSpPr>
        <p:spPr>
          <a:xfrm>
            <a:off x="1905000" y="4319104"/>
            <a:ext cx="5842000" cy="1016000"/>
          </a:xfrm>
          <a:prstGeom prst="rect">
            <a:avLst/>
          </a:prstGeom>
          <a:noFill/>
          <a:ln/>
        </p:spPr>
        <p:txBody>
          <a:bodyPr wrap="square" lIns="0" tIns="0" rIns="0" bIns="0" rtlCol="0" anchor="ctr"/>
          <a:lstStyle/>
          <a:p>
            <a:pPr>
              <a:lnSpc>
                <a:spcPct val="160000"/>
              </a:lnSpc>
            </a:pPr>
            <a:r>
              <a:rPr lang="en-US" sz="2400" dirty="0">
                <a:solidFill>
                  <a:srgbClr val="2C2C2C"/>
                </a:solidFill>
              </a:rPr>
              <a:t>进入北师大附小学习，展现出过人的数学天赋，从小接受良好的启蒙教育。</a:t>
            </a:r>
            <a:endParaRPr lang="en-US" sz="1600" dirty="0"/>
          </a:p>
        </p:txBody>
      </p:sp>
      <p:sp>
        <p:nvSpPr>
          <p:cNvPr id="23" name="Shape 21"/>
          <p:cNvSpPr/>
          <p:nvPr/>
        </p:nvSpPr>
        <p:spPr>
          <a:xfrm>
            <a:off x="1422400" y="5207000"/>
            <a:ext cx="203200" cy="203200"/>
          </a:xfrm>
          <a:prstGeom prst="ellipse">
            <a:avLst/>
          </a:prstGeom>
          <a:solidFill>
            <a:srgbClr val="8B1A1A"/>
          </a:solidFill>
          <a:ln/>
        </p:spPr>
        <p:txBody>
          <a:bodyPr/>
          <a:lstStyle/>
          <a:p>
            <a:endParaRPr/>
          </a:p>
        </p:txBody>
      </p:sp>
      <p:sp>
        <p:nvSpPr>
          <p:cNvPr id="24" name="Text 22"/>
          <p:cNvSpPr/>
          <p:nvPr/>
        </p:nvSpPr>
        <p:spPr>
          <a:xfrm>
            <a:off x="1905000" y="5589104"/>
            <a:ext cx="2540000" cy="355600"/>
          </a:xfrm>
          <a:prstGeom prst="rect">
            <a:avLst/>
          </a:prstGeom>
          <a:noFill/>
          <a:ln/>
        </p:spPr>
        <p:txBody>
          <a:bodyPr wrap="none" lIns="0" tIns="0" rIns="0" bIns="0" rtlCol="0" anchor="ctr"/>
          <a:lstStyle/>
          <a:p>
            <a:pPr>
              <a:lnSpc>
                <a:spcPct val="100000"/>
              </a:lnSpc>
            </a:pPr>
            <a:r>
              <a:rPr lang="en-US" sz="2400" b="1" dirty="0">
                <a:solidFill>
                  <a:srgbClr val="8B1A1A"/>
                </a:solidFill>
              </a:rPr>
              <a:t>1923年</a:t>
            </a:r>
            <a:endParaRPr lang="en-US" sz="1600" dirty="0"/>
          </a:p>
        </p:txBody>
      </p:sp>
      <p:sp>
        <p:nvSpPr>
          <p:cNvPr id="25" name="Text 23"/>
          <p:cNvSpPr/>
          <p:nvPr/>
        </p:nvSpPr>
        <p:spPr>
          <a:xfrm>
            <a:off x="1905000" y="5970104"/>
            <a:ext cx="5842000" cy="1016000"/>
          </a:xfrm>
          <a:prstGeom prst="rect">
            <a:avLst/>
          </a:prstGeom>
          <a:noFill/>
          <a:ln/>
        </p:spPr>
        <p:txBody>
          <a:bodyPr wrap="square" lIns="0" tIns="0" rIns="0" bIns="0" rtlCol="0" anchor="ctr"/>
          <a:lstStyle/>
          <a:p>
            <a:pPr>
              <a:lnSpc>
                <a:spcPct val="160000"/>
              </a:lnSpc>
            </a:pPr>
            <a:r>
              <a:rPr lang="en-US" sz="2400" dirty="0">
                <a:solidFill>
                  <a:srgbClr val="2C2C2C"/>
                </a:solidFill>
              </a:rPr>
              <a:t>进入北师大附中，校长林砺儒倡导"全人格教育"，为钱学森打下坚实的中学基础。</a:t>
            </a:r>
            <a:endParaRPr lang="en-US" sz="1600" dirty="0"/>
          </a:p>
        </p:txBody>
      </p:sp>
      <p:sp>
        <p:nvSpPr>
          <p:cNvPr id="26" name="Shape 24"/>
          <p:cNvSpPr/>
          <p:nvPr/>
        </p:nvSpPr>
        <p:spPr>
          <a:xfrm>
            <a:off x="8382000" y="1778000"/>
            <a:ext cx="7239000" cy="2540000"/>
          </a:xfrm>
          <a:prstGeom prst="rect">
            <a:avLst/>
          </a:prstGeom>
          <a:solidFill>
            <a:srgbClr val="FFF5F5"/>
          </a:solidFill>
          <a:ln w="12700">
            <a:solidFill>
              <a:srgbClr val="8B1A1A">
                <a:alpha val="25098"/>
              </a:srgbClr>
            </a:solidFill>
            <a:prstDash val="solid"/>
          </a:ln>
        </p:spPr>
        <p:txBody>
          <a:bodyPr/>
          <a:lstStyle/>
          <a:p>
            <a:endParaRPr/>
          </a:p>
        </p:txBody>
      </p:sp>
      <p:sp>
        <p:nvSpPr>
          <p:cNvPr id="27" name="Shape 25"/>
          <p:cNvSpPr/>
          <p:nvPr/>
        </p:nvSpPr>
        <p:spPr>
          <a:xfrm>
            <a:off x="8785225" y="2032000"/>
            <a:ext cx="311150" cy="355600"/>
          </a:xfrm>
          <a:custGeom>
            <a:avLst/>
            <a:gdLst/>
            <a:ahLst/>
            <a:cxnLst/>
            <a:rect l="l" t="t" r="r" b="b"/>
            <a:pathLst>
              <a:path w="311150" h="355600">
                <a:moveTo>
                  <a:pt x="0" y="150019"/>
                </a:moveTo>
                <a:cubicBezTo>
                  <a:pt x="0" y="103971"/>
                  <a:pt x="37296" y="66675"/>
                  <a:pt x="83344" y="66675"/>
                </a:cubicBezTo>
                <a:lnTo>
                  <a:pt x="88900" y="66675"/>
                </a:lnTo>
                <a:cubicBezTo>
                  <a:pt x="101193" y="66675"/>
                  <a:pt x="111125" y="76607"/>
                  <a:pt x="111125" y="88900"/>
                </a:cubicBezTo>
                <a:cubicBezTo>
                  <a:pt x="111125" y="101193"/>
                  <a:pt x="101193" y="111125"/>
                  <a:pt x="88900" y="111125"/>
                </a:cubicBezTo>
                <a:lnTo>
                  <a:pt x="83344" y="111125"/>
                </a:lnTo>
                <a:cubicBezTo>
                  <a:pt x="61883" y="111125"/>
                  <a:pt x="44450" y="128558"/>
                  <a:pt x="44450" y="150019"/>
                </a:cubicBezTo>
                <a:lnTo>
                  <a:pt x="44450" y="155575"/>
                </a:lnTo>
                <a:lnTo>
                  <a:pt x="88900" y="155575"/>
                </a:lnTo>
                <a:cubicBezTo>
                  <a:pt x="113417" y="155575"/>
                  <a:pt x="133350" y="175508"/>
                  <a:pt x="133350" y="200025"/>
                </a:cubicBezTo>
                <a:lnTo>
                  <a:pt x="133350" y="244475"/>
                </a:lnTo>
                <a:cubicBezTo>
                  <a:pt x="133350" y="268992"/>
                  <a:pt x="113417" y="288925"/>
                  <a:pt x="88900" y="288925"/>
                </a:cubicBezTo>
                <a:lnTo>
                  <a:pt x="44450" y="288925"/>
                </a:lnTo>
                <a:cubicBezTo>
                  <a:pt x="19933" y="288925"/>
                  <a:pt x="0" y="268992"/>
                  <a:pt x="0" y="244475"/>
                </a:cubicBezTo>
                <a:lnTo>
                  <a:pt x="0" y="150019"/>
                </a:lnTo>
                <a:close/>
                <a:moveTo>
                  <a:pt x="177800" y="150019"/>
                </a:moveTo>
                <a:cubicBezTo>
                  <a:pt x="177800" y="103971"/>
                  <a:pt x="215096" y="66675"/>
                  <a:pt x="261144" y="66675"/>
                </a:cubicBezTo>
                <a:lnTo>
                  <a:pt x="266700" y="66675"/>
                </a:lnTo>
                <a:cubicBezTo>
                  <a:pt x="278993" y="66675"/>
                  <a:pt x="288925" y="76607"/>
                  <a:pt x="288925" y="88900"/>
                </a:cubicBezTo>
                <a:cubicBezTo>
                  <a:pt x="288925" y="101193"/>
                  <a:pt x="278993" y="111125"/>
                  <a:pt x="266700" y="111125"/>
                </a:cubicBezTo>
                <a:lnTo>
                  <a:pt x="261144" y="111125"/>
                </a:lnTo>
                <a:cubicBezTo>
                  <a:pt x="239683" y="111125"/>
                  <a:pt x="222250" y="128558"/>
                  <a:pt x="222250" y="150019"/>
                </a:cubicBezTo>
                <a:lnTo>
                  <a:pt x="222250" y="155575"/>
                </a:lnTo>
                <a:lnTo>
                  <a:pt x="266700" y="155575"/>
                </a:lnTo>
                <a:cubicBezTo>
                  <a:pt x="291217" y="155575"/>
                  <a:pt x="311150" y="175508"/>
                  <a:pt x="311150" y="200025"/>
                </a:cubicBezTo>
                <a:lnTo>
                  <a:pt x="311150" y="244475"/>
                </a:lnTo>
                <a:cubicBezTo>
                  <a:pt x="311150" y="268992"/>
                  <a:pt x="291217" y="288925"/>
                  <a:pt x="266700" y="288925"/>
                </a:cubicBezTo>
                <a:lnTo>
                  <a:pt x="222250" y="288925"/>
                </a:lnTo>
                <a:cubicBezTo>
                  <a:pt x="197733" y="288925"/>
                  <a:pt x="177800" y="268992"/>
                  <a:pt x="177800" y="244475"/>
                </a:cubicBezTo>
                <a:lnTo>
                  <a:pt x="177800" y="150019"/>
                </a:lnTo>
                <a:close/>
              </a:path>
            </a:pathLst>
          </a:custGeom>
          <a:solidFill>
            <a:srgbClr val="B8860B"/>
          </a:solidFill>
          <a:ln/>
        </p:spPr>
        <p:txBody>
          <a:bodyPr/>
          <a:lstStyle/>
          <a:p>
            <a:endParaRPr/>
          </a:p>
        </p:txBody>
      </p:sp>
      <p:sp>
        <p:nvSpPr>
          <p:cNvPr id="28" name="Text 26"/>
          <p:cNvSpPr/>
          <p:nvPr/>
        </p:nvSpPr>
        <p:spPr>
          <a:xfrm>
            <a:off x="8763000" y="2540000"/>
            <a:ext cx="6477000" cy="1524000"/>
          </a:xfrm>
          <a:prstGeom prst="rect">
            <a:avLst/>
          </a:prstGeom>
          <a:noFill/>
          <a:ln/>
        </p:spPr>
        <p:txBody>
          <a:bodyPr wrap="square" lIns="0" tIns="0" rIns="0" bIns="0" rtlCol="0" anchor="ctr"/>
          <a:lstStyle/>
          <a:p>
            <a:pPr>
              <a:lnSpc>
                <a:spcPct val="170000"/>
              </a:lnSpc>
            </a:pPr>
            <a:r>
              <a:rPr lang="en-US" sz="2400" dirty="0">
                <a:solidFill>
                  <a:srgbClr val="2C2C2C"/>
                </a:solidFill>
              </a:rPr>
              <a:t>良好的家庭教育和学校教育，为钱学森日后的成才奠定了坚实基础。他从小立志科学报国，将个人命运与国家命运紧密相连。</a:t>
            </a:r>
            <a:endParaRPr lang="en-US" sz="1600" dirty="0"/>
          </a:p>
        </p:txBody>
      </p:sp>
      <p:sp>
        <p:nvSpPr>
          <p:cNvPr id="29" name="Text 27"/>
          <p:cNvSpPr/>
          <p:nvPr/>
        </p:nvSpPr>
        <p:spPr>
          <a:xfrm>
            <a:off x="8382000" y="4699000"/>
            <a:ext cx="2540000" cy="355600"/>
          </a:xfrm>
          <a:prstGeom prst="rect">
            <a:avLst/>
          </a:prstGeom>
          <a:noFill/>
          <a:ln/>
        </p:spPr>
        <p:txBody>
          <a:bodyPr wrap="none" lIns="0" tIns="0" rIns="0" bIns="0" rtlCol="0" anchor="ctr"/>
          <a:lstStyle/>
          <a:p>
            <a:pPr>
              <a:lnSpc>
                <a:spcPct val="100000"/>
              </a:lnSpc>
            </a:pPr>
            <a:r>
              <a:rPr lang="en-US" sz="2400" b="1" dirty="0">
                <a:solidFill>
                  <a:srgbClr val="8B1A1A"/>
                </a:solidFill>
              </a:rPr>
              <a:t>成长关键词</a:t>
            </a:r>
            <a:endParaRPr lang="en-US" sz="1600" dirty="0"/>
          </a:p>
        </p:txBody>
      </p:sp>
      <p:sp>
        <p:nvSpPr>
          <p:cNvPr id="30" name="Shape 28"/>
          <p:cNvSpPr/>
          <p:nvPr/>
        </p:nvSpPr>
        <p:spPr>
          <a:xfrm>
            <a:off x="8382000" y="5207000"/>
            <a:ext cx="2159000" cy="635000"/>
          </a:xfrm>
          <a:prstGeom prst="rect">
            <a:avLst/>
          </a:prstGeom>
          <a:solidFill>
            <a:srgbClr val="8B1A1A"/>
          </a:solidFill>
          <a:ln/>
        </p:spPr>
        <p:txBody>
          <a:bodyPr/>
          <a:lstStyle/>
          <a:p>
            <a:endParaRPr/>
          </a:p>
        </p:txBody>
      </p:sp>
      <p:sp>
        <p:nvSpPr>
          <p:cNvPr id="31" name="Text 29"/>
          <p:cNvSpPr/>
          <p:nvPr/>
        </p:nvSpPr>
        <p:spPr>
          <a:xfrm>
            <a:off x="8382000" y="5207000"/>
            <a:ext cx="2159000" cy="635000"/>
          </a:xfrm>
          <a:prstGeom prst="rect">
            <a:avLst/>
          </a:prstGeom>
          <a:noFill/>
          <a:ln/>
        </p:spPr>
        <p:txBody>
          <a:bodyPr wrap="none" lIns="0" tIns="0" rIns="0" bIns="0" rtlCol="0" anchor="ctr"/>
          <a:lstStyle/>
          <a:p>
            <a:pPr algn="ctr">
              <a:lnSpc>
                <a:spcPct val="100000"/>
              </a:lnSpc>
            </a:pPr>
            <a:r>
              <a:rPr lang="en-US" sz="2400" dirty="0">
                <a:solidFill>
                  <a:srgbClr val="FFFFFF"/>
                </a:solidFill>
              </a:rPr>
              <a:t>家庭教育</a:t>
            </a:r>
            <a:endParaRPr lang="en-US" sz="1600" dirty="0"/>
          </a:p>
        </p:txBody>
      </p:sp>
      <p:sp>
        <p:nvSpPr>
          <p:cNvPr id="32" name="Shape 30"/>
          <p:cNvSpPr/>
          <p:nvPr/>
        </p:nvSpPr>
        <p:spPr>
          <a:xfrm>
            <a:off x="10795000" y="5207000"/>
            <a:ext cx="2159000" cy="635000"/>
          </a:xfrm>
          <a:prstGeom prst="rect">
            <a:avLst/>
          </a:prstGeom>
          <a:solidFill>
            <a:srgbClr val="B8860B"/>
          </a:solidFill>
          <a:ln/>
        </p:spPr>
        <p:txBody>
          <a:bodyPr/>
          <a:lstStyle/>
          <a:p>
            <a:endParaRPr/>
          </a:p>
        </p:txBody>
      </p:sp>
      <p:sp>
        <p:nvSpPr>
          <p:cNvPr id="33" name="Text 31"/>
          <p:cNvSpPr/>
          <p:nvPr/>
        </p:nvSpPr>
        <p:spPr>
          <a:xfrm>
            <a:off x="10795000" y="5207000"/>
            <a:ext cx="2159000" cy="635000"/>
          </a:xfrm>
          <a:prstGeom prst="rect">
            <a:avLst/>
          </a:prstGeom>
          <a:noFill/>
          <a:ln/>
        </p:spPr>
        <p:txBody>
          <a:bodyPr wrap="none" lIns="0" tIns="0" rIns="0" bIns="0" rtlCol="0" anchor="ctr"/>
          <a:lstStyle/>
          <a:p>
            <a:pPr algn="ctr">
              <a:lnSpc>
                <a:spcPct val="100000"/>
              </a:lnSpc>
            </a:pPr>
            <a:r>
              <a:rPr lang="en-US" sz="2400" dirty="0">
                <a:solidFill>
                  <a:srgbClr val="FFFFFF"/>
                </a:solidFill>
              </a:rPr>
              <a:t>数学天赋</a:t>
            </a:r>
            <a:endParaRPr lang="en-US" sz="1600" dirty="0"/>
          </a:p>
        </p:txBody>
      </p:sp>
      <p:sp>
        <p:nvSpPr>
          <p:cNvPr id="34" name="Shape 32"/>
          <p:cNvSpPr/>
          <p:nvPr/>
        </p:nvSpPr>
        <p:spPr>
          <a:xfrm>
            <a:off x="13208000" y="5207000"/>
            <a:ext cx="2413000" cy="635000"/>
          </a:xfrm>
          <a:prstGeom prst="rect">
            <a:avLst/>
          </a:prstGeom>
          <a:solidFill>
            <a:srgbClr val="6D0E0E"/>
          </a:solidFill>
          <a:ln/>
        </p:spPr>
        <p:txBody>
          <a:bodyPr/>
          <a:lstStyle/>
          <a:p>
            <a:endParaRPr/>
          </a:p>
        </p:txBody>
      </p:sp>
      <p:sp>
        <p:nvSpPr>
          <p:cNvPr id="35" name="Text 33"/>
          <p:cNvSpPr/>
          <p:nvPr/>
        </p:nvSpPr>
        <p:spPr>
          <a:xfrm>
            <a:off x="13208000" y="5207000"/>
            <a:ext cx="2413000" cy="635000"/>
          </a:xfrm>
          <a:prstGeom prst="rect">
            <a:avLst/>
          </a:prstGeom>
          <a:noFill/>
          <a:ln/>
        </p:spPr>
        <p:txBody>
          <a:bodyPr wrap="none" lIns="0" tIns="0" rIns="0" bIns="0" rtlCol="0" anchor="ctr"/>
          <a:lstStyle/>
          <a:p>
            <a:pPr algn="ctr">
              <a:lnSpc>
                <a:spcPct val="100000"/>
              </a:lnSpc>
            </a:pPr>
            <a:r>
              <a:rPr lang="en-US" sz="2400" dirty="0">
                <a:solidFill>
                  <a:srgbClr val="FFFFFF"/>
                </a:solidFill>
              </a:rPr>
              <a:t>全人格教育</a:t>
            </a:r>
            <a:endParaRPr lang="en-US" sz="1600" dirty="0"/>
          </a:p>
        </p:txBody>
      </p:sp>
      <p:sp>
        <p:nvSpPr>
          <p:cNvPr id="36" name="Shape 34"/>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求学之路：从北师大附小到清华庚款</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7620000" cy="5334000"/>
          </a:xfrm>
          <a:prstGeom prst="rect">
            <a:avLst/>
          </a:prstGeom>
          <a:solidFill>
            <a:srgbClr val="FFF5F5"/>
          </a:solidFill>
          <a:ln w="12700">
            <a:solidFill>
              <a:srgbClr val="8B1A1A">
                <a:alpha val="25098"/>
              </a:srgbClr>
            </a:solidFill>
            <a:prstDash val="solid"/>
          </a:ln>
        </p:spPr>
        <p:txBody>
          <a:bodyPr/>
          <a:lstStyle/>
          <a:p>
            <a:endParaRPr/>
          </a:p>
        </p:txBody>
      </p:sp>
      <p:sp>
        <p:nvSpPr>
          <p:cNvPr id="17" name="Text 15"/>
          <p:cNvSpPr/>
          <p:nvPr/>
        </p:nvSpPr>
        <p:spPr>
          <a:xfrm>
            <a:off x="889000" y="1752600"/>
            <a:ext cx="6858000" cy="381000"/>
          </a:xfrm>
          <a:prstGeom prst="rect">
            <a:avLst/>
          </a:prstGeom>
          <a:noFill/>
          <a:ln/>
        </p:spPr>
        <p:txBody>
          <a:bodyPr wrap="none" lIns="0" tIns="0" rIns="0" bIns="0" rtlCol="0" anchor="ctr"/>
          <a:lstStyle/>
          <a:p>
            <a:pPr>
              <a:lnSpc>
                <a:spcPct val="100000"/>
              </a:lnSpc>
            </a:pPr>
            <a:r>
              <a:rPr lang="en-US" sz="2400" b="1" dirty="0">
                <a:solidFill>
                  <a:srgbClr val="8B1A1A"/>
                </a:solidFill>
              </a:rPr>
              <a:t>求学经历</a:t>
            </a:r>
            <a:endParaRPr lang="en-US" sz="1600" dirty="0"/>
          </a:p>
        </p:txBody>
      </p:sp>
      <p:sp>
        <p:nvSpPr>
          <p:cNvPr id="18" name="Text 16"/>
          <p:cNvSpPr/>
          <p:nvPr/>
        </p:nvSpPr>
        <p:spPr>
          <a:xfrm>
            <a:off x="889000" y="2286000"/>
            <a:ext cx="7366000" cy="4318000"/>
          </a:xfrm>
          <a:prstGeom prst="rect">
            <a:avLst/>
          </a:prstGeom>
          <a:noFill/>
          <a:ln/>
        </p:spPr>
        <p:txBody>
          <a:bodyPr wrap="square" lIns="0" tIns="0" rIns="0" bIns="0" rtlCol="0" anchor="ctr"/>
          <a:lstStyle/>
          <a:p>
            <a:pPr>
              <a:lnSpc>
                <a:spcPct val="170000"/>
              </a:lnSpc>
            </a:pPr>
            <a:r>
              <a:rPr lang="en-US" sz="2400" b="1" dirty="0">
                <a:solidFill>
                  <a:srgbClr val="2C2C2C"/>
                </a:solidFill>
              </a:rPr>
              <a:t>1929年</a:t>
            </a:r>
            <a:r>
              <a:rPr lang="en-US" sz="2400" dirty="0">
                <a:solidFill>
                  <a:srgbClr val="2C2C2C"/>
                </a:solidFill>
              </a:rPr>
              <a:t>，考入国立交通大学机械工程学院，成绩优异。</a:t>
            </a:r>
            <a:endParaRPr lang="en-US" sz="1600" dirty="0"/>
          </a:p>
          <a:p>
            <a:pPr>
              <a:lnSpc>
                <a:spcPct val="170000"/>
              </a:lnSpc>
            </a:pPr>
            <a:r>
              <a:rPr lang="en-US" sz="2400" b="1" dirty="0">
                <a:solidFill>
                  <a:srgbClr val="2C2C2C"/>
                </a:solidFill>
              </a:rPr>
              <a:t>1934年</a:t>
            </a:r>
            <a:r>
              <a:rPr lang="en-US" sz="2400" dirty="0">
                <a:solidFill>
                  <a:srgbClr val="2C2C2C"/>
                </a:solidFill>
              </a:rPr>
              <a:t>，考取清华大学庚款留美公费生，在清华进修一年航空工业课程。</a:t>
            </a:r>
            <a:endParaRPr lang="en-US" sz="1600" dirty="0"/>
          </a:p>
          <a:p>
            <a:pPr>
              <a:lnSpc>
                <a:spcPct val="170000"/>
              </a:lnSpc>
            </a:pPr>
            <a:r>
              <a:rPr lang="en-US" sz="2400" b="1" dirty="0">
                <a:solidFill>
                  <a:srgbClr val="2C2C2C"/>
                </a:solidFill>
              </a:rPr>
              <a:t>航空救国</a:t>
            </a:r>
            <a:r>
              <a:rPr lang="en-US" sz="2400" dirty="0">
                <a:solidFill>
                  <a:srgbClr val="2C2C2C"/>
                </a:solidFill>
              </a:rPr>
              <a:t>成为他的志向，决心学习最先进的航空技术报效祖国。</a:t>
            </a:r>
            <a:endParaRPr lang="en-US" sz="1600" dirty="0"/>
          </a:p>
          <a:p>
            <a:pPr>
              <a:lnSpc>
                <a:spcPct val="170000"/>
              </a:lnSpc>
            </a:pPr>
            <a:r>
              <a:rPr lang="en-US" sz="2400" dirty="0">
                <a:solidFill>
                  <a:srgbClr val="2C2C2C"/>
                </a:solidFill>
              </a:rPr>
              <a:t>在北师大附中期间，校长林砺儒倡导"全人格教育"，注重德智体美全面发展，对钱学森影响深远。</a:t>
            </a:r>
            <a:endParaRPr lang="en-US" sz="1600" dirty="0"/>
          </a:p>
        </p:txBody>
      </p:sp>
      <p:sp>
        <p:nvSpPr>
          <p:cNvPr id="19" name="Shape 17"/>
          <p:cNvSpPr/>
          <p:nvPr/>
        </p:nvSpPr>
        <p:spPr>
          <a:xfrm>
            <a:off x="8255000" y="1549400"/>
            <a:ext cx="7366000" cy="5334000"/>
          </a:xfrm>
          <a:prstGeom prst="rect">
            <a:avLst/>
          </a:prstGeom>
          <a:solidFill>
            <a:srgbClr val="FFF8E6"/>
          </a:solidFill>
          <a:ln w="12700">
            <a:solidFill>
              <a:srgbClr val="B8860B">
                <a:alpha val="25098"/>
              </a:srgbClr>
            </a:solidFill>
            <a:prstDash val="solid"/>
          </a:ln>
        </p:spPr>
        <p:txBody>
          <a:bodyPr/>
          <a:lstStyle/>
          <a:p>
            <a:endParaRPr/>
          </a:p>
        </p:txBody>
      </p:sp>
      <p:sp>
        <p:nvSpPr>
          <p:cNvPr id="20" name="Text 18"/>
          <p:cNvSpPr/>
          <p:nvPr/>
        </p:nvSpPr>
        <p:spPr>
          <a:xfrm>
            <a:off x="8509000" y="1752600"/>
            <a:ext cx="6858000" cy="381000"/>
          </a:xfrm>
          <a:prstGeom prst="rect">
            <a:avLst/>
          </a:prstGeom>
          <a:noFill/>
          <a:ln/>
        </p:spPr>
        <p:txBody>
          <a:bodyPr wrap="none" lIns="0" tIns="0" rIns="0" bIns="0" rtlCol="0" anchor="ctr"/>
          <a:lstStyle/>
          <a:p>
            <a:pPr>
              <a:lnSpc>
                <a:spcPct val="100000"/>
              </a:lnSpc>
            </a:pPr>
            <a:r>
              <a:rPr lang="en-US" sz="2400" b="1" dirty="0">
                <a:solidFill>
                  <a:srgbClr val="6D4C00"/>
                </a:solidFill>
              </a:rPr>
              <a:t>思想萌芽</a:t>
            </a:r>
            <a:endParaRPr lang="en-US" sz="1600" dirty="0"/>
          </a:p>
        </p:txBody>
      </p:sp>
      <p:sp>
        <p:nvSpPr>
          <p:cNvPr id="21" name="Text 19"/>
          <p:cNvSpPr/>
          <p:nvPr/>
        </p:nvSpPr>
        <p:spPr>
          <a:xfrm>
            <a:off x="8509000" y="2286000"/>
            <a:ext cx="6858000" cy="4318000"/>
          </a:xfrm>
          <a:prstGeom prst="rect">
            <a:avLst/>
          </a:prstGeom>
          <a:noFill/>
          <a:ln/>
        </p:spPr>
        <p:txBody>
          <a:bodyPr wrap="square" lIns="0" tIns="0" rIns="0" bIns="0" rtlCol="0" anchor="ctr"/>
          <a:lstStyle/>
          <a:p>
            <a:pPr>
              <a:lnSpc>
                <a:spcPct val="170000"/>
              </a:lnSpc>
            </a:pPr>
            <a:r>
              <a:rPr lang="en-US" sz="2400" dirty="0">
                <a:solidFill>
                  <a:srgbClr val="2C2C2C"/>
                </a:solidFill>
              </a:rPr>
              <a:t>面对民族存亡的危局，大学毕业的钱学森毅然选择</a:t>
            </a:r>
            <a:r>
              <a:rPr lang="en-US" sz="2400" b="1" dirty="0">
                <a:solidFill>
                  <a:srgbClr val="2C2C2C"/>
                </a:solidFill>
              </a:rPr>
              <a:t>航空工程</a:t>
            </a:r>
            <a:r>
              <a:rPr lang="en-US" sz="2400" dirty="0">
                <a:solidFill>
                  <a:srgbClr val="2C2C2C"/>
                </a:solidFill>
              </a:rPr>
              <a:t>作为留学方向。</a:t>
            </a:r>
            <a:endParaRPr lang="en-US" sz="1600" dirty="0"/>
          </a:p>
          <a:p>
            <a:pPr>
              <a:lnSpc>
                <a:spcPct val="170000"/>
              </a:lnSpc>
            </a:pPr>
            <a:r>
              <a:rPr lang="en-US" sz="2400" dirty="0">
                <a:solidFill>
                  <a:srgbClr val="2C2C2C"/>
                </a:solidFill>
              </a:rPr>
              <a:t>他深知，只有掌握最先进的科学技术，才能让祖国强大起来，让人民过上</a:t>
            </a:r>
            <a:r>
              <a:rPr lang="en-US" sz="2400" b="1" dirty="0">
                <a:solidFill>
                  <a:srgbClr val="2C2C2C"/>
                </a:solidFill>
              </a:rPr>
              <a:t>有尊严的幸福生活</a:t>
            </a:r>
            <a:r>
              <a:rPr lang="en-US" sz="2400" dirty="0">
                <a:solidFill>
                  <a:srgbClr val="2C2C2C"/>
                </a:solidFill>
              </a:rPr>
              <a:t>。</a:t>
            </a:r>
            <a:endParaRPr lang="en-US" sz="1600" dirty="0"/>
          </a:p>
          <a:p>
            <a:pPr>
              <a:lnSpc>
                <a:spcPct val="170000"/>
              </a:lnSpc>
            </a:pPr>
            <a:r>
              <a:rPr lang="en-US" sz="2400" dirty="0">
                <a:solidFill>
                  <a:srgbClr val="2C2C2C"/>
                </a:solidFill>
              </a:rPr>
              <a:t>这一时期的志向选择，奠定了他一生</a:t>
            </a:r>
            <a:r>
              <a:rPr lang="en-US" sz="2400" b="1" dirty="0">
                <a:solidFill>
                  <a:srgbClr val="2C2C2C"/>
                </a:solidFill>
              </a:rPr>
              <a:t>科学报国</a:t>
            </a:r>
            <a:r>
              <a:rPr lang="en-US" sz="2400" dirty="0">
                <a:solidFill>
                  <a:srgbClr val="2C2C2C"/>
                </a:solidFill>
              </a:rPr>
              <a:t>的底色。</a:t>
            </a:r>
            <a:endParaRPr lang="en-US" sz="1600" dirty="0"/>
          </a:p>
        </p:txBody>
      </p:sp>
      <p:sp>
        <p:nvSpPr>
          <p:cNvPr id="22" name="Shape 20"/>
          <p:cNvSpPr/>
          <p:nvPr/>
        </p:nvSpPr>
        <p:spPr>
          <a:xfrm>
            <a:off x="635000" y="7162799"/>
            <a:ext cx="14986000" cy="914399"/>
          </a:xfrm>
          <a:prstGeom prst="rect">
            <a:avLst/>
          </a:prstGeom>
          <a:solidFill>
            <a:srgbClr val="FFF5F5"/>
          </a:solidFill>
          <a:ln w="25400">
            <a:solidFill>
              <a:srgbClr val="B8860B"/>
            </a:solidFill>
            <a:prstDash val="solid"/>
          </a:ln>
        </p:spPr>
        <p:txBody>
          <a:bodyPr/>
          <a:lstStyle/>
          <a:p>
            <a:endParaRPr/>
          </a:p>
        </p:txBody>
      </p:sp>
      <p:sp>
        <p:nvSpPr>
          <p:cNvPr id="23" name="Text 21"/>
          <p:cNvSpPr/>
          <p:nvPr/>
        </p:nvSpPr>
        <p:spPr>
          <a:xfrm>
            <a:off x="889000" y="7162799"/>
            <a:ext cx="14478000" cy="861389"/>
          </a:xfrm>
          <a:prstGeom prst="rect">
            <a:avLst/>
          </a:prstGeom>
          <a:noFill/>
          <a:ln/>
        </p:spPr>
        <p:txBody>
          <a:bodyPr wrap="square" lIns="0" tIns="0" rIns="0" bIns="0" rtlCol="0" anchor="ctr"/>
          <a:lstStyle/>
          <a:p>
            <a:pPr>
              <a:lnSpc>
                <a:spcPct val="100000"/>
              </a:lnSpc>
            </a:pPr>
            <a:r>
              <a:rPr lang="en-US" sz="2400" b="1" dirty="0">
                <a:solidFill>
                  <a:srgbClr val="8B1A1A"/>
                </a:solidFill>
              </a:rPr>
              <a:t>核心启示：</a:t>
            </a:r>
            <a:r>
              <a:rPr lang="en-US" sz="2400" dirty="0">
                <a:solidFill>
                  <a:srgbClr val="8B1A1A"/>
                </a:solidFill>
              </a:rPr>
              <a:t>从北师大附中的"全人格教育"到交通大学的工程专业训练，钱学森的成长轨迹体现了"厚基础、宽口径、重实践"的人才培养规律。</a:t>
            </a:r>
            <a:endParaRPr lang="en-US" sz="1600" dirty="0"/>
          </a:p>
        </p:txBody>
      </p:sp>
      <p:sp>
        <p:nvSpPr>
          <p:cNvPr id="24" name="Shape 22"/>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留学美国：从麻省理工到加州理工</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7874000" cy="6096000"/>
          </a:xfrm>
          <a:prstGeom prst="rect">
            <a:avLst/>
          </a:prstGeom>
          <a:solidFill>
            <a:srgbClr val="FFF5F5"/>
          </a:solidFill>
          <a:ln w="12700">
            <a:solidFill>
              <a:srgbClr val="8B1A1A">
                <a:alpha val="25098"/>
              </a:srgbClr>
            </a:solidFill>
            <a:prstDash val="solid"/>
          </a:ln>
        </p:spPr>
        <p:txBody>
          <a:bodyPr/>
          <a:lstStyle/>
          <a:p>
            <a:endParaRPr/>
          </a:p>
        </p:txBody>
      </p:sp>
      <p:sp>
        <p:nvSpPr>
          <p:cNvPr id="17" name="Text 15"/>
          <p:cNvSpPr/>
          <p:nvPr/>
        </p:nvSpPr>
        <p:spPr>
          <a:xfrm>
            <a:off x="889000" y="1701800"/>
            <a:ext cx="7366000" cy="355600"/>
          </a:xfrm>
          <a:prstGeom prst="rect">
            <a:avLst/>
          </a:prstGeom>
          <a:noFill/>
          <a:ln/>
        </p:spPr>
        <p:txBody>
          <a:bodyPr wrap="none" lIns="0" tIns="0" rIns="0" bIns="0" rtlCol="0" anchor="ctr"/>
          <a:lstStyle/>
          <a:p>
            <a:pPr>
              <a:lnSpc>
                <a:spcPct val="100000"/>
              </a:lnSpc>
            </a:pPr>
            <a:r>
              <a:rPr lang="en-US" sz="2400" b="1" dirty="0">
                <a:solidFill>
                  <a:srgbClr val="8B1A1A"/>
                </a:solidFill>
              </a:rPr>
              <a:t>留学经历时间线</a:t>
            </a:r>
            <a:endParaRPr lang="en-US" sz="1600" dirty="0"/>
          </a:p>
        </p:txBody>
      </p:sp>
      <p:sp>
        <p:nvSpPr>
          <p:cNvPr id="18" name="Shape 16"/>
          <p:cNvSpPr/>
          <p:nvPr/>
        </p:nvSpPr>
        <p:spPr>
          <a:xfrm>
            <a:off x="1270000" y="2286000"/>
            <a:ext cx="6604000" cy="1143000"/>
          </a:xfrm>
          <a:prstGeom prst="roundRect">
            <a:avLst>
              <a:gd name="adj" fmla="val 4000"/>
            </a:avLst>
          </a:prstGeom>
          <a:solidFill>
            <a:srgbClr val="8B1A1A"/>
          </a:solidFill>
          <a:ln/>
        </p:spPr>
        <p:txBody>
          <a:bodyPr/>
          <a:lstStyle/>
          <a:p>
            <a:endParaRPr/>
          </a:p>
        </p:txBody>
      </p:sp>
      <p:sp>
        <p:nvSpPr>
          <p:cNvPr id="19" name="Text 17"/>
          <p:cNvSpPr/>
          <p:nvPr/>
        </p:nvSpPr>
        <p:spPr>
          <a:xfrm>
            <a:off x="1524000" y="2349500"/>
            <a:ext cx="6096000" cy="1016000"/>
          </a:xfrm>
          <a:prstGeom prst="rect">
            <a:avLst/>
          </a:prstGeom>
          <a:noFill/>
          <a:ln/>
        </p:spPr>
        <p:txBody>
          <a:bodyPr wrap="square" lIns="0" tIns="0" rIns="0" bIns="0" rtlCol="0" anchor="ctr"/>
          <a:lstStyle/>
          <a:p>
            <a:pPr algn="ctr">
              <a:lnSpc>
                <a:spcPct val="100000"/>
              </a:lnSpc>
            </a:pPr>
            <a:r>
              <a:rPr lang="en-US" sz="2400" b="1" dirty="0">
                <a:solidFill>
                  <a:srgbClr val="FFFFFF"/>
                </a:solidFill>
              </a:rPr>
              <a:t>1935年 麻省理工学院</a:t>
            </a:r>
            <a:endParaRPr lang="en-US" sz="1600" dirty="0"/>
          </a:p>
          <a:p>
            <a:pPr algn="ctr">
              <a:lnSpc>
                <a:spcPct val="100000"/>
              </a:lnSpc>
            </a:pPr>
            <a:r>
              <a:rPr lang="en-US" sz="2400" dirty="0">
                <a:solidFill>
                  <a:srgbClr val="FFFFFF"/>
                </a:solidFill>
              </a:rPr>
              <a:t>航空工程系研究生，次年获硕士学位</a:t>
            </a:r>
            <a:endParaRPr lang="en-US" sz="1600" dirty="0"/>
          </a:p>
        </p:txBody>
      </p:sp>
      <p:sp>
        <p:nvSpPr>
          <p:cNvPr id="20" name="Shape 18"/>
          <p:cNvSpPr/>
          <p:nvPr/>
        </p:nvSpPr>
        <p:spPr>
          <a:xfrm>
            <a:off x="4445000" y="3429000"/>
            <a:ext cx="0" cy="381000"/>
          </a:xfrm>
          <a:prstGeom prst="straightConnector1">
            <a:avLst/>
          </a:prstGeom>
          <a:noFill/>
          <a:ln w="25400">
            <a:solidFill>
              <a:srgbClr val="8B1A1A"/>
            </a:solidFill>
            <a:prstDash val="solid"/>
            <a:headEnd type="none"/>
            <a:tailEnd type="arrow"/>
          </a:ln>
        </p:spPr>
        <p:txBody>
          <a:bodyPr/>
          <a:lstStyle/>
          <a:p>
            <a:endParaRPr/>
          </a:p>
        </p:txBody>
      </p:sp>
      <p:sp>
        <p:nvSpPr>
          <p:cNvPr id="21" name="Shape 19"/>
          <p:cNvSpPr/>
          <p:nvPr/>
        </p:nvSpPr>
        <p:spPr>
          <a:xfrm>
            <a:off x="1270000" y="3810000"/>
            <a:ext cx="6604000" cy="1143000"/>
          </a:xfrm>
          <a:prstGeom prst="roundRect">
            <a:avLst>
              <a:gd name="adj" fmla="val 4000"/>
            </a:avLst>
          </a:prstGeom>
          <a:solidFill>
            <a:srgbClr val="B8860B"/>
          </a:solidFill>
          <a:ln/>
        </p:spPr>
        <p:txBody>
          <a:bodyPr/>
          <a:lstStyle/>
          <a:p>
            <a:endParaRPr/>
          </a:p>
        </p:txBody>
      </p:sp>
      <p:sp>
        <p:nvSpPr>
          <p:cNvPr id="22" name="Text 20"/>
          <p:cNvSpPr/>
          <p:nvPr/>
        </p:nvSpPr>
        <p:spPr>
          <a:xfrm>
            <a:off x="1524000" y="3873500"/>
            <a:ext cx="6096000" cy="1016000"/>
          </a:xfrm>
          <a:prstGeom prst="rect">
            <a:avLst/>
          </a:prstGeom>
          <a:noFill/>
          <a:ln/>
        </p:spPr>
        <p:txBody>
          <a:bodyPr wrap="square" lIns="0" tIns="0" rIns="0" bIns="0" rtlCol="0" anchor="ctr"/>
          <a:lstStyle/>
          <a:p>
            <a:pPr algn="ctr">
              <a:lnSpc>
                <a:spcPct val="100000"/>
              </a:lnSpc>
            </a:pPr>
            <a:r>
              <a:rPr lang="en-US" sz="2400" b="1" dirty="0">
                <a:solidFill>
                  <a:srgbClr val="FFFFFF"/>
                </a:solidFill>
              </a:rPr>
              <a:t>1936年 加州理工学院</a:t>
            </a:r>
            <a:endParaRPr lang="en-US" sz="1600" dirty="0"/>
          </a:p>
          <a:p>
            <a:pPr algn="ctr">
              <a:lnSpc>
                <a:spcPct val="100000"/>
              </a:lnSpc>
            </a:pPr>
            <a:r>
              <a:rPr lang="en-US" sz="2400" dirty="0">
                <a:solidFill>
                  <a:srgbClr val="FFFFFF"/>
                </a:solidFill>
              </a:rPr>
              <a:t>师从空气动力学大师冯·卡门</a:t>
            </a:r>
            <a:endParaRPr lang="en-US" sz="1600" dirty="0"/>
          </a:p>
        </p:txBody>
      </p:sp>
      <p:sp>
        <p:nvSpPr>
          <p:cNvPr id="23" name="Shape 21"/>
          <p:cNvSpPr/>
          <p:nvPr/>
        </p:nvSpPr>
        <p:spPr>
          <a:xfrm>
            <a:off x="4445000" y="4953000"/>
            <a:ext cx="0" cy="381000"/>
          </a:xfrm>
          <a:prstGeom prst="straightConnector1">
            <a:avLst/>
          </a:prstGeom>
          <a:noFill/>
          <a:ln w="25400">
            <a:solidFill>
              <a:srgbClr val="B8860B"/>
            </a:solidFill>
            <a:prstDash val="solid"/>
            <a:headEnd type="none"/>
            <a:tailEnd type="arrow"/>
          </a:ln>
        </p:spPr>
        <p:txBody>
          <a:bodyPr/>
          <a:lstStyle/>
          <a:p>
            <a:endParaRPr/>
          </a:p>
        </p:txBody>
      </p:sp>
      <p:sp>
        <p:nvSpPr>
          <p:cNvPr id="24" name="Shape 22"/>
          <p:cNvSpPr/>
          <p:nvPr/>
        </p:nvSpPr>
        <p:spPr>
          <a:xfrm>
            <a:off x="1270000" y="5334000"/>
            <a:ext cx="6604000" cy="1143000"/>
          </a:xfrm>
          <a:prstGeom prst="roundRect">
            <a:avLst>
              <a:gd name="adj" fmla="val 4000"/>
            </a:avLst>
          </a:prstGeom>
          <a:solidFill>
            <a:srgbClr val="6D0E0E"/>
          </a:solidFill>
          <a:ln/>
        </p:spPr>
        <p:txBody>
          <a:bodyPr/>
          <a:lstStyle/>
          <a:p>
            <a:endParaRPr/>
          </a:p>
        </p:txBody>
      </p:sp>
      <p:sp>
        <p:nvSpPr>
          <p:cNvPr id="25" name="Text 23"/>
          <p:cNvSpPr/>
          <p:nvPr/>
        </p:nvSpPr>
        <p:spPr>
          <a:xfrm>
            <a:off x="1524000" y="5397500"/>
            <a:ext cx="6096000" cy="1016000"/>
          </a:xfrm>
          <a:prstGeom prst="rect">
            <a:avLst/>
          </a:prstGeom>
          <a:noFill/>
          <a:ln/>
        </p:spPr>
        <p:txBody>
          <a:bodyPr wrap="square" lIns="0" tIns="0" rIns="0" bIns="0" rtlCol="0" anchor="ctr"/>
          <a:lstStyle/>
          <a:p>
            <a:pPr algn="ctr">
              <a:lnSpc>
                <a:spcPct val="100000"/>
              </a:lnSpc>
            </a:pPr>
            <a:r>
              <a:rPr lang="en-US" sz="2400" b="1" dirty="0">
                <a:solidFill>
                  <a:srgbClr val="FFFFFF"/>
                </a:solidFill>
              </a:rPr>
              <a:t>1939年 获博士学位</a:t>
            </a:r>
            <a:endParaRPr lang="en-US" sz="1600" dirty="0"/>
          </a:p>
          <a:p>
            <a:pPr algn="ctr">
              <a:lnSpc>
                <a:spcPct val="100000"/>
              </a:lnSpc>
            </a:pPr>
            <a:r>
              <a:rPr lang="en-US" sz="2400" dirty="0">
                <a:solidFill>
                  <a:srgbClr val="FFFFFF"/>
                </a:solidFill>
              </a:rPr>
              <a:t>28岁成为世界知名火箭专家</a:t>
            </a:r>
            <a:endParaRPr lang="en-US" sz="1600" dirty="0"/>
          </a:p>
        </p:txBody>
      </p:sp>
      <p:sp>
        <p:nvSpPr>
          <p:cNvPr id="26" name="Text 24"/>
          <p:cNvSpPr/>
          <p:nvPr/>
        </p:nvSpPr>
        <p:spPr>
          <a:xfrm>
            <a:off x="8890000" y="1574800"/>
            <a:ext cx="6731000" cy="381000"/>
          </a:xfrm>
          <a:prstGeom prst="rect">
            <a:avLst/>
          </a:prstGeom>
          <a:noFill/>
          <a:ln/>
        </p:spPr>
        <p:txBody>
          <a:bodyPr wrap="none" lIns="0" tIns="0" rIns="0" bIns="0" rtlCol="0" anchor="ctr"/>
          <a:lstStyle/>
          <a:p>
            <a:pPr>
              <a:lnSpc>
                <a:spcPct val="100000"/>
              </a:lnSpc>
            </a:pPr>
            <a:r>
              <a:rPr lang="en-US" sz="2400" b="1" dirty="0">
                <a:solidFill>
                  <a:srgbClr val="8B1A1A"/>
                </a:solidFill>
              </a:rPr>
              <a:t>学术成就</a:t>
            </a:r>
            <a:endParaRPr lang="en-US" sz="1600" dirty="0"/>
          </a:p>
        </p:txBody>
      </p:sp>
      <p:sp>
        <p:nvSpPr>
          <p:cNvPr id="27" name="Shape 25"/>
          <p:cNvSpPr/>
          <p:nvPr/>
        </p:nvSpPr>
        <p:spPr>
          <a:xfrm>
            <a:off x="8890000" y="20066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28" name="Text 26"/>
          <p:cNvSpPr/>
          <p:nvPr/>
        </p:nvSpPr>
        <p:spPr>
          <a:xfrm>
            <a:off x="8890000" y="2184400"/>
            <a:ext cx="6731000" cy="1270000"/>
          </a:xfrm>
          <a:prstGeom prst="rect">
            <a:avLst/>
          </a:prstGeom>
          <a:noFill/>
          <a:ln/>
        </p:spPr>
        <p:txBody>
          <a:bodyPr wrap="square" lIns="0" tIns="0" rIns="0" bIns="0" rtlCol="0" anchor="ctr"/>
          <a:lstStyle/>
          <a:p>
            <a:pPr>
              <a:lnSpc>
                <a:spcPct val="170000"/>
              </a:lnSpc>
            </a:pPr>
            <a:r>
              <a:rPr lang="en-US" sz="2400" b="1" dirty="0">
                <a:solidFill>
                  <a:srgbClr val="2C2C2C"/>
                </a:solidFill>
              </a:rPr>
              <a:t>卡门-钱学森公式：</a:t>
            </a:r>
            <a:r>
              <a:rPr lang="en-US" sz="2400" dirty="0">
                <a:solidFill>
                  <a:srgbClr val="2C2C2C"/>
                </a:solidFill>
              </a:rPr>
              <a:t>与导师冯·卡门共同创立，在空气动力学和超音速飞行领域具有重大意义。</a:t>
            </a:r>
            <a:endParaRPr lang="en-US" sz="1600" dirty="0"/>
          </a:p>
        </p:txBody>
      </p:sp>
      <p:sp>
        <p:nvSpPr>
          <p:cNvPr id="29" name="Text 27"/>
          <p:cNvSpPr/>
          <p:nvPr/>
        </p:nvSpPr>
        <p:spPr>
          <a:xfrm>
            <a:off x="8890000" y="3683000"/>
            <a:ext cx="6731000" cy="1270000"/>
          </a:xfrm>
          <a:prstGeom prst="rect">
            <a:avLst/>
          </a:prstGeom>
          <a:noFill/>
          <a:ln/>
        </p:spPr>
        <p:txBody>
          <a:bodyPr wrap="square" lIns="0" tIns="0" rIns="0" bIns="0" rtlCol="0" anchor="ctr"/>
          <a:lstStyle/>
          <a:p>
            <a:pPr>
              <a:lnSpc>
                <a:spcPct val="170000"/>
              </a:lnSpc>
            </a:pPr>
            <a:r>
              <a:rPr lang="en-US" sz="2400" b="1" dirty="0">
                <a:solidFill>
                  <a:srgbClr val="2C2C2C"/>
                </a:solidFill>
              </a:rPr>
              <a:t>火箭技术研究：</a:t>
            </a:r>
            <a:r>
              <a:rPr lang="en-US" sz="2400" dirty="0">
                <a:solidFill>
                  <a:srgbClr val="2C2C2C"/>
                </a:solidFill>
              </a:rPr>
              <a:t>参与美国早期火箭研究计划，成为麻省理工学院最年轻的终身教授之一。</a:t>
            </a:r>
            <a:endParaRPr lang="en-US" sz="1600" dirty="0"/>
          </a:p>
        </p:txBody>
      </p:sp>
      <p:sp>
        <p:nvSpPr>
          <p:cNvPr id="30" name="Text 28"/>
          <p:cNvSpPr/>
          <p:nvPr/>
        </p:nvSpPr>
        <p:spPr>
          <a:xfrm>
            <a:off x="8890000" y="5181600"/>
            <a:ext cx="6731000" cy="1270000"/>
          </a:xfrm>
          <a:prstGeom prst="rect">
            <a:avLst/>
          </a:prstGeom>
          <a:noFill/>
          <a:ln/>
        </p:spPr>
        <p:txBody>
          <a:bodyPr wrap="square" lIns="0" tIns="0" rIns="0" bIns="0" rtlCol="0" anchor="ctr"/>
          <a:lstStyle/>
          <a:p>
            <a:pPr>
              <a:lnSpc>
                <a:spcPct val="170000"/>
              </a:lnSpc>
            </a:pPr>
            <a:r>
              <a:rPr lang="en-US" sz="2400" b="1" dirty="0">
                <a:solidFill>
                  <a:srgbClr val="2C2C2C"/>
                </a:solidFill>
              </a:rPr>
              <a:t>工程控制论：</a:t>
            </a:r>
            <a:r>
              <a:rPr lang="en-US" sz="2400" dirty="0">
                <a:solidFill>
                  <a:srgbClr val="2C2C2C"/>
                </a:solidFill>
              </a:rPr>
              <a:t>被软禁期间完成经典著作《工程控制论》，开创控制科学新领域。</a:t>
            </a:r>
            <a:endParaRPr lang="en-US" sz="1600" dirty="0"/>
          </a:p>
        </p:txBody>
      </p:sp>
      <p:sp>
        <p:nvSpPr>
          <p:cNvPr id="31" name="Shape 29"/>
          <p:cNvSpPr/>
          <p:nvPr/>
        </p:nvSpPr>
        <p:spPr>
          <a:xfrm>
            <a:off x="8890000" y="6626087"/>
            <a:ext cx="6731000" cy="892311"/>
          </a:xfrm>
          <a:prstGeom prst="rect">
            <a:avLst/>
          </a:prstGeom>
          <a:solidFill>
            <a:srgbClr val="FFF8E6"/>
          </a:solidFill>
          <a:ln w="12700">
            <a:solidFill>
              <a:srgbClr val="B8860B"/>
            </a:solidFill>
            <a:prstDash val="solid"/>
          </a:ln>
        </p:spPr>
        <p:txBody>
          <a:bodyPr/>
          <a:lstStyle/>
          <a:p>
            <a:endParaRPr/>
          </a:p>
        </p:txBody>
      </p:sp>
      <p:sp>
        <p:nvSpPr>
          <p:cNvPr id="32" name="Text 30"/>
          <p:cNvSpPr/>
          <p:nvPr/>
        </p:nvSpPr>
        <p:spPr>
          <a:xfrm>
            <a:off x="9093200" y="6731000"/>
            <a:ext cx="6324600" cy="660400"/>
          </a:xfrm>
          <a:prstGeom prst="rect">
            <a:avLst/>
          </a:prstGeom>
          <a:noFill/>
          <a:ln/>
        </p:spPr>
        <p:txBody>
          <a:bodyPr wrap="square" lIns="0" tIns="0" rIns="0" bIns="0" rtlCol="0" anchor="ctr"/>
          <a:lstStyle/>
          <a:p>
            <a:pPr>
              <a:lnSpc>
                <a:spcPct val="100000"/>
              </a:lnSpc>
            </a:pPr>
            <a:r>
              <a:rPr lang="en-US" sz="2400" dirty="0">
                <a:solidFill>
                  <a:srgbClr val="6D4C00"/>
                </a:solidFill>
              </a:rPr>
              <a:t>注：钱学森在美国期间已掌握导弹与火箭的核心技术，为回国后的贡献奠定了坚实基础。</a:t>
            </a:r>
            <a:endParaRPr lang="en-US" sz="1600" dirty="0"/>
          </a:p>
        </p:txBody>
      </p:sp>
      <p:sp>
        <p:nvSpPr>
          <p:cNvPr id="33" name="Shape 3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5080000" y="0"/>
            <a:ext cx="11176000" cy="9144000"/>
          </a:xfrm>
          <a:prstGeom prst="rect">
            <a:avLst/>
          </a:prstGeom>
          <a:gradFill flip="none" rotWithShape="1">
            <a:gsLst>
              <a:gs pos="0">
                <a:srgbClr val="8B1A1A"/>
              </a:gs>
              <a:gs pos="100000">
                <a:srgbClr val="5A0A0A"/>
              </a:gs>
            </a:gsLst>
            <a:lin ang="5400000" scaled="1"/>
          </a:gradFill>
          <a:ln/>
        </p:spPr>
        <p:txBody>
          <a:bodyPr/>
          <a:lstStyle/>
          <a:p>
            <a:endParaRPr/>
          </a:p>
        </p:txBody>
      </p:sp>
      <p:sp>
        <p:nvSpPr>
          <p:cNvPr id="3" name="Text 1"/>
          <p:cNvSpPr/>
          <p:nvPr/>
        </p:nvSpPr>
        <p:spPr>
          <a:xfrm>
            <a:off x="508000" y="2794000"/>
            <a:ext cx="4318000" cy="2540000"/>
          </a:xfrm>
          <a:prstGeom prst="rect">
            <a:avLst/>
          </a:prstGeom>
          <a:noFill/>
          <a:ln/>
        </p:spPr>
        <p:txBody>
          <a:bodyPr wrap="none" lIns="0" tIns="0" rIns="0" bIns="0" rtlCol="0" anchor="ctr"/>
          <a:lstStyle/>
          <a:p>
            <a:pPr>
              <a:lnSpc>
                <a:spcPct val="100000"/>
              </a:lnSpc>
            </a:pPr>
            <a:r>
              <a:rPr lang="en-US" sz="14000" b="1" dirty="0">
                <a:solidFill>
                  <a:srgbClr val="B8860B"/>
                </a:solidFill>
                <a:latin typeface="黑体" pitchFamily="34" charset="0"/>
                <a:ea typeface="黑体"/>
              </a:rPr>
              <a:t>02</a:t>
            </a:r>
            <a:endParaRPr lang="en-US" sz="1600" dirty="0"/>
          </a:p>
        </p:txBody>
      </p:sp>
      <p:sp>
        <p:nvSpPr>
          <p:cNvPr id="4" name="Shape 2"/>
          <p:cNvSpPr/>
          <p:nvPr/>
        </p:nvSpPr>
        <p:spPr>
          <a:xfrm>
            <a:off x="508000" y="5588000"/>
            <a:ext cx="4064000" cy="0"/>
          </a:xfrm>
          <a:prstGeom prst="straightConnector1">
            <a:avLst/>
          </a:prstGeom>
          <a:noFill/>
          <a:ln w="38100">
            <a:solidFill>
              <a:srgbClr val="B8860B"/>
            </a:solidFill>
            <a:prstDash val="solid"/>
            <a:headEnd type="none"/>
            <a:tailEnd type="none"/>
          </a:ln>
        </p:spPr>
        <p:txBody>
          <a:bodyPr/>
          <a:lstStyle/>
          <a:p>
            <a:endParaRPr/>
          </a:p>
        </p:txBody>
      </p:sp>
      <p:sp>
        <p:nvSpPr>
          <p:cNvPr id="5" name="Text 3"/>
          <p:cNvSpPr/>
          <p:nvPr/>
        </p:nvSpPr>
        <p:spPr>
          <a:xfrm>
            <a:off x="5842000" y="3302000"/>
            <a:ext cx="9144000" cy="762000"/>
          </a:xfrm>
          <a:prstGeom prst="rect">
            <a:avLst/>
          </a:prstGeom>
          <a:noFill/>
          <a:ln/>
        </p:spPr>
        <p:txBody>
          <a:bodyPr wrap="none" lIns="0" tIns="0" rIns="0" bIns="0" rtlCol="0" anchor="ctr"/>
          <a:lstStyle/>
          <a:p>
            <a:pPr>
              <a:lnSpc>
                <a:spcPct val="100000"/>
              </a:lnSpc>
            </a:pPr>
            <a:r>
              <a:rPr lang="en-US" sz="3800" b="1" dirty="0">
                <a:solidFill>
                  <a:srgbClr val="FFFFFF"/>
                </a:solidFill>
                <a:latin typeface="黑体" pitchFamily="34" charset="0"/>
                <a:ea typeface="黑体"/>
              </a:rPr>
              <a:t>冲破阻挠 毅然归国</a:t>
            </a:r>
            <a:endParaRPr lang="en-US" sz="1600" dirty="0"/>
          </a:p>
        </p:txBody>
      </p:sp>
      <p:sp>
        <p:nvSpPr>
          <p:cNvPr id="6" name="Text 4"/>
          <p:cNvSpPr/>
          <p:nvPr/>
        </p:nvSpPr>
        <p:spPr>
          <a:xfrm>
            <a:off x="5842000" y="4191000"/>
            <a:ext cx="8890000" cy="355600"/>
          </a:xfrm>
          <a:prstGeom prst="rect">
            <a:avLst/>
          </a:prstGeom>
          <a:noFill/>
          <a:ln/>
        </p:spPr>
        <p:txBody>
          <a:bodyPr wrap="none" lIns="0" tIns="0" rIns="0" bIns="0" rtlCol="0" anchor="ctr"/>
          <a:lstStyle/>
          <a:p>
            <a:pPr>
              <a:lnSpc>
                <a:spcPct val="100000"/>
              </a:lnSpc>
            </a:pPr>
            <a:endParaRPr lang="en-US" sz="1600" dirty="0"/>
          </a:p>
        </p:txBody>
      </p:sp>
      <p:sp>
        <p:nvSpPr>
          <p:cNvPr id="7" name="Text 5"/>
          <p:cNvSpPr/>
          <p:nvPr/>
        </p:nvSpPr>
        <p:spPr>
          <a:xfrm>
            <a:off x="5842000" y="50800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2.1　五年软禁与不屈斗争</a:t>
            </a:r>
            <a:endParaRPr lang="en-US" sz="1600" dirty="0"/>
          </a:p>
        </p:txBody>
      </p:sp>
      <p:sp>
        <p:nvSpPr>
          <p:cNvPr id="8" name="Text 6"/>
          <p:cNvSpPr/>
          <p:nvPr/>
        </p:nvSpPr>
        <p:spPr>
          <a:xfrm>
            <a:off x="5842000" y="55118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2.2　归国时刻与陈赓对话</a:t>
            </a:r>
            <a:endParaRPr lang="en-US" sz="1600" dirty="0"/>
          </a:p>
        </p:txBody>
      </p:sp>
      <p:sp>
        <p:nvSpPr>
          <p:cNvPr id="9" name="Shape 7"/>
          <p:cNvSpPr/>
          <p:nvPr/>
        </p:nvSpPr>
        <p:spPr>
          <a:xfrm>
            <a:off x="5842000" y="31496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10" name="Text 8"/>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2400" dirty="0">
                <a:solidFill>
                  <a:srgbClr val="FFFFFF">
                    <a:alpha val="66667"/>
                  </a:srgbClr>
                </a:solidFill>
              </a:rPr>
              <a:t>8</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32512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五年软禁与不屈斗争</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Text 14"/>
          <p:cNvSpPr/>
          <p:nvPr/>
        </p:nvSpPr>
        <p:spPr>
          <a:xfrm>
            <a:off x="635000" y="1651000"/>
            <a:ext cx="7620000" cy="6858000"/>
          </a:xfrm>
          <a:prstGeom prst="rect">
            <a:avLst/>
          </a:prstGeom>
          <a:noFill/>
          <a:ln/>
        </p:spPr>
        <p:txBody>
          <a:bodyPr wrap="square" lIns="0" tIns="0" rIns="0" bIns="0" rtlCol="0" anchor="ctr"/>
          <a:lstStyle/>
          <a:p>
            <a:pPr>
              <a:lnSpc>
                <a:spcPct val="170000"/>
              </a:lnSpc>
            </a:pPr>
            <a:r>
              <a:rPr lang="en-US" sz="2400" b="1" dirty="0">
                <a:solidFill>
                  <a:srgbClr val="2C2C2C"/>
                </a:solidFill>
              </a:rPr>
              <a:t>1949年</a:t>
            </a:r>
            <a:r>
              <a:rPr lang="en-US" sz="2400" dirty="0">
                <a:solidFill>
                  <a:srgbClr val="2C2C2C"/>
                </a:solidFill>
              </a:rPr>
              <a:t>，新中国成立的消息传到美国，钱学森毅然决定回国。但美国政府以种种理由阻挠，吊销了他的安全许可证。</a:t>
            </a:r>
            <a:endParaRPr lang="en-US" sz="1600" dirty="0"/>
          </a:p>
          <a:p>
            <a:pPr>
              <a:lnSpc>
                <a:spcPct val="170000"/>
              </a:lnSpc>
            </a:pPr>
            <a:r>
              <a:rPr lang="en-US" sz="2400" dirty="0">
                <a:solidFill>
                  <a:srgbClr val="2C2C2C"/>
                </a:solidFill>
              </a:rPr>
              <a:t>美国海军部副部长金贝尔说：</a:t>
            </a:r>
            <a:r>
              <a:rPr lang="en-US" sz="2400" b="1" dirty="0">
                <a:solidFill>
                  <a:srgbClr val="8B1A1A"/>
                </a:solidFill>
              </a:rPr>
              <a:t>"他抵得上5个师，宁可毙了他也不能让他回中国。"</a:t>
            </a:r>
            <a:endParaRPr lang="en-US" sz="1600" dirty="0"/>
          </a:p>
          <a:p>
            <a:pPr>
              <a:lnSpc>
                <a:spcPct val="170000"/>
              </a:lnSpc>
            </a:pPr>
            <a:r>
              <a:rPr lang="en-US" sz="2400" dirty="0">
                <a:solidFill>
                  <a:srgbClr val="2C2C2C"/>
                </a:solidFill>
              </a:rPr>
              <a:t>钱学森被软禁长达</a:t>
            </a:r>
            <a:r>
              <a:rPr lang="en-US" sz="2400" b="1" dirty="0">
                <a:solidFill>
                  <a:srgbClr val="2C2C2C"/>
                </a:solidFill>
              </a:rPr>
              <a:t>5年</a:t>
            </a:r>
            <a:r>
              <a:rPr lang="en-US" sz="2400" dirty="0">
                <a:solidFill>
                  <a:srgbClr val="2C2C2C"/>
                </a:solidFill>
              </a:rPr>
              <a:t>，期间联邦调查局人员定期搜查他的住所。但他仍坚持科学研究，完成了《工程控制论》等经典著作。</a:t>
            </a:r>
            <a:endParaRPr lang="en-US" sz="1600" dirty="0"/>
          </a:p>
          <a:p>
            <a:pPr>
              <a:lnSpc>
                <a:spcPct val="170000"/>
              </a:lnSpc>
            </a:pPr>
            <a:r>
              <a:rPr lang="en-US" sz="2400" b="1" dirty="0">
                <a:solidFill>
                  <a:srgbClr val="2C2C2C"/>
                </a:solidFill>
              </a:rPr>
              <a:t>1955年</a:t>
            </a:r>
            <a:r>
              <a:rPr lang="en-US" sz="2400" dirty="0">
                <a:solidFill>
                  <a:srgbClr val="2C2C2C"/>
                </a:solidFill>
              </a:rPr>
              <a:t>，在中国政府的外交努力下，通过中美日内瓦大使级会谈，钱学森终于获许离开美国。</a:t>
            </a:r>
            <a:endParaRPr lang="en-US" sz="1600" dirty="0"/>
          </a:p>
        </p:txBody>
      </p:sp>
      <p:sp>
        <p:nvSpPr>
          <p:cNvPr id="17" name="Shape 15"/>
          <p:cNvSpPr/>
          <p:nvPr/>
        </p:nvSpPr>
        <p:spPr>
          <a:xfrm>
            <a:off x="8636000" y="1651000"/>
            <a:ext cx="6985000" cy="2794000"/>
          </a:xfrm>
          <a:prstGeom prst="rect">
            <a:avLst/>
          </a:prstGeom>
          <a:solidFill>
            <a:srgbClr val="FFF5F5"/>
          </a:solidFill>
          <a:ln w="25400">
            <a:solidFill>
              <a:srgbClr val="B8860B"/>
            </a:solidFill>
            <a:prstDash val="solid"/>
          </a:ln>
        </p:spPr>
        <p:txBody>
          <a:bodyPr/>
          <a:lstStyle/>
          <a:p>
            <a:endParaRPr/>
          </a:p>
        </p:txBody>
      </p:sp>
      <p:sp>
        <p:nvSpPr>
          <p:cNvPr id="18" name="Shape 16"/>
          <p:cNvSpPr/>
          <p:nvPr/>
        </p:nvSpPr>
        <p:spPr>
          <a:xfrm>
            <a:off x="9039225" y="1905000"/>
            <a:ext cx="311150" cy="355600"/>
          </a:xfrm>
          <a:custGeom>
            <a:avLst/>
            <a:gdLst/>
            <a:ahLst/>
            <a:cxnLst/>
            <a:rect l="l" t="t" r="r" b="b"/>
            <a:pathLst>
              <a:path w="311150" h="355600">
                <a:moveTo>
                  <a:pt x="0" y="150019"/>
                </a:moveTo>
                <a:cubicBezTo>
                  <a:pt x="0" y="103971"/>
                  <a:pt x="37296" y="66675"/>
                  <a:pt x="83344" y="66675"/>
                </a:cubicBezTo>
                <a:lnTo>
                  <a:pt x="88900" y="66675"/>
                </a:lnTo>
                <a:cubicBezTo>
                  <a:pt x="101193" y="66675"/>
                  <a:pt x="111125" y="76607"/>
                  <a:pt x="111125" y="88900"/>
                </a:cubicBezTo>
                <a:cubicBezTo>
                  <a:pt x="111125" y="101193"/>
                  <a:pt x="101193" y="111125"/>
                  <a:pt x="88900" y="111125"/>
                </a:cubicBezTo>
                <a:lnTo>
                  <a:pt x="83344" y="111125"/>
                </a:lnTo>
                <a:cubicBezTo>
                  <a:pt x="61883" y="111125"/>
                  <a:pt x="44450" y="128558"/>
                  <a:pt x="44450" y="150019"/>
                </a:cubicBezTo>
                <a:lnTo>
                  <a:pt x="44450" y="155575"/>
                </a:lnTo>
                <a:lnTo>
                  <a:pt x="88900" y="155575"/>
                </a:lnTo>
                <a:cubicBezTo>
                  <a:pt x="113417" y="155575"/>
                  <a:pt x="133350" y="175508"/>
                  <a:pt x="133350" y="200025"/>
                </a:cubicBezTo>
                <a:lnTo>
                  <a:pt x="133350" y="244475"/>
                </a:lnTo>
                <a:cubicBezTo>
                  <a:pt x="133350" y="268992"/>
                  <a:pt x="113417" y="288925"/>
                  <a:pt x="88900" y="288925"/>
                </a:cubicBezTo>
                <a:lnTo>
                  <a:pt x="44450" y="288925"/>
                </a:lnTo>
                <a:cubicBezTo>
                  <a:pt x="19933" y="288925"/>
                  <a:pt x="0" y="268992"/>
                  <a:pt x="0" y="244475"/>
                </a:cubicBezTo>
                <a:lnTo>
                  <a:pt x="0" y="150019"/>
                </a:lnTo>
                <a:close/>
                <a:moveTo>
                  <a:pt x="177800" y="150019"/>
                </a:moveTo>
                <a:cubicBezTo>
                  <a:pt x="177800" y="103971"/>
                  <a:pt x="215096" y="66675"/>
                  <a:pt x="261144" y="66675"/>
                </a:cubicBezTo>
                <a:lnTo>
                  <a:pt x="266700" y="66675"/>
                </a:lnTo>
                <a:cubicBezTo>
                  <a:pt x="278993" y="66675"/>
                  <a:pt x="288925" y="76607"/>
                  <a:pt x="288925" y="88900"/>
                </a:cubicBezTo>
                <a:cubicBezTo>
                  <a:pt x="288925" y="101193"/>
                  <a:pt x="278993" y="111125"/>
                  <a:pt x="266700" y="111125"/>
                </a:cubicBezTo>
                <a:lnTo>
                  <a:pt x="261144" y="111125"/>
                </a:lnTo>
                <a:cubicBezTo>
                  <a:pt x="239683" y="111125"/>
                  <a:pt x="222250" y="128558"/>
                  <a:pt x="222250" y="150019"/>
                </a:cubicBezTo>
                <a:lnTo>
                  <a:pt x="222250" y="155575"/>
                </a:lnTo>
                <a:lnTo>
                  <a:pt x="266700" y="155575"/>
                </a:lnTo>
                <a:cubicBezTo>
                  <a:pt x="291217" y="155575"/>
                  <a:pt x="311150" y="175508"/>
                  <a:pt x="311150" y="200025"/>
                </a:cubicBezTo>
                <a:lnTo>
                  <a:pt x="311150" y="244475"/>
                </a:lnTo>
                <a:cubicBezTo>
                  <a:pt x="311150" y="268992"/>
                  <a:pt x="291217" y="288925"/>
                  <a:pt x="266700" y="288925"/>
                </a:cubicBezTo>
                <a:lnTo>
                  <a:pt x="222250" y="288925"/>
                </a:lnTo>
                <a:cubicBezTo>
                  <a:pt x="197733" y="288925"/>
                  <a:pt x="177800" y="268992"/>
                  <a:pt x="177800" y="244475"/>
                </a:cubicBezTo>
                <a:lnTo>
                  <a:pt x="177800" y="150019"/>
                </a:lnTo>
                <a:close/>
              </a:path>
            </a:pathLst>
          </a:custGeom>
          <a:solidFill>
            <a:srgbClr val="B8860B"/>
          </a:solidFill>
          <a:ln/>
        </p:spPr>
        <p:txBody>
          <a:bodyPr/>
          <a:lstStyle/>
          <a:p>
            <a:endParaRPr/>
          </a:p>
        </p:txBody>
      </p:sp>
      <p:sp>
        <p:nvSpPr>
          <p:cNvPr id="19" name="Text 17"/>
          <p:cNvSpPr/>
          <p:nvPr/>
        </p:nvSpPr>
        <p:spPr>
          <a:xfrm>
            <a:off x="9017000" y="2413000"/>
            <a:ext cx="6223000" cy="1905000"/>
          </a:xfrm>
          <a:prstGeom prst="rect">
            <a:avLst/>
          </a:prstGeom>
          <a:noFill/>
          <a:ln/>
        </p:spPr>
        <p:txBody>
          <a:bodyPr wrap="square" lIns="0" tIns="0" rIns="0" bIns="0" rtlCol="0" anchor="ctr"/>
          <a:lstStyle/>
          <a:p>
            <a:pPr>
              <a:lnSpc>
                <a:spcPct val="170000"/>
              </a:lnSpc>
            </a:pPr>
            <a:r>
              <a:rPr lang="en-US" sz="2400" dirty="0">
                <a:solidFill>
                  <a:srgbClr val="2C2C2C"/>
                </a:solidFill>
              </a:rPr>
              <a:t>	"我回国近三年来受到党的教育，使我体会到党的伟大，党为实现共产主义社会这一目标的伟大，我愿为这一目标奋斗并忠诚于党的事业。"</a:t>
            </a:r>
            <a:endParaRPr lang="en-US" sz="1600" dirty="0"/>
          </a:p>
          <a:p>
            <a:pPr algn="r">
              <a:lnSpc>
                <a:spcPct val="170000"/>
              </a:lnSpc>
            </a:pPr>
            <a:r>
              <a:rPr lang="en-US" sz="2400" dirty="0">
                <a:solidFill>
                  <a:srgbClr val="666666"/>
                </a:solidFill>
              </a:rPr>
              <a:t>——摘自1958年9月《入党申请书》</a:t>
            </a:r>
            <a:endParaRPr lang="en-US" sz="1600" dirty="0"/>
          </a:p>
        </p:txBody>
      </p:sp>
      <p:sp>
        <p:nvSpPr>
          <p:cNvPr id="20" name="Text 18"/>
          <p:cNvSpPr/>
          <p:nvPr/>
        </p:nvSpPr>
        <p:spPr>
          <a:xfrm>
            <a:off x="8636000" y="4572000"/>
            <a:ext cx="3810000" cy="355600"/>
          </a:xfrm>
          <a:prstGeom prst="rect">
            <a:avLst/>
          </a:prstGeom>
          <a:noFill/>
          <a:ln/>
        </p:spPr>
        <p:txBody>
          <a:bodyPr wrap="none" lIns="0" tIns="0" rIns="0" bIns="0" rtlCol="0" anchor="ctr"/>
          <a:lstStyle/>
          <a:p>
            <a:pPr>
              <a:lnSpc>
                <a:spcPct val="100000"/>
              </a:lnSpc>
            </a:pPr>
            <a:r>
              <a:rPr lang="en-US" sz="2400" b="1" dirty="0">
                <a:solidFill>
                  <a:srgbClr val="8B1A1A"/>
                </a:solidFill>
              </a:rPr>
              <a:t>关键时间</a:t>
            </a:r>
            <a:endParaRPr lang="en-US" sz="1600" dirty="0"/>
          </a:p>
        </p:txBody>
      </p:sp>
      <p:sp>
        <p:nvSpPr>
          <p:cNvPr id="21" name="Shape 19"/>
          <p:cNvSpPr/>
          <p:nvPr/>
        </p:nvSpPr>
        <p:spPr>
          <a:xfrm>
            <a:off x="8636000" y="5080000"/>
            <a:ext cx="3302000" cy="1270000"/>
          </a:xfrm>
          <a:prstGeom prst="rect">
            <a:avLst/>
          </a:prstGeom>
          <a:solidFill>
            <a:srgbClr val="8B1A1A"/>
          </a:solidFill>
          <a:ln/>
        </p:spPr>
        <p:txBody>
          <a:bodyPr/>
          <a:lstStyle/>
          <a:p>
            <a:endParaRPr/>
          </a:p>
        </p:txBody>
      </p:sp>
      <p:sp>
        <p:nvSpPr>
          <p:cNvPr id="22" name="Text 20"/>
          <p:cNvSpPr/>
          <p:nvPr/>
        </p:nvSpPr>
        <p:spPr>
          <a:xfrm>
            <a:off x="8636000" y="5181600"/>
            <a:ext cx="3302000" cy="635000"/>
          </a:xfrm>
          <a:prstGeom prst="rect">
            <a:avLst/>
          </a:prstGeom>
          <a:noFill/>
          <a:ln/>
        </p:spPr>
        <p:txBody>
          <a:bodyPr wrap="none" lIns="0" tIns="0" rIns="0" bIns="0" rtlCol="0" anchor="ctr"/>
          <a:lstStyle/>
          <a:p>
            <a:pPr algn="ctr">
              <a:lnSpc>
                <a:spcPct val="100000"/>
              </a:lnSpc>
            </a:pPr>
            <a:r>
              <a:rPr lang="en-US" sz="3600" b="1" dirty="0">
                <a:solidFill>
                  <a:srgbClr val="FFFFFF"/>
                </a:solidFill>
                <a:latin typeface="黑体" pitchFamily="34" charset="0"/>
                <a:ea typeface="黑体"/>
              </a:rPr>
              <a:t>5年</a:t>
            </a:r>
            <a:endParaRPr lang="en-US" sz="1600" dirty="0"/>
          </a:p>
        </p:txBody>
      </p:sp>
      <p:sp>
        <p:nvSpPr>
          <p:cNvPr id="23" name="Text 21"/>
          <p:cNvSpPr/>
          <p:nvPr/>
        </p:nvSpPr>
        <p:spPr>
          <a:xfrm>
            <a:off x="8636000" y="5867400"/>
            <a:ext cx="3302000" cy="3810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被软禁时间</a:t>
            </a:r>
            <a:endParaRPr lang="en-US" sz="1600" dirty="0"/>
          </a:p>
        </p:txBody>
      </p:sp>
      <p:sp>
        <p:nvSpPr>
          <p:cNvPr id="24" name="Shape 22"/>
          <p:cNvSpPr/>
          <p:nvPr/>
        </p:nvSpPr>
        <p:spPr>
          <a:xfrm>
            <a:off x="12192000" y="5080000"/>
            <a:ext cx="3429000" cy="1270000"/>
          </a:xfrm>
          <a:prstGeom prst="rect">
            <a:avLst/>
          </a:prstGeom>
          <a:solidFill>
            <a:srgbClr val="B8860B"/>
          </a:solidFill>
          <a:ln/>
        </p:spPr>
        <p:txBody>
          <a:bodyPr/>
          <a:lstStyle/>
          <a:p>
            <a:endParaRPr/>
          </a:p>
        </p:txBody>
      </p:sp>
      <p:sp>
        <p:nvSpPr>
          <p:cNvPr id="25" name="Text 23"/>
          <p:cNvSpPr/>
          <p:nvPr/>
        </p:nvSpPr>
        <p:spPr>
          <a:xfrm>
            <a:off x="12192000" y="5181600"/>
            <a:ext cx="3429000" cy="635000"/>
          </a:xfrm>
          <a:prstGeom prst="rect">
            <a:avLst/>
          </a:prstGeom>
          <a:noFill/>
          <a:ln/>
        </p:spPr>
        <p:txBody>
          <a:bodyPr wrap="none" lIns="0" tIns="0" rIns="0" bIns="0" rtlCol="0" anchor="ctr"/>
          <a:lstStyle/>
          <a:p>
            <a:pPr algn="ctr">
              <a:lnSpc>
                <a:spcPct val="100000"/>
              </a:lnSpc>
            </a:pPr>
            <a:r>
              <a:rPr lang="en-US" sz="3600" b="1" dirty="0">
                <a:solidFill>
                  <a:srgbClr val="FFFFFF"/>
                </a:solidFill>
                <a:latin typeface="黑体" pitchFamily="34" charset="0"/>
                <a:ea typeface="黑体"/>
              </a:rPr>
              <a:t>1955</a:t>
            </a:r>
            <a:endParaRPr lang="en-US" sz="1600" dirty="0"/>
          </a:p>
        </p:txBody>
      </p:sp>
      <p:sp>
        <p:nvSpPr>
          <p:cNvPr id="26" name="Text 24"/>
          <p:cNvSpPr/>
          <p:nvPr/>
        </p:nvSpPr>
        <p:spPr>
          <a:xfrm>
            <a:off x="12192000" y="5867400"/>
            <a:ext cx="3429000" cy="3810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终获自由年份</a:t>
            </a:r>
            <a:endParaRPr lang="en-US" sz="1600" dirty="0"/>
          </a:p>
        </p:txBody>
      </p:sp>
      <p:sp>
        <p:nvSpPr>
          <p:cNvPr id="27" name="Shape 25"/>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32512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归国时刻与陈赓对话</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651000"/>
            <a:ext cx="7620000" cy="3810000"/>
          </a:xfrm>
          <a:prstGeom prst="rect">
            <a:avLst/>
          </a:prstGeom>
          <a:solidFill>
            <a:srgbClr val="FFF5F5"/>
          </a:solidFill>
          <a:ln w="25400">
            <a:solidFill>
              <a:srgbClr val="8B1A1A"/>
            </a:solidFill>
            <a:prstDash val="solid"/>
          </a:ln>
        </p:spPr>
        <p:txBody>
          <a:bodyPr/>
          <a:lstStyle/>
          <a:p>
            <a:endParaRPr/>
          </a:p>
        </p:txBody>
      </p:sp>
      <p:sp>
        <p:nvSpPr>
          <p:cNvPr id="17" name="Shape 15"/>
          <p:cNvSpPr/>
          <p:nvPr/>
        </p:nvSpPr>
        <p:spPr>
          <a:xfrm>
            <a:off x="1047750" y="1905000"/>
            <a:ext cx="444500" cy="508000"/>
          </a:xfrm>
          <a:custGeom>
            <a:avLst/>
            <a:gdLst/>
            <a:ahLst/>
            <a:cxnLst/>
            <a:rect l="l" t="t" r="r" b="b"/>
            <a:pathLst>
              <a:path w="444500" h="508000">
                <a:moveTo>
                  <a:pt x="0" y="214313"/>
                </a:moveTo>
                <a:cubicBezTo>
                  <a:pt x="0" y="148530"/>
                  <a:pt x="53280" y="95250"/>
                  <a:pt x="119063" y="95250"/>
                </a:cubicBezTo>
                <a:lnTo>
                  <a:pt x="127000" y="95250"/>
                </a:lnTo>
                <a:cubicBezTo>
                  <a:pt x="144562" y="95250"/>
                  <a:pt x="158750" y="109438"/>
                  <a:pt x="158750" y="127000"/>
                </a:cubicBezTo>
                <a:cubicBezTo>
                  <a:pt x="158750" y="144562"/>
                  <a:pt x="144562" y="158750"/>
                  <a:pt x="127000" y="158750"/>
                </a:cubicBezTo>
                <a:lnTo>
                  <a:pt x="119063" y="158750"/>
                </a:lnTo>
                <a:cubicBezTo>
                  <a:pt x="88404" y="158750"/>
                  <a:pt x="63500" y="183654"/>
                  <a:pt x="63500" y="214313"/>
                </a:cubicBezTo>
                <a:lnTo>
                  <a:pt x="63500" y="222250"/>
                </a:lnTo>
                <a:lnTo>
                  <a:pt x="127000" y="222250"/>
                </a:lnTo>
                <a:cubicBezTo>
                  <a:pt x="162024" y="222250"/>
                  <a:pt x="190500" y="250726"/>
                  <a:pt x="190500" y="285750"/>
                </a:cubicBezTo>
                <a:lnTo>
                  <a:pt x="190500" y="349250"/>
                </a:lnTo>
                <a:cubicBezTo>
                  <a:pt x="190500" y="384274"/>
                  <a:pt x="162024" y="412750"/>
                  <a:pt x="127000" y="412750"/>
                </a:cubicBezTo>
                <a:lnTo>
                  <a:pt x="63500" y="412750"/>
                </a:lnTo>
                <a:cubicBezTo>
                  <a:pt x="28476" y="412750"/>
                  <a:pt x="0" y="384274"/>
                  <a:pt x="0" y="349250"/>
                </a:cubicBezTo>
                <a:lnTo>
                  <a:pt x="0" y="214313"/>
                </a:lnTo>
                <a:close/>
                <a:moveTo>
                  <a:pt x="254000" y="214313"/>
                </a:moveTo>
                <a:cubicBezTo>
                  <a:pt x="254000" y="148530"/>
                  <a:pt x="307280" y="95250"/>
                  <a:pt x="373063" y="95250"/>
                </a:cubicBezTo>
                <a:lnTo>
                  <a:pt x="381000" y="95250"/>
                </a:lnTo>
                <a:cubicBezTo>
                  <a:pt x="398562" y="95250"/>
                  <a:pt x="412750" y="109438"/>
                  <a:pt x="412750" y="127000"/>
                </a:cubicBezTo>
                <a:cubicBezTo>
                  <a:pt x="412750" y="144562"/>
                  <a:pt x="398562" y="158750"/>
                  <a:pt x="381000" y="158750"/>
                </a:cubicBezTo>
                <a:lnTo>
                  <a:pt x="373063" y="158750"/>
                </a:lnTo>
                <a:cubicBezTo>
                  <a:pt x="342404" y="158750"/>
                  <a:pt x="317500" y="183654"/>
                  <a:pt x="317500" y="214313"/>
                </a:cubicBezTo>
                <a:lnTo>
                  <a:pt x="317500" y="222250"/>
                </a:lnTo>
                <a:lnTo>
                  <a:pt x="381000" y="222250"/>
                </a:lnTo>
                <a:cubicBezTo>
                  <a:pt x="416024" y="222250"/>
                  <a:pt x="444500" y="250726"/>
                  <a:pt x="444500" y="285750"/>
                </a:cubicBezTo>
                <a:lnTo>
                  <a:pt x="444500" y="349250"/>
                </a:lnTo>
                <a:cubicBezTo>
                  <a:pt x="444500" y="384274"/>
                  <a:pt x="416024" y="412750"/>
                  <a:pt x="381000" y="412750"/>
                </a:cubicBezTo>
                <a:lnTo>
                  <a:pt x="317500" y="412750"/>
                </a:lnTo>
                <a:cubicBezTo>
                  <a:pt x="282476" y="412750"/>
                  <a:pt x="254000" y="384274"/>
                  <a:pt x="254000" y="349250"/>
                </a:cubicBezTo>
                <a:lnTo>
                  <a:pt x="254000" y="214313"/>
                </a:lnTo>
                <a:close/>
              </a:path>
            </a:pathLst>
          </a:custGeom>
          <a:solidFill>
            <a:srgbClr val="B8860B"/>
          </a:solidFill>
          <a:ln/>
        </p:spPr>
        <p:txBody>
          <a:bodyPr/>
          <a:lstStyle/>
          <a:p>
            <a:endParaRPr/>
          </a:p>
        </p:txBody>
      </p:sp>
      <p:sp>
        <p:nvSpPr>
          <p:cNvPr id="18" name="Text 16"/>
          <p:cNvSpPr/>
          <p:nvPr/>
        </p:nvSpPr>
        <p:spPr>
          <a:xfrm>
            <a:off x="1016000" y="2540000"/>
            <a:ext cx="6858000" cy="2540000"/>
          </a:xfrm>
          <a:prstGeom prst="rect">
            <a:avLst/>
          </a:prstGeom>
          <a:noFill/>
          <a:ln/>
        </p:spPr>
        <p:txBody>
          <a:bodyPr wrap="square" lIns="0" tIns="0" rIns="0" bIns="0" rtlCol="0" anchor="ctr"/>
          <a:lstStyle/>
          <a:p>
            <a:pPr>
              <a:lnSpc>
                <a:spcPct val="160000"/>
              </a:lnSpc>
            </a:pPr>
            <a:r>
              <a:rPr lang="en-US" sz="2400" b="1" dirty="0">
                <a:solidFill>
                  <a:srgbClr val="8B1A1A"/>
                </a:solidFill>
                <a:latin typeface="楷体" pitchFamily="34" charset="0"/>
                <a:ea typeface="楷体"/>
              </a:rPr>
              <a:t>"外国人能搞的，难道中国人不能搞？中国人比他们矮一截？"</a:t>
            </a:r>
            <a:endParaRPr lang="en-US" sz="1600" dirty="0"/>
          </a:p>
          <a:p>
            <a:pPr algn="r">
              <a:lnSpc>
                <a:spcPct val="160000"/>
              </a:lnSpc>
            </a:pPr>
            <a:r>
              <a:rPr lang="en-US" sz="2400" dirty="0">
                <a:solidFill>
                  <a:srgbClr val="666666"/>
                </a:solidFill>
              </a:rPr>
              <a:t>——钱学森回答陈赓大将</a:t>
            </a:r>
            <a:endParaRPr lang="en-US" sz="1600" dirty="0"/>
          </a:p>
        </p:txBody>
      </p:sp>
      <p:sp>
        <p:nvSpPr>
          <p:cNvPr id="19" name="Text 17"/>
          <p:cNvSpPr/>
          <p:nvPr/>
        </p:nvSpPr>
        <p:spPr>
          <a:xfrm>
            <a:off x="8636000" y="1651000"/>
            <a:ext cx="6985000" cy="3810000"/>
          </a:xfrm>
          <a:prstGeom prst="rect">
            <a:avLst/>
          </a:prstGeom>
          <a:noFill/>
          <a:ln/>
        </p:spPr>
        <p:txBody>
          <a:bodyPr wrap="square" lIns="0" tIns="0" rIns="0" bIns="0" rtlCol="0" anchor="ctr"/>
          <a:lstStyle/>
          <a:p>
            <a:pPr>
              <a:lnSpc>
                <a:spcPct val="170000"/>
              </a:lnSpc>
            </a:pPr>
            <a:r>
              <a:rPr lang="en-US" sz="2400" b="1" dirty="0">
                <a:solidFill>
                  <a:srgbClr val="2C2C2C"/>
                </a:solidFill>
              </a:rPr>
              <a:t>1955年10月</a:t>
            </a:r>
            <a:r>
              <a:rPr lang="en-US" sz="2400" dirty="0">
                <a:solidFill>
                  <a:srgbClr val="2C2C2C"/>
                </a:solidFill>
              </a:rPr>
              <a:t>，钱学森一家终于回到祖国。仅仅一个月后，他就深入东北地区考察调研。</a:t>
            </a:r>
            <a:endParaRPr lang="en-US" sz="1600" dirty="0"/>
          </a:p>
          <a:p>
            <a:pPr>
              <a:lnSpc>
                <a:spcPct val="170000"/>
              </a:lnSpc>
            </a:pPr>
            <a:r>
              <a:rPr lang="en-US" sz="2400" dirty="0">
                <a:solidFill>
                  <a:srgbClr val="2C2C2C"/>
                </a:solidFill>
              </a:rPr>
              <a:t>在</a:t>
            </a:r>
            <a:r>
              <a:rPr lang="en-US" sz="2400" b="1" dirty="0">
                <a:solidFill>
                  <a:srgbClr val="2C2C2C"/>
                </a:solidFill>
              </a:rPr>
              <a:t>哈尔滨军事工程学院</a:t>
            </a:r>
            <a:r>
              <a:rPr lang="en-US" sz="2400" dirty="0">
                <a:solidFill>
                  <a:srgbClr val="2C2C2C"/>
                </a:solidFill>
              </a:rPr>
              <a:t>，时任院长陈赓大将专程从北京赶来接待他，并提出了那个关键问题。</a:t>
            </a:r>
            <a:endParaRPr lang="en-US" sz="1600" dirty="0"/>
          </a:p>
          <a:p>
            <a:pPr>
              <a:lnSpc>
                <a:spcPct val="170000"/>
              </a:lnSpc>
            </a:pPr>
            <a:r>
              <a:rPr lang="en-US" sz="2400" dirty="0">
                <a:solidFill>
                  <a:srgbClr val="2C2C2C"/>
                </a:solidFill>
              </a:rPr>
              <a:t>钱学森掷地有声的回答，展现了战略家的远见与科学家的自信。陈赓向钱学森保证："我们一定要搞出自己的火箭和导弹！"</a:t>
            </a:r>
            <a:endParaRPr lang="en-US" sz="1600" dirty="0"/>
          </a:p>
        </p:txBody>
      </p:sp>
      <p:sp>
        <p:nvSpPr>
          <p:cNvPr id="20" name="Text 18"/>
          <p:cNvSpPr/>
          <p:nvPr/>
        </p:nvSpPr>
        <p:spPr>
          <a:xfrm>
            <a:off x="635000" y="5842000"/>
            <a:ext cx="3810000" cy="355600"/>
          </a:xfrm>
          <a:prstGeom prst="rect">
            <a:avLst/>
          </a:prstGeom>
          <a:noFill/>
          <a:ln/>
        </p:spPr>
        <p:txBody>
          <a:bodyPr wrap="none" lIns="0" tIns="0" rIns="0" bIns="0" rtlCol="0" anchor="ctr"/>
          <a:lstStyle/>
          <a:p>
            <a:pPr>
              <a:lnSpc>
                <a:spcPct val="100000"/>
              </a:lnSpc>
            </a:pPr>
            <a:r>
              <a:rPr lang="en-US" sz="2400" b="1" dirty="0">
                <a:solidFill>
                  <a:srgbClr val="8B1A1A"/>
                </a:solidFill>
              </a:rPr>
              <a:t>历史意义</a:t>
            </a:r>
            <a:endParaRPr lang="en-US" sz="1600" dirty="0"/>
          </a:p>
        </p:txBody>
      </p:sp>
      <p:sp>
        <p:nvSpPr>
          <p:cNvPr id="21" name="Shape 19"/>
          <p:cNvSpPr/>
          <p:nvPr/>
        </p:nvSpPr>
        <p:spPr>
          <a:xfrm>
            <a:off x="635000" y="62738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22" name="Text 20"/>
          <p:cNvSpPr/>
          <p:nvPr/>
        </p:nvSpPr>
        <p:spPr>
          <a:xfrm>
            <a:off x="635000" y="6477000"/>
            <a:ext cx="14903174" cy="1524000"/>
          </a:xfrm>
          <a:prstGeom prst="rect">
            <a:avLst/>
          </a:prstGeom>
          <a:noFill/>
          <a:ln/>
        </p:spPr>
        <p:txBody>
          <a:bodyPr wrap="square" lIns="0" tIns="0" rIns="0" bIns="0" rtlCol="0" anchor="ctr"/>
          <a:lstStyle/>
          <a:p>
            <a:pPr>
              <a:lnSpc>
                <a:spcPct val="170000"/>
              </a:lnSpc>
            </a:pPr>
            <a:r>
              <a:rPr lang="en-US" sz="2400" dirty="0">
                <a:solidFill>
                  <a:srgbClr val="2C2C2C"/>
                </a:solidFill>
              </a:rPr>
              <a:t>这次对话直接推动了新中国导弹事业的起步。就在这个夜晚，钱学森正式从美国导弹专家转变为中国的导弹专家；就在这个夜晚，中国"两弹一星"中的导弹研制计划正式提上了日程。此后，钱学森建议成立了航空工业委员会，并向中央提交了《建立我国国防航空工业意见书》。</a:t>
            </a:r>
            <a:endParaRPr lang="en-US" sz="1600" dirty="0"/>
          </a:p>
        </p:txBody>
      </p:sp>
      <p:sp>
        <p:nvSpPr>
          <p:cNvPr id="23" name="Shape 2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5080000" y="0"/>
            <a:ext cx="11176000" cy="9144000"/>
          </a:xfrm>
          <a:prstGeom prst="rect">
            <a:avLst/>
          </a:prstGeom>
          <a:gradFill flip="none" rotWithShape="1">
            <a:gsLst>
              <a:gs pos="0">
                <a:srgbClr val="8B1A1A"/>
              </a:gs>
              <a:gs pos="100000">
                <a:srgbClr val="5A0A0A"/>
              </a:gs>
            </a:gsLst>
            <a:lin ang="5400000" scaled="1"/>
          </a:gradFill>
          <a:ln/>
        </p:spPr>
        <p:txBody>
          <a:bodyPr/>
          <a:lstStyle/>
          <a:p>
            <a:endParaRPr/>
          </a:p>
        </p:txBody>
      </p:sp>
      <p:sp>
        <p:nvSpPr>
          <p:cNvPr id="3" name="Text 1"/>
          <p:cNvSpPr/>
          <p:nvPr/>
        </p:nvSpPr>
        <p:spPr>
          <a:xfrm>
            <a:off x="508000" y="2794000"/>
            <a:ext cx="4318000" cy="2540000"/>
          </a:xfrm>
          <a:prstGeom prst="rect">
            <a:avLst/>
          </a:prstGeom>
          <a:noFill/>
          <a:ln/>
        </p:spPr>
        <p:txBody>
          <a:bodyPr wrap="none" lIns="0" tIns="0" rIns="0" bIns="0" rtlCol="0" anchor="ctr"/>
          <a:lstStyle/>
          <a:p>
            <a:pPr>
              <a:lnSpc>
                <a:spcPct val="100000"/>
              </a:lnSpc>
            </a:pPr>
            <a:r>
              <a:rPr lang="en-US" sz="14000" b="1" dirty="0">
                <a:solidFill>
                  <a:srgbClr val="B8860B"/>
                </a:solidFill>
                <a:latin typeface="黑体" pitchFamily="34" charset="0"/>
                <a:ea typeface="黑体"/>
              </a:rPr>
              <a:t>03</a:t>
            </a:r>
            <a:endParaRPr lang="en-US" sz="1600" dirty="0"/>
          </a:p>
        </p:txBody>
      </p:sp>
      <p:sp>
        <p:nvSpPr>
          <p:cNvPr id="4" name="Shape 2"/>
          <p:cNvSpPr/>
          <p:nvPr/>
        </p:nvSpPr>
        <p:spPr>
          <a:xfrm>
            <a:off x="508000" y="5588000"/>
            <a:ext cx="4064000" cy="0"/>
          </a:xfrm>
          <a:prstGeom prst="straightConnector1">
            <a:avLst/>
          </a:prstGeom>
          <a:noFill/>
          <a:ln w="38100">
            <a:solidFill>
              <a:srgbClr val="B8860B"/>
            </a:solidFill>
            <a:prstDash val="solid"/>
            <a:headEnd type="none"/>
            <a:tailEnd type="none"/>
          </a:ln>
        </p:spPr>
        <p:txBody>
          <a:bodyPr/>
          <a:lstStyle/>
          <a:p>
            <a:endParaRPr/>
          </a:p>
        </p:txBody>
      </p:sp>
      <p:sp>
        <p:nvSpPr>
          <p:cNvPr id="5" name="Text 3"/>
          <p:cNvSpPr/>
          <p:nvPr/>
        </p:nvSpPr>
        <p:spPr>
          <a:xfrm>
            <a:off x="5842000" y="3302000"/>
            <a:ext cx="9144000" cy="762000"/>
          </a:xfrm>
          <a:prstGeom prst="rect">
            <a:avLst/>
          </a:prstGeom>
          <a:noFill/>
          <a:ln/>
        </p:spPr>
        <p:txBody>
          <a:bodyPr wrap="none" lIns="0" tIns="0" rIns="0" bIns="0" rtlCol="0" anchor="ctr"/>
          <a:lstStyle/>
          <a:p>
            <a:pPr>
              <a:lnSpc>
                <a:spcPct val="100000"/>
              </a:lnSpc>
            </a:pPr>
            <a:r>
              <a:rPr lang="en-US" sz="3800" b="1" dirty="0">
                <a:solidFill>
                  <a:srgbClr val="FFFFFF"/>
                </a:solidFill>
                <a:latin typeface="黑体" pitchFamily="34" charset="0"/>
                <a:ea typeface="黑体"/>
              </a:rPr>
              <a:t>攻关创新 科技强国</a:t>
            </a:r>
            <a:endParaRPr lang="en-US" sz="1600" dirty="0"/>
          </a:p>
        </p:txBody>
      </p:sp>
      <p:sp>
        <p:nvSpPr>
          <p:cNvPr id="6" name="Text 4"/>
          <p:cNvSpPr/>
          <p:nvPr/>
        </p:nvSpPr>
        <p:spPr>
          <a:xfrm>
            <a:off x="5842000" y="4191000"/>
            <a:ext cx="8890000" cy="355600"/>
          </a:xfrm>
          <a:prstGeom prst="rect">
            <a:avLst/>
          </a:prstGeom>
          <a:noFill/>
          <a:ln/>
        </p:spPr>
        <p:txBody>
          <a:bodyPr wrap="none" lIns="0" tIns="0" rIns="0" bIns="0" rtlCol="0" anchor="ctr"/>
          <a:lstStyle/>
          <a:p>
            <a:pPr>
              <a:lnSpc>
                <a:spcPct val="100000"/>
              </a:lnSpc>
            </a:pPr>
            <a:endParaRPr lang="en-US" sz="1600" dirty="0"/>
          </a:p>
        </p:txBody>
      </p:sp>
      <p:sp>
        <p:nvSpPr>
          <p:cNvPr id="7" name="Text 5"/>
          <p:cNvSpPr/>
          <p:nvPr/>
        </p:nvSpPr>
        <p:spPr>
          <a:xfrm>
            <a:off x="5842000" y="50800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3.1　创建国防部第五研究院</a:t>
            </a:r>
            <a:endParaRPr lang="en-US" sz="1600" dirty="0"/>
          </a:p>
        </p:txBody>
      </p:sp>
      <p:sp>
        <p:nvSpPr>
          <p:cNvPr id="8" name="Text 6"/>
          <p:cNvSpPr/>
          <p:nvPr/>
        </p:nvSpPr>
        <p:spPr>
          <a:xfrm>
            <a:off x="5842000" y="55118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3.2　导弹研制：东风系列一飞冲天</a:t>
            </a:r>
            <a:endParaRPr lang="en-US" sz="1600" dirty="0"/>
          </a:p>
        </p:txBody>
      </p:sp>
      <p:sp>
        <p:nvSpPr>
          <p:cNvPr id="9" name="Text 7"/>
          <p:cNvSpPr/>
          <p:nvPr/>
        </p:nvSpPr>
        <p:spPr>
          <a:xfrm>
            <a:off x="5842000" y="59436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3.3　两弹结合：核导弹威慑力量形成</a:t>
            </a:r>
            <a:endParaRPr lang="en-US" sz="1600" dirty="0"/>
          </a:p>
        </p:txBody>
      </p:sp>
      <p:sp>
        <p:nvSpPr>
          <p:cNvPr id="10" name="Text 8"/>
          <p:cNvSpPr/>
          <p:nvPr/>
        </p:nvSpPr>
        <p:spPr>
          <a:xfrm>
            <a:off x="5842000" y="63754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3.4　卫星飞天：东方红一号响彻寰宇</a:t>
            </a:r>
            <a:endParaRPr lang="en-US" sz="1600" dirty="0"/>
          </a:p>
        </p:txBody>
      </p:sp>
      <p:sp>
        <p:nvSpPr>
          <p:cNvPr id="11" name="Shape 9"/>
          <p:cNvSpPr/>
          <p:nvPr/>
        </p:nvSpPr>
        <p:spPr>
          <a:xfrm>
            <a:off x="5842000" y="31496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12"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2400" dirty="0">
                <a:solidFill>
                  <a:srgbClr val="FFFFFF">
                    <a:alpha val="66667"/>
                  </a:srgbClr>
                </a:solidFill>
              </a:rPr>
              <a:t>11</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65024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创建国防部第五研究院</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14986000" cy="6350000"/>
          </a:xfrm>
          <a:prstGeom prst="rect">
            <a:avLst/>
          </a:prstGeom>
          <a:solidFill>
            <a:srgbClr val="FFF5F5"/>
          </a:solidFill>
          <a:ln/>
        </p:spPr>
        <p:txBody>
          <a:bodyPr/>
          <a:lstStyle/>
          <a:p>
            <a:endParaRPr/>
          </a:p>
        </p:txBody>
      </p:sp>
      <p:sp>
        <p:nvSpPr>
          <p:cNvPr id="17" name="Shape 15"/>
          <p:cNvSpPr/>
          <p:nvPr/>
        </p:nvSpPr>
        <p:spPr>
          <a:xfrm>
            <a:off x="914400" y="1879600"/>
            <a:ext cx="127000" cy="127000"/>
          </a:xfrm>
          <a:prstGeom prst="ellipse">
            <a:avLst/>
          </a:prstGeom>
          <a:solidFill>
            <a:srgbClr val="8B1A1A"/>
          </a:solidFill>
          <a:ln/>
        </p:spPr>
        <p:txBody>
          <a:bodyPr/>
          <a:lstStyle/>
          <a:p>
            <a:endParaRPr/>
          </a:p>
        </p:txBody>
      </p:sp>
      <p:sp>
        <p:nvSpPr>
          <p:cNvPr id="18" name="Text 16"/>
          <p:cNvSpPr/>
          <p:nvPr/>
        </p:nvSpPr>
        <p:spPr>
          <a:xfrm>
            <a:off x="1219200" y="1752600"/>
            <a:ext cx="13970000" cy="508000"/>
          </a:xfrm>
          <a:prstGeom prst="rect">
            <a:avLst/>
          </a:prstGeom>
          <a:noFill/>
          <a:ln/>
        </p:spPr>
        <p:txBody>
          <a:bodyPr wrap="square" lIns="0" tIns="0" rIns="0" bIns="0" rtlCol="0" anchor="ctr"/>
          <a:lstStyle/>
          <a:p>
            <a:pPr>
              <a:lnSpc>
                <a:spcPct val="100000"/>
              </a:lnSpc>
            </a:pPr>
            <a:r>
              <a:rPr lang="en-US" sz="2400" b="1" dirty="0">
                <a:solidFill>
                  <a:srgbClr val="2C2C2C"/>
                </a:solidFill>
              </a:rPr>
              <a:t>1956年2月</a:t>
            </a:r>
            <a:r>
              <a:rPr lang="en-US" sz="2400" dirty="0">
                <a:solidFill>
                  <a:srgbClr val="2C2C2C"/>
                </a:solidFill>
              </a:rPr>
              <a:t>，钱学森向中央提交《建立我国国防航空工业意见书》，首次系统规划中国导弹发展蓝图，被党中央高度重视。</a:t>
            </a:r>
            <a:endParaRPr lang="en-US" sz="1600" dirty="0"/>
          </a:p>
        </p:txBody>
      </p:sp>
      <p:sp>
        <p:nvSpPr>
          <p:cNvPr id="19" name="Shape 17"/>
          <p:cNvSpPr/>
          <p:nvPr/>
        </p:nvSpPr>
        <p:spPr>
          <a:xfrm>
            <a:off x="914400" y="2895600"/>
            <a:ext cx="127000" cy="127000"/>
          </a:xfrm>
          <a:prstGeom prst="ellipse">
            <a:avLst/>
          </a:prstGeom>
          <a:solidFill>
            <a:srgbClr val="8B1A1A"/>
          </a:solidFill>
          <a:ln/>
        </p:spPr>
        <p:txBody>
          <a:bodyPr/>
          <a:lstStyle/>
          <a:p>
            <a:endParaRPr/>
          </a:p>
        </p:txBody>
      </p:sp>
      <p:sp>
        <p:nvSpPr>
          <p:cNvPr id="20" name="Text 18"/>
          <p:cNvSpPr/>
          <p:nvPr/>
        </p:nvSpPr>
        <p:spPr>
          <a:xfrm>
            <a:off x="1219200" y="2768600"/>
            <a:ext cx="13970000" cy="508000"/>
          </a:xfrm>
          <a:prstGeom prst="rect">
            <a:avLst/>
          </a:prstGeom>
          <a:noFill/>
          <a:ln/>
        </p:spPr>
        <p:txBody>
          <a:bodyPr wrap="square" lIns="0" tIns="0" rIns="0" bIns="0" rtlCol="0" anchor="ctr"/>
          <a:lstStyle/>
          <a:p>
            <a:pPr>
              <a:lnSpc>
                <a:spcPct val="100000"/>
              </a:lnSpc>
            </a:pPr>
            <a:r>
              <a:rPr lang="en-US" sz="2400" b="1" dirty="0">
                <a:solidFill>
                  <a:srgbClr val="2C2C2C"/>
                </a:solidFill>
              </a:rPr>
              <a:t>1956年10月8日</a:t>
            </a:r>
            <a:r>
              <a:rPr lang="en-US" sz="2400" dirty="0">
                <a:solidFill>
                  <a:srgbClr val="2C2C2C"/>
                </a:solidFill>
              </a:rPr>
              <a:t>，国防部第五研究院正式成立，钱学森任首任院长。这是新中国第一个导弹研究机构，标志着中国航天事业正式起步。</a:t>
            </a:r>
            <a:endParaRPr lang="en-US" sz="1600" dirty="0"/>
          </a:p>
        </p:txBody>
      </p:sp>
      <p:sp>
        <p:nvSpPr>
          <p:cNvPr id="21" name="Shape 19"/>
          <p:cNvSpPr/>
          <p:nvPr/>
        </p:nvSpPr>
        <p:spPr>
          <a:xfrm>
            <a:off x="914400" y="3911600"/>
            <a:ext cx="127000" cy="127000"/>
          </a:xfrm>
          <a:prstGeom prst="ellipse">
            <a:avLst/>
          </a:prstGeom>
          <a:solidFill>
            <a:srgbClr val="8B1A1A"/>
          </a:solidFill>
          <a:ln/>
        </p:spPr>
        <p:txBody>
          <a:bodyPr/>
          <a:lstStyle/>
          <a:p>
            <a:endParaRPr/>
          </a:p>
        </p:txBody>
      </p:sp>
      <p:sp>
        <p:nvSpPr>
          <p:cNvPr id="22" name="Text 20"/>
          <p:cNvSpPr/>
          <p:nvPr/>
        </p:nvSpPr>
        <p:spPr>
          <a:xfrm>
            <a:off x="1219200" y="3784600"/>
            <a:ext cx="13970000" cy="508000"/>
          </a:xfrm>
          <a:prstGeom prst="rect">
            <a:avLst/>
          </a:prstGeom>
          <a:noFill/>
          <a:ln/>
        </p:spPr>
        <p:txBody>
          <a:bodyPr wrap="square" lIns="0" tIns="0" rIns="0" bIns="0" rtlCol="0" anchor="ctr"/>
          <a:lstStyle/>
          <a:p>
            <a:pPr>
              <a:lnSpc>
                <a:spcPct val="100000"/>
              </a:lnSpc>
            </a:pPr>
            <a:r>
              <a:rPr lang="en-US" sz="2400" dirty="0">
                <a:solidFill>
                  <a:srgbClr val="2C2C2C"/>
                </a:solidFill>
              </a:rPr>
              <a:t>面对</a:t>
            </a:r>
            <a:r>
              <a:rPr lang="en-US" sz="2400" b="1" dirty="0">
                <a:solidFill>
                  <a:srgbClr val="2C2C2C"/>
                </a:solidFill>
              </a:rPr>
              <a:t>"无图纸、无设备、无人才"</a:t>
            </a:r>
            <a:r>
              <a:rPr lang="en-US" sz="2400" dirty="0">
                <a:solidFill>
                  <a:srgbClr val="2C2C2C"/>
                </a:solidFill>
              </a:rPr>
              <a:t>的困境，钱学森从最基础工作干起，亲自编撰《导弹概论》，为中国第一代航天人启蒙。</a:t>
            </a:r>
            <a:endParaRPr lang="en-US" sz="1600" dirty="0"/>
          </a:p>
        </p:txBody>
      </p:sp>
      <p:sp>
        <p:nvSpPr>
          <p:cNvPr id="23" name="Shape 21"/>
          <p:cNvSpPr/>
          <p:nvPr/>
        </p:nvSpPr>
        <p:spPr>
          <a:xfrm>
            <a:off x="914400" y="4927600"/>
            <a:ext cx="127000" cy="127000"/>
          </a:xfrm>
          <a:prstGeom prst="ellipse">
            <a:avLst/>
          </a:prstGeom>
          <a:solidFill>
            <a:srgbClr val="8B1A1A"/>
          </a:solidFill>
          <a:ln/>
        </p:spPr>
        <p:txBody>
          <a:bodyPr/>
          <a:lstStyle/>
          <a:p>
            <a:endParaRPr/>
          </a:p>
        </p:txBody>
      </p:sp>
      <p:sp>
        <p:nvSpPr>
          <p:cNvPr id="24" name="Text 22"/>
          <p:cNvSpPr/>
          <p:nvPr/>
        </p:nvSpPr>
        <p:spPr>
          <a:xfrm>
            <a:off x="1219200" y="4800600"/>
            <a:ext cx="13970000" cy="508000"/>
          </a:xfrm>
          <a:prstGeom prst="rect">
            <a:avLst/>
          </a:prstGeom>
          <a:noFill/>
          <a:ln/>
        </p:spPr>
        <p:txBody>
          <a:bodyPr wrap="square" lIns="0" tIns="0" rIns="0" bIns="0" rtlCol="0" anchor="ctr"/>
          <a:lstStyle/>
          <a:p>
            <a:pPr>
              <a:lnSpc>
                <a:spcPct val="100000"/>
              </a:lnSpc>
            </a:pPr>
            <a:r>
              <a:rPr lang="en-US" sz="2400" dirty="0">
                <a:solidFill>
                  <a:srgbClr val="2C2C2C"/>
                </a:solidFill>
              </a:rPr>
              <a:t>团队仅有</a:t>
            </a:r>
            <a:r>
              <a:rPr lang="en-US" sz="2400" b="1" dirty="0">
                <a:solidFill>
                  <a:srgbClr val="2C2C2C"/>
                </a:solidFill>
              </a:rPr>
              <a:t>156名大学生</a:t>
            </a:r>
            <a:r>
              <a:rPr lang="en-US" sz="2400" dirty="0">
                <a:solidFill>
                  <a:srgbClr val="2C2C2C"/>
                </a:solidFill>
              </a:rPr>
              <a:t>，许多人连导弹都没见过。钱学森白天讲授《导弹概论》，夜晚翻译苏联资料，在煤油灯下演算弹道数据。</a:t>
            </a:r>
            <a:endParaRPr lang="en-US" sz="1600" dirty="0"/>
          </a:p>
        </p:txBody>
      </p:sp>
      <p:sp>
        <p:nvSpPr>
          <p:cNvPr id="25" name="Shape 23"/>
          <p:cNvSpPr/>
          <p:nvPr/>
        </p:nvSpPr>
        <p:spPr>
          <a:xfrm>
            <a:off x="863600" y="5724939"/>
            <a:ext cx="14528800" cy="960783"/>
          </a:xfrm>
          <a:prstGeom prst="rect">
            <a:avLst/>
          </a:prstGeom>
          <a:solidFill>
            <a:srgbClr val="FFFFFF"/>
          </a:solidFill>
          <a:ln w="25400">
            <a:solidFill>
              <a:srgbClr val="B8860B"/>
            </a:solidFill>
            <a:prstDash val="solid"/>
          </a:ln>
        </p:spPr>
        <p:txBody>
          <a:bodyPr/>
          <a:lstStyle/>
          <a:p>
            <a:endParaRPr/>
          </a:p>
        </p:txBody>
      </p:sp>
      <p:sp>
        <p:nvSpPr>
          <p:cNvPr id="26" name="Text 24"/>
          <p:cNvSpPr/>
          <p:nvPr/>
        </p:nvSpPr>
        <p:spPr>
          <a:xfrm>
            <a:off x="1066800" y="5969000"/>
            <a:ext cx="14122400" cy="457200"/>
          </a:xfrm>
          <a:prstGeom prst="rect">
            <a:avLst/>
          </a:prstGeom>
          <a:noFill/>
          <a:ln/>
        </p:spPr>
        <p:txBody>
          <a:bodyPr wrap="square" lIns="0" tIns="0" rIns="0" bIns="0" rtlCol="0" anchor="ctr"/>
          <a:lstStyle/>
          <a:p>
            <a:pPr>
              <a:lnSpc>
                <a:spcPct val="100000"/>
              </a:lnSpc>
            </a:pPr>
            <a:r>
              <a:rPr lang="en-US" sz="2400" b="1" dirty="0">
                <a:solidFill>
                  <a:srgbClr val="8B1A1A"/>
                </a:solidFill>
              </a:rPr>
              <a:t>核心意义：</a:t>
            </a:r>
            <a:r>
              <a:rPr lang="en-US" sz="2400" dirty="0">
                <a:solidFill>
                  <a:srgbClr val="8B1A1A"/>
                </a:solidFill>
              </a:rPr>
              <a:t>国防部五院的成立，标志着中国从"无"到"有"迈出了导弹事业的第一步，钱学森带领团队白手起家、自力更生。</a:t>
            </a:r>
            <a:endParaRPr lang="en-US" sz="1600" dirty="0"/>
          </a:p>
        </p:txBody>
      </p:sp>
      <p:sp>
        <p:nvSpPr>
          <p:cNvPr id="27" name="Shape 25"/>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65024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导弹研制：东风系列一飞冲天</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Text 14"/>
          <p:cNvSpPr/>
          <p:nvPr/>
        </p:nvSpPr>
        <p:spPr>
          <a:xfrm>
            <a:off x="635000" y="1651000"/>
            <a:ext cx="7620000" cy="3810000"/>
          </a:xfrm>
          <a:prstGeom prst="rect">
            <a:avLst/>
          </a:prstGeom>
          <a:noFill/>
          <a:ln/>
        </p:spPr>
        <p:txBody>
          <a:bodyPr wrap="square" lIns="0" tIns="0" rIns="0" bIns="0" rtlCol="0" anchor="ctr"/>
          <a:lstStyle/>
          <a:p>
            <a:pPr>
              <a:lnSpc>
                <a:spcPct val="170000"/>
              </a:lnSpc>
            </a:pPr>
            <a:r>
              <a:rPr lang="en-US" sz="2400" b="1" dirty="0">
                <a:solidFill>
                  <a:srgbClr val="2C2C2C"/>
                </a:solidFill>
              </a:rPr>
              <a:t>1960年11月5日</a:t>
            </a:r>
            <a:r>
              <a:rPr lang="en-US" sz="2400" dirty="0">
                <a:solidFill>
                  <a:srgbClr val="2C2C2C"/>
                </a:solidFill>
              </a:rPr>
              <a:t>，中国第一枚国产近程导弹</a:t>
            </a:r>
            <a:r>
              <a:rPr lang="en-US" sz="2400" b="1" dirty="0">
                <a:solidFill>
                  <a:srgbClr val="2C2C2C"/>
                </a:solidFill>
              </a:rPr>
              <a:t>"东风一号"</a:t>
            </a:r>
            <a:r>
              <a:rPr lang="en-US" sz="2400" dirty="0">
                <a:solidFill>
                  <a:srgbClr val="2C2C2C"/>
                </a:solidFill>
              </a:rPr>
              <a:t>发射成功，飞行550公里后准确击中目标。</a:t>
            </a:r>
            <a:endParaRPr lang="en-US" sz="1600" dirty="0"/>
          </a:p>
          <a:p>
            <a:pPr>
              <a:lnSpc>
                <a:spcPct val="170000"/>
              </a:lnSpc>
            </a:pPr>
            <a:r>
              <a:rPr lang="en-US" sz="2400" dirty="0">
                <a:solidFill>
                  <a:srgbClr val="2C2C2C"/>
                </a:solidFill>
              </a:rPr>
              <a:t>聂荣臻元帅在庆祝酒会上高举酒杯说：</a:t>
            </a:r>
            <a:r>
              <a:rPr lang="en-US" sz="2400" b="1" dirty="0">
                <a:solidFill>
                  <a:srgbClr val="8B1A1A"/>
                </a:solidFill>
              </a:rPr>
              <a:t>"今天，在祖国的地平线上第一次飞起了我国自己制造的第一枚导弹，这是一枚'争气弹'！"</a:t>
            </a:r>
            <a:endParaRPr lang="en-US" sz="1600" dirty="0"/>
          </a:p>
          <a:p>
            <a:pPr>
              <a:lnSpc>
                <a:spcPct val="170000"/>
              </a:lnSpc>
            </a:pPr>
            <a:r>
              <a:rPr lang="en-US" sz="2400" b="1" dirty="0">
                <a:solidFill>
                  <a:srgbClr val="2C2C2C"/>
                </a:solidFill>
              </a:rPr>
              <a:t>1964年6月</a:t>
            </a:r>
            <a:r>
              <a:rPr lang="en-US" sz="2400" dirty="0">
                <a:solidFill>
                  <a:srgbClr val="2C2C2C"/>
                </a:solidFill>
              </a:rPr>
              <a:t>，"东风二号"飞行试验成功，宣告中国导弹事业从仿制走向独立研制。</a:t>
            </a:r>
            <a:endParaRPr lang="en-US" sz="1600" dirty="0"/>
          </a:p>
        </p:txBody>
      </p:sp>
      <p:sp>
        <p:nvSpPr>
          <p:cNvPr id="17" name="Shape 15"/>
          <p:cNvSpPr/>
          <p:nvPr/>
        </p:nvSpPr>
        <p:spPr>
          <a:xfrm>
            <a:off x="10703339" y="2692401"/>
            <a:ext cx="3429000" cy="1651000"/>
          </a:xfrm>
          <a:prstGeom prst="rect">
            <a:avLst/>
          </a:prstGeom>
          <a:solidFill>
            <a:srgbClr val="8B1A1A"/>
          </a:solidFill>
          <a:ln/>
        </p:spPr>
        <p:txBody>
          <a:bodyPr/>
          <a:lstStyle/>
          <a:p>
            <a:endParaRPr/>
          </a:p>
        </p:txBody>
      </p:sp>
      <p:sp>
        <p:nvSpPr>
          <p:cNvPr id="18" name="Text 16"/>
          <p:cNvSpPr/>
          <p:nvPr/>
        </p:nvSpPr>
        <p:spPr>
          <a:xfrm>
            <a:off x="10703339" y="2794001"/>
            <a:ext cx="3429000" cy="762000"/>
          </a:xfrm>
          <a:prstGeom prst="rect">
            <a:avLst/>
          </a:prstGeom>
          <a:noFill/>
          <a:ln/>
        </p:spPr>
        <p:txBody>
          <a:bodyPr wrap="none" lIns="0" tIns="0" rIns="0" bIns="0" rtlCol="0" anchor="ctr"/>
          <a:lstStyle/>
          <a:p>
            <a:pPr algn="ctr">
              <a:lnSpc>
                <a:spcPct val="100000"/>
              </a:lnSpc>
            </a:pPr>
            <a:r>
              <a:rPr lang="en-US" sz="4400" b="1" dirty="0">
                <a:solidFill>
                  <a:srgbClr val="FFFFFF"/>
                </a:solidFill>
                <a:latin typeface="黑体" pitchFamily="34" charset="0"/>
                <a:ea typeface="黑体"/>
              </a:rPr>
              <a:t>1960</a:t>
            </a:r>
            <a:endParaRPr lang="en-US" sz="1600" dirty="0"/>
          </a:p>
        </p:txBody>
      </p:sp>
      <p:sp>
        <p:nvSpPr>
          <p:cNvPr id="19" name="Text 17"/>
          <p:cNvSpPr/>
          <p:nvPr/>
        </p:nvSpPr>
        <p:spPr>
          <a:xfrm>
            <a:off x="10703339" y="3606801"/>
            <a:ext cx="3429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东风一号发射成功</a:t>
            </a:r>
            <a:endParaRPr lang="en-US" sz="1600" dirty="0"/>
          </a:p>
        </p:txBody>
      </p:sp>
      <p:sp>
        <p:nvSpPr>
          <p:cNvPr id="21" name="Text 19"/>
          <p:cNvSpPr/>
          <p:nvPr/>
        </p:nvSpPr>
        <p:spPr>
          <a:xfrm>
            <a:off x="12192000" y="1752600"/>
            <a:ext cx="3429000" cy="762000"/>
          </a:xfrm>
          <a:prstGeom prst="rect">
            <a:avLst/>
          </a:prstGeom>
          <a:noFill/>
          <a:ln/>
        </p:spPr>
        <p:txBody>
          <a:bodyPr wrap="none" lIns="0" tIns="0" rIns="0" bIns="0" rtlCol="0" anchor="ctr"/>
          <a:lstStyle/>
          <a:p>
            <a:pPr algn="ctr">
              <a:lnSpc>
                <a:spcPct val="100000"/>
              </a:lnSpc>
            </a:pPr>
            <a:endParaRPr lang="en-US" sz="1600" dirty="0"/>
          </a:p>
        </p:txBody>
      </p:sp>
      <p:sp>
        <p:nvSpPr>
          <p:cNvPr id="23" name="Shape 21"/>
          <p:cNvSpPr/>
          <p:nvPr/>
        </p:nvSpPr>
        <p:spPr>
          <a:xfrm>
            <a:off x="635000" y="5842000"/>
            <a:ext cx="14986000" cy="2540000"/>
          </a:xfrm>
          <a:prstGeom prst="rect">
            <a:avLst/>
          </a:prstGeom>
          <a:solidFill>
            <a:srgbClr val="FFF5F5"/>
          </a:solidFill>
          <a:ln w="12700">
            <a:solidFill>
              <a:srgbClr val="8B1A1A">
                <a:alpha val="25098"/>
              </a:srgbClr>
            </a:solidFill>
            <a:prstDash val="solid"/>
          </a:ln>
        </p:spPr>
        <p:txBody>
          <a:bodyPr/>
          <a:lstStyle/>
          <a:p>
            <a:endParaRPr/>
          </a:p>
        </p:txBody>
      </p:sp>
      <p:sp>
        <p:nvSpPr>
          <p:cNvPr id="24" name="Text 22"/>
          <p:cNvSpPr/>
          <p:nvPr/>
        </p:nvSpPr>
        <p:spPr>
          <a:xfrm>
            <a:off x="863600" y="5952987"/>
            <a:ext cx="3810000" cy="355600"/>
          </a:xfrm>
          <a:prstGeom prst="rect">
            <a:avLst/>
          </a:prstGeom>
          <a:noFill/>
          <a:ln/>
        </p:spPr>
        <p:txBody>
          <a:bodyPr wrap="none" lIns="0" tIns="0" rIns="0" bIns="0" rtlCol="0" anchor="ctr"/>
          <a:lstStyle/>
          <a:p>
            <a:pPr>
              <a:lnSpc>
                <a:spcPct val="100000"/>
              </a:lnSpc>
            </a:pPr>
            <a:r>
              <a:rPr lang="en-US" sz="2400" b="1" dirty="0">
                <a:solidFill>
                  <a:srgbClr val="8B1A1A"/>
                </a:solidFill>
              </a:rPr>
              <a:t>后续导弹成就</a:t>
            </a:r>
            <a:endParaRPr lang="en-US" sz="1600" dirty="0"/>
          </a:p>
        </p:txBody>
      </p:sp>
      <p:sp>
        <p:nvSpPr>
          <p:cNvPr id="25" name="Text 23"/>
          <p:cNvSpPr/>
          <p:nvPr/>
        </p:nvSpPr>
        <p:spPr>
          <a:xfrm>
            <a:off x="889000" y="6477000"/>
            <a:ext cx="14478000" cy="1651000"/>
          </a:xfrm>
          <a:prstGeom prst="rect">
            <a:avLst/>
          </a:prstGeom>
          <a:noFill/>
          <a:ln/>
        </p:spPr>
        <p:txBody>
          <a:bodyPr wrap="square" lIns="0" tIns="0" rIns="0" bIns="0" rtlCol="0" anchor="ctr"/>
          <a:lstStyle/>
          <a:p>
            <a:pPr>
              <a:lnSpc>
                <a:spcPct val="170000"/>
              </a:lnSpc>
            </a:pPr>
            <a:r>
              <a:rPr lang="en-US" sz="2000" dirty="0">
                <a:solidFill>
                  <a:srgbClr val="2C2C2C"/>
                </a:solidFill>
              </a:rPr>
              <a:t>• 此后二十多年，钱学森作为总负责人研制了多个"第一枚"导弹</a:t>
            </a:r>
            <a:endParaRPr lang="en-US" sz="2000" dirty="0"/>
          </a:p>
          <a:p>
            <a:pPr>
              <a:lnSpc>
                <a:spcPct val="170000"/>
              </a:lnSpc>
            </a:pPr>
            <a:r>
              <a:rPr lang="en-US" sz="2000" dirty="0">
                <a:solidFill>
                  <a:srgbClr val="2C2C2C"/>
                </a:solidFill>
              </a:rPr>
              <a:t>• 从近程导弹到中程、远程导弹，中国导弹技术实现跨越式发展</a:t>
            </a:r>
            <a:endParaRPr lang="en-US" sz="2000" dirty="0"/>
          </a:p>
          <a:p>
            <a:pPr>
              <a:lnSpc>
                <a:spcPct val="170000"/>
              </a:lnSpc>
            </a:pPr>
            <a:r>
              <a:rPr lang="en-US" sz="2000" dirty="0">
                <a:solidFill>
                  <a:srgbClr val="2C2C2C"/>
                </a:solidFill>
              </a:rPr>
              <a:t>• 钱学森的创新提出"总体设计部"系统工程理论，被推广至全国工业领域</a:t>
            </a:r>
            <a:endParaRPr lang="en-US" sz="2000" dirty="0"/>
          </a:p>
          <a:p>
            <a:pPr>
              <a:lnSpc>
                <a:spcPct val="170000"/>
              </a:lnSpc>
            </a:pPr>
            <a:r>
              <a:rPr lang="en-US" sz="2000" dirty="0">
                <a:solidFill>
                  <a:srgbClr val="2C2C2C"/>
                </a:solidFill>
              </a:rPr>
              <a:t>• 由于钱学森回国效力，中国导弹、原子弹发射向前推进了至少20年</a:t>
            </a:r>
            <a:endParaRPr lang="en-US" sz="2000" dirty="0"/>
          </a:p>
        </p:txBody>
      </p:sp>
      <p:sp>
        <p:nvSpPr>
          <p:cNvPr id="26" name="Shape 24"/>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65024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两弹结合：核导弹威慑力量形成</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7366000" cy="5334000"/>
          </a:xfrm>
          <a:prstGeom prst="rect">
            <a:avLst/>
          </a:prstGeom>
          <a:solidFill>
            <a:srgbClr val="FFF5F5"/>
          </a:solidFill>
          <a:ln w="12700">
            <a:solidFill>
              <a:srgbClr val="8B1A1A">
                <a:alpha val="25098"/>
              </a:srgbClr>
            </a:solidFill>
            <a:prstDash val="solid"/>
          </a:ln>
        </p:spPr>
        <p:txBody>
          <a:bodyPr/>
          <a:lstStyle/>
          <a:p>
            <a:endParaRPr/>
          </a:p>
        </p:txBody>
      </p:sp>
      <p:sp>
        <p:nvSpPr>
          <p:cNvPr id="17" name="Text 15"/>
          <p:cNvSpPr/>
          <p:nvPr/>
        </p:nvSpPr>
        <p:spPr>
          <a:xfrm>
            <a:off x="889000" y="1778000"/>
            <a:ext cx="6858000" cy="4826000"/>
          </a:xfrm>
          <a:prstGeom prst="rect">
            <a:avLst/>
          </a:prstGeom>
          <a:noFill/>
          <a:ln/>
        </p:spPr>
        <p:txBody>
          <a:bodyPr wrap="square" lIns="0" tIns="0" rIns="0" bIns="0" rtlCol="0" anchor="ctr"/>
          <a:lstStyle/>
          <a:p>
            <a:pPr>
              <a:lnSpc>
                <a:spcPct val="170000"/>
              </a:lnSpc>
            </a:pPr>
            <a:r>
              <a:rPr lang="en-US" sz="2000" b="1" dirty="0">
                <a:solidFill>
                  <a:srgbClr val="2C2C2C"/>
                </a:solidFill>
              </a:rPr>
              <a:t>1966年10月27日</a:t>
            </a:r>
            <a:r>
              <a:rPr lang="en-US" sz="2000" dirty="0">
                <a:solidFill>
                  <a:srgbClr val="2C2C2C"/>
                </a:solidFill>
              </a:rPr>
              <a:t>，中国首次"两弹结合"试验成功——导弹运载核弹头准确命中目标。</a:t>
            </a:r>
            <a:endParaRPr lang="en-US" sz="2000" dirty="0"/>
          </a:p>
          <a:p>
            <a:pPr>
              <a:lnSpc>
                <a:spcPct val="170000"/>
              </a:lnSpc>
            </a:pPr>
            <a:r>
              <a:rPr lang="en-US" sz="2000" dirty="0">
                <a:solidFill>
                  <a:srgbClr val="2C2C2C"/>
                </a:solidFill>
              </a:rPr>
              <a:t>钱学森作为</a:t>
            </a:r>
            <a:r>
              <a:rPr lang="en-US" sz="2000" b="1" dirty="0">
                <a:solidFill>
                  <a:srgbClr val="2C2C2C"/>
                </a:solidFill>
              </a:rPr>
              <a:t>技术总负责人</a:t>
            </a:r>
            <a:r>
              <a:rPr lang="en-US" sz="2000" dirty="0">
                <a:solidFill>
                  <a:srgbClr val="2C2C2C"/>
                </a:solidFill>
              </a:rPr>
              <a:t>，协助聂荣臻成功组织实施。从此，中国的核导弹具备了威慑与实战能力。</a:t>
            </a:r>
            <a:endParaRPr lang="en-US" sz="2000" dirty="0"/>
          </a:p>
          <a:p>
            <a:pPr>
              <a:lnSpc>
                <a:spcPct val="170000"/>
              </a:lnSpc>
            </a:pPr>
            <a:r>
              <a:rPr lang="en-US" sz="2000" dirty="0">
                <a:solidFill>
                  <a:srgbClr val="2C2C2C"/>
                </a:solidFill>
              </a:rPr>
              <a:t>从第一颗原子弹爆炸到导弹核武器成功，中国仅用</a:t>
            </a:r>
            <a:r>
              <a:rPr lang="en-US" sz="2000" b="1" dirty="0">
                <a:solidFill>
                  <a:srgbClr val="2C2C2C"/>
                </a:solidFill>
              </a:rPr>
              <a:t>2年</a:t>
            </a:r>
            <a:r>
              <a:rPr lang="en-US" sz="2000" dirty="0">
                <a:solidFill>
                  <a:srgbClr val="2C2C2C"/>
                </a:solidFill>
              </a:rPr>
              <a:t>，远少于美国的</a:t>
            </a:r>
            <a:r>
              <a:rPr lang="en-US" sz="2000" b="1" dirty="0">
                <a:solidFill>
                  <a:srgbClr val="2C2C2C"/>
                </a:solidFill>
              </a:rPr>
              <a:t>13年</a:t>
            </a:r>
            <a:r>
              <a:rPr lang="en-US" sz="2000" dirty="0">
                <a:solidFill>
                  <a:srgbClr val="2C2C2C"/>
                </a:solidFill>
              </a:rPr>
              <a:t>，创造了攀登现代科技高峰的奇迹。</a:t>
            </a:r>
            <a:endParaRPr lang="en-US" sz="2000" dirty="0"/>
          </a:p>
          <a:p>
            <a:pPr>
              <a:lnSpc>
                <a:spcPct val="170000"/>
              </a:lnSpc>
            </a:pPr>
            <a:r>
              <a:rPr lang="en-US" sz="2000" dirty="0">
                <a:solidFill>
                  <a:srgbClr val="2C2C2C"/>
                </a:solidFill>
              </a:rPr>
              <a:t>中苏关系破裂后，面对苏联撕毁协定、撤走专家的困难局面，钱学森团结带领科技人员艰苦奋斗，联合攻关，依靠我国自身力量实现突破。</a:t>
            </a:r>
            <a:endParaRPr lang="en-US" sz="2000" dirty="0"/>
          </a:p>
        </p:txBody>
      </p:sp>
      <p:sp>
        <p:nvSpPr>
          <p:cNvPr id="18" name="Shape 16"/>
          <p:cNvSpPr/>
          <p:nvPr/>
        </p:nvSpPr>
        <p:spPr>
          <a:xfrm>
            <a:off x="8255000" y="1549400"/>
            <a:ext cx="7366000" cy="5334000"/>
          </a:xfrm>
          <a:prstGeom prst="rect">
            <a:avLst/>
          </a:prstGeom>
          <a:solidFill>
            <a:srgbClr val="FFF8E6"/>
          </a:solidFill>
          <a:ln w="12700">
            <a:solidFill>
              <a:srgbClr val="B8860B">
                <a:alpha val="25098"/>
              </a:srgbClr>
            </a:solidFill>
            <a:prstDash val="solid"/>
          </a:ln>
        </p:spPr>
        <p:txBody>
          <a:bodyPr/>
          <a:lstStyle/>
          <a:p>
            <a:endParaRPr/>
          </a:p>
        </p:txBody>
      </p:sp>
      <p:sp>
        <p:nvSpPr>
          <p:cNvPr id="19" name="Text 17"/>
          <p:cNvSpPr/>
          <p:nvPr/>
        </p:nvSpPr>
        <p:spPr>
          <a:xfrm>
            <a:off x="8509000" y="1778000"/>
            <a:ext cx="6858000" cy="381000"/>
          </a:xfrm>
          <a:prstGeom prst="rect">
            <a:avLst/>
          </a:prstGeom>
          <a:noFill/>
          <a:ln/>
        </p:spPr>
        <p:txBody>
          <a:bodyPr wrap="none" lIns="0" tIns="0" rIns="0" bIns="0" rtlCol="0" anchor="ctr"/>
          <a:lstStyle/>
          <a:p>
            <a:pPr>
              <a:lnSpc>
                <a:spcPct val="100000"/>
              </a:lnSpc>
            </a:pPr>
            <a:r>
              <a:rPr lang="en-US" sz="2400" b="1" dirty="0">
                <a:solidFill>
                  <a:srgbClr val="6D4C00"/>
                </a:solidFill>
              </a:rPr>
              <a:t>中美对比</a:t>
            </a:r>
            <a:endParaRPr lang="en-US" sz="1600" dirty="0"/>
          </a:p>
        </p:txBody>
      </p:sp>
      <p:sp>
        <p:nvSpPr>
          <p:cNvPr id="20" name="Text 18"/>
          <p:cNvSpPr/>
          <p:nvPr/>
        </p:nvSpPr>
        <p:spPr>
          <a:xfrm>
            <a:off x="8509000" y="2336800"/>
            <a:ext cx="6858000" cy="4318000"/>
          </a:xfrm>
          <a:prstGeom prst="rect">
            <a:avLst/>
          </a:prstGeom>
          <a:noFill/>
          <a:ln/>
        </p:spPr>
        <p:txBody>
          <a:bodyPr wrap="square" lIns="0" tIns="0" rIns="0" bIns="0" rtlCol="0" anchor="ctr"/>
          <a:lstStyle/>
          <a:p>
            <a:pPr>
              <a:lnSpc>
                <a:spcPct val="170000"/>
              </a:lnSpc>
            </a:pPr>
            <a:r>
              <a:rPr lang="en-US" sz="2400" b="1" dirty="0">
                <a:solidFill>
                  <a:srgbClr val="2C2C2C"/>
                </a:solidFill>
              </a:rPr>
              <a:t>美国：</a:t>
            </a:r>
            <a:r>
              <a:rPr lang="en-US" sz="2400" dirty="0">
                <a:solidFill>
                  <a:srgbClr val="2C2C2C"/>
                </a:solidFill>
              </a:rPr>
              <a:t>从第一颗原子弹到导弹核武器，历时13年</a:t>
            </a:r>
            <a:endParaRPr lang="en-US" sz="1600" dirty="0"/>
          </a:p>
          <a:p>
            <a:pPr>
              <a:lnSpc>
                <a:spcPct val="170000"/>
              </a:lnSpc>
            </a:pPr>
            <a:r>
              <a:rPr lang="en-US" sz="2400" b="1" dirty="0">
                <a:solidFill>
                  <a:srgbClr val="2C2C2C"/>
                </a:solidFill>
              </a:rPr>
              <a:t>中国：</a:t>
            </a:r>
            <a:r>
              <a:rPr lang="en-US" sz="2400" dirty="0">
                <a:solidFill>
                  <a:srgbClr val="2C2C2C"/>
                </a:solidFill>
              </a:rPr>
              <a:t>仅用2年，创造了世界奇迹</a:t>
            </a:r>
            <a:endParaRPr lang="en-US" sz="1600" dirty="0"/>
          </a:p>
          <a:p>
            <a:pPr>
              <a:lnSpc>
                <a:spcPct val="170000"/>
              </a:lnSpc>
              <a:spcBef>
                <a:spcPts val="1600"/>
              </a:spcBef>
            </a:pPr>
            <a:r>
              <a:rPr lang="en-US" sz="2400" dirty="0">
                <a:solidFill>
                  <a:srgbClr val="2C2C2C"/>
                </a:solidFill>
              </a:rPr>
              <a:t>这一成就的背后，是钱学森等老一辈科学家</a:t>
            </a:r>
            <a:r>
              <a:rPr lang="en-US" sz="2400" b="1" dirty="0">
                <a:solidFill>
                  <a:srgbClr val="2C2C2C"/>
                </a:solidFill>
              </a:rPr>
              <a:t>白手起家、自力更生</a:t>
            </a:r>
            <a:r>
              <a:rPr lang="en-US" sz="2400" dirty="0">
                <a:solidFill>
                  <a:srgbClr val="2C2C2C"/>
                </a:solidFill>
              </a:rPr>
              <a:t>的奋斗精神。他们从最落后的工艺开始，用手工加工达到火箭发动机的精度要求。</a:t>
            </a:r>
            <a:endParaRPr lang="en-US" sz="1600" dirty="0"/>
          </a:p>
          <a:p>
            <a:pPr>
              <a:lnSpc>
                <a:spcPct val="170000"/>
              </a:lnSpc>
              <a:spcBef>
                <a:spcPts val="1600"/>
              </a:spcBef>
            </a:pPr>
            <a:r>
              <a:rPr lang="en-US" sz="2400" dirty="0">
                <a:solidFill>
                  <a:srgbClr val="2C2C2C"/>
                </a:solidFill>
              </a:rPr>
              <a:t>钱学森说：</a:t>
            </a:r>
            <a:r>
              <a:rPr lang="en-US" sz="2400" b="1" dirty="0">
                <a:solidFill>
                  <a:srgbClr val="8B1A1A"/>
                </a:solidFill>
              </a:rPr>
              <a:t>"成绩归于党，归于集体。"</a:t>
            </a:r>
            <a:endParaRPr lang="en-US" sz="1600" dirty="0"/>
          </a:p>
        </p:txBody>
      </p:sp>
      <p:sp>
        <p:nvSpPr>
          <p:cNvPr id="21" name="Shape 19"/>
          <p:cNvSpPr/>
          <p:nvPr/>
        </p:nvSpPr>
        <p:spPr>
          <a:xfrm>
            <a:off x="635000" y="7543799"/>
            <a:ext cx="14986000" cy="884583"/>
          </a:xfrm>
          <a:prstGeom prst="rect">
            <a:avLst/>
          </a:prstGeom>
          <a:solidFill>
            <a:srgbClr val="FFF5F5"/>
          </a:solidFill>
          <a:ln w="25400">
            <a:solidFill>
              <a:srgbClr val="B8860B"/>
            </a:solidFill>
            <a:prstDash val="solid"/>
          </a:ln>
        </p:spPr>
        <p:txBody>
          <a:bodyPr/>
          <a:lstStyle/>
          <a:p>
            <a:endParaRPr/>
          </a:p>
        </p:txBody>
      </p:sp>
      <p:sp>
        <p:nvSpPr>
          <p:cNvPr id="22" name="Text 20"/>
          <p:cNvSpPr/>
          <p:nvPr/>
        </p:nvSpPr>
        <p:spPr>
          <a:xfrm>
            <a:off x="889000" y="7721599"/>
            <a:ext cx="14478000" cy="457200"/>
          </a:xfrm>
          <a:prstGeom prst="rect">
            <a:avLst/>
          </a:prstGeom>
          <a:noFill/>
          <a:ln/>
        </p:spPr>
        <p:txBody>
          <a:bodyPr wrap="square" lIns="0" tIns="0" rIns="0" bIns="0" rtlCol="0" anchor="ctr"/>
          <a:lstStyle/>
          <a:p>
            <a:pPr>
              <a:lnSpc>
                <a:spcPct val="100000"/>
              </a:lnSpc>
            </a:pPr>
            <a:r>
              <a:rPr lang="en-US" sz="2400" b="1" dirty="0">
                <a:solidFill>
                  <a:srgbClr val="8B1A1A"/>
                </a:solidFill>
              </a:rPr>
              <a:t>历史意义：</a:t>
            </a:r>
            <a:r>
              <a:rPr lang="en-US" sz="2400" dirty="0">
                <a:solidFill>
                  <a:srgbClr val="8B1A1A"/>
                </a:solidFill>
              </a:rPr>
              <a:t>"两弹结合"的成功，标志着中国拥有了真正意义上的战略核威慑力量，彻底打破了超级大国的核垄断与核讹诈。</a:t>
            </a:r>
            <a:endParaRPr lang="en-US" sz="1600" dirty="0"/>
          </a:p>
        </p:txBody>
      </p:sp>
      <p:sp>
        <p:nvSpPr>
          <p:cNvPr id="23" name="Shape 2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65024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卫星飞天：东方红一号响彻寰宇</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651000"/>
            <a:ext cx="7620000" cy="2540000"/>
          </a:xfrm>
          <a:prstGeom prst="rect">
            <a:avLst/>
          </a:prstGeom>
          <a:solidFill>
            <a:srgbClr val="FFF5F5"/>
          </a:solidFill>
          <a:ln w="25400">
            <a:solidFill>
              <a:srgbClr val="8B1A1A"/>
            </a:solidFill>
            <a:prstDash val="solid"/>
          </a:ln>
        </p:spPr>
        <p:txBody>
          <a:bodyPr/>
          <a:lstStyle/>
          <a:p>
            <a:endParaRPr/>
          </a:p>
        </p:txBody>
      </p:sp>
      <p:sp>
        <p:nvSpPr>
          <p:cNvPr id="17" name="Shape 15"/>
          <p:cNvSpPr/>
          <p:nvPr/>
        </p:nvSpPr>
        <p:spPr>
          <a:xfrm>
            <a:off x="1038225" y="1905000"/>
            <a:ext cx="311150" cy="355600"/>
          </a:xfrm>
          <a:custGeom>
            <a:avLst/>
            <a:gdLst/>
            <a:ahLst/>
            <a:cxnLst/>
            <a:rect l="l" t="t" r="r" b="b"/>
            <a:pathLst>
              <a:path w="311150" h="355600">
                <a:moveTo>
                  <a:pt x="0" y="150019"/>
                </a:moveTo>
                <a:cubicBezTo>
                  <a:pt x="0" y="103971"/>
                  <a:pt x="37296" y="66675"/>
                  <a:pt x="83344" y="66675"/>
                </a:cubicBezTo>
                <a:lnTo>
                  <a:pt x="88900" y="66675"/>
                </a:lnTo>
                <a:cubicBezTo>
                  <a:pt x="101193" y="66675"/>
                  <a:pt x="111125" y="76607"/>
                  <a:pt x="111125" y="88900"/>
                </a:cubicBezTo>
                <a:cubicBezTo>
                  <a:pt x="111125" y="101193"/>
                  <a:pt x="101193" y="111125"/>
                  <a:pt x="88900" y="111125"/>
                </a:cubicBezTo>
                <a:lnTo>
                  <a:pt x="83344" y="111125"/>
                </a:lnTo>
                <a:cubicBezTo>
                  <a:pt x="61883" y="111125"/>
                  <a:pt x="44450" y="128558"/>
                  <a:pt x="44450" y="150019"/>
                </a:cubicBezTo>
                <a:lnTo>
                  <a:pt x="44450" y="155575"/>
                </a:lnTo>
                <a:lnTo>
                  <a:pt x="88900" y="155575"/>
                </a:lnTo>
                <a:cubicBezTo>
                  <a:pt x="113417" y="155575"/>
                  <a:pt x="133350" y="175508"/>
                  <a:pt x="133350" y="200025"/>
                </a:cubicBezTo>
                <a:lnTo>
                  <a:pt x="133350" y="244475"/>
                </a:lnTo>
                <a:cubicBezTo>
                  <a:pt x="133350" y="268992"/>
                  <a:pt x="113417" y="288925"/>
                  <a:pt x="88900" y="288925"/>
                </a:cubicBezTo>
                <a:lnTo>
                  <a:pt x="44450" y="288925"/>
                </a:lnTo>
                <a:cubicBezTo>
                  <a:pt x="19933" y="288925"/>
                  <a:pt x="0" y="268992"/>
                  <a:pt x="0" y="244475"/>
                </a:cubicBezTo>
                <a:lnTo>
                  <a:pt x="0" y="150019"/>
                </a:lnTo>
                <a:close/>
                <a:moveTo>
                  <a:pt x="177800" y="150019"/>
                </a:moveTo>
                <a:cubicBezTo>
                  <a:pt x="177800" y="103971"/>
                  <a:pt x="215096" y="66675"/>
                  <a:pt x="261144" y="66675"/>
                </a:cubicBezTo>
                <a:lnTo>
                  <a:pt x="266700" y="66675"/>
                </a:lnTo>
                <a:cubicBezTo>
                  <a:pt x="278993" y="66675"/>
                  <a:pt x="288925" y="76607"/>
                  <a:pt x="288925" y="88900"/>
                </a:cubicBezTo>
                <a:cubicBezTo>
                  <a:pt x="288925" y="101193"/>
                  <a:pt x="278993" y="111125"/>
                  <a:pt x="266700" y="111125"/>
                </a:cubicBezTo>
                <a:lnTo>
                  <a:pt x="261144" y="111125"/>
                </a:lnTo>
                <a:cubicBezTo>
                  <a:pt x="239683" y="111125"/>
                  <a:pt x="222250" y="128558"/>
                  <a:pt x="222250" y="150019"/>
                </a:cubicBezTo>
                <a:lnTo>
                  <a:pt x="222250" y="155575"/>
                </a:lnTo>
                <a:lnTo>
                  <a:pt x="266700" y="155575"/>
                </a:lnTo>
                <a:cubicBezTo>
                  <a:pt x="291217" y="155575"/>
                  <a:pt x="311150" y="175508"/>
                  <a:pt x="311150" y="200025"/>
                </a:cubicBezTo>
                <a:lnTo>
                  <a:pt x="311150" y="244475"/>
                </a:lnTo>
                <a:cubicBezTo>
                  <a:pt x="311150" y="268992"/>
                  <a:pt x="291217" y="288925"/>
                  <a:pt x="266700" y="288925"/>
                </a:cubicBezTo>
                <a:lnTo>
                  <a:pt x="222250" y="288925"/>
                </a:lnTo>
                <a:cubicBezTo>
                  <a:pt x="197733" y="288925"/>
                  <a:pt x="177800" y="268992"/>
                  <a:pt x="177800" y="244475"/>
                </a:cubicBezTo>
                <a:lnTo>
                  <a:pt x="177800" y="150019"/>
                </a:lnTo>
                <a:close/>
              </a:path>
            </a:pathLst>
          </a:custGeom>
          <a:solidFill>
            <a:srgbClr val="B8860B"/>
          </a:solidFill>
          <a:ln/>
        </p:spPr>
        <p:txBody>
          <a:bodyPr/>
          <a:lstStyle/>
          <a:p>
            <a:endParaRPr/>
          </a:p>
        </p:txBody>
      </p:sp>
      <p:sp>
        <p:nvSpPr>
          <p:cNvPr id="18" name="Text 16"/>
          <p:cNvSpPr/>
          <p:nvPr/>
        </p:nvSpPr>
        <p:spPr>
          <a:xfrm>
            <a:off x="815009" y="2452757"/>
            <a:ext cx="7312991" cy="1524000"/>
          </a:xfrm>
          <a:prstGeom prst="rect">
            <a:avLst/>
          </a:prstGeom>
          <a:noFill/>
          <a:ln/>
        </p:spPr>
        <p:txBody>
          <a:bodyPr wrap="square" lIns="0" tIns="0" rIns="0" bIns="0" rtlCol="0" anchor="ctr"/>
          <a:lstStyle/>
          <a:p>
            <a:pPr>
              <a:lnSpc>
                <a:spcPct val="160000"/>
              </a:lnSpc>
            </a:pPr>
            <a:r>
              <a:rPr lang="en-US" sz="2400" b="1" dirty="0">
                <a:solidFill>
                  <a:srgbClr val="8B1A1A"/>
                </a:solidFill>
              </a:rPr>
              <a:t>“</a:t>
            </a:r>
            <a:r>
              <a:rPr lang="en-US" sz="2400" b="1" dirty="0" err="1">
                <a:solidFill>
                  <a:srgbClr val="8B1A1A"/>
                </a:solidFill>
              </a:rPr>
              <a:t>成绩归于党，归于集体</a:t>
            </a:r>
            <a:r>
              <a:rPr lang="en-US" sz="2400" b="1" dirty="0">
                <a:solidFill>
                  <a:srgbClr val="8B1A1A"/>
                </a:solidFill>
              </a:rPr>
              <a:t>。” </a:t>
            </a:r>
          </a:p>
          <a:p>
            <a:pPr algn="r">
              <a:lnSpc>
                <a:spcPct val="160000"/>
              </a:lnSpc>
            </a:pPr>
            <a:r>
              <a:rPr lang="en-US" sz="2400" b="1" dirty="0">
                <a:solidFill>
                  <a:srgbClr val="8B1A1A"/>
                </a:solidFill>
              </a:rPr>
              <a:t>“</a:t>
            </a:r>
            <a:r>
              <a:rPr lang="en-US" sz="2400" b="1" dirty="0" err="1">
                <a:solidFill>
                  <a:srgbClr val="8B1A1A"/>
                </a:solidFill>
              </a:rPr>
              <a:t>人民说我为国家、民族做了点事，就是最高奖赏</a:t>
            </a:r>
            <a:r>
              <a:rPr lang="en-US" sz="2400" b="1" dirty="0">
                <a:solidFill>
                  <a:srgbClr val="8B1A1A"/>
                </a:solidFill>
              </a:rPr>
              <a:t>！</a:t>
            </a:r>
            <a:r>
              <a:rPr lang="zh-CN" altLang="en-US" sz="2400" b="1" dirty="0">
                <a:solidFill>
                  <a:srgbClr val="8B1A1A"/>
                </a:solidFill>
              </a:rPr>
              <a:t>”</a:t>
            </a:r>
            <a:r>
              <a:rPr lang="en-US" sz="2400" b="1" dirty="0">
                <a:solidFill>
                  <a:srgbClr val="8B1A1A"/>
                </a:solidFill>
              </a:rPr>
              <a:t>                         </a:t>
            </a:r>
            <a:r>
              <a:rPr lang="en-US" sz="2400" dirty="0">
                <a:solidFill>
                  <a:srgbClr val="666666"/>
                </a:solidFill>
              </a:rPr>
              <a:t>——钱学森</a:t>
            </a:r>
            <a:endParaRPr lang="en-US" sz="1600" dirty="0"/>
          </a:p>
        </p:txBody>
      </p:sp>
      <p:sp>
        <p:nvSpPr>
          <p:cNvPr id="19" name="Text 17"/>
          <p:cNvSpPr/>
          <p:nvPr/>
        </p:nvSpPr>
        <p:spPr>
          <a:xfrm>
            <a:off x="8636000" y="1651000"/>
            <a:ext cx="6985000" cy="2540000"/>
          </a:xfrm>
          <a:prstGeom prst="rect">
            <a:avLst/>
          </a:prstGeom>
          <a:noFill/>
          <a:ln/>
        </p:spPr>
        <p:txBody>
          <a:bodyPr wrap="square" lIns="0" tIns="0" rIns="0" bIns="0" rtlCol="0" anchor="ctr"/>
          <a:lstStyle/>
          <a:p>
            <a:pPr>
              <a:lnSpc>
                <a:spcPct val="170000"/>
              </a:lnSpc>
            </a:pPr>
            <a:r>
              <a:rPr lang="en-US" sz="2400" b="1" dirty="0">
                <a:solidFill>
                  <a:srgbClr val="2C2C2C"/>
                </a:solidFill>
              </a:rPr>
              <a:t>1970年4月24日</a:t>
            </a:r>
            <a:r>
              <a:rPr lang="en-US" sz="2400" dirty="0">
                <a:solidFill>
                  <a:srgbClr val="2C2C2C"/>
                </a:solidFill>
              </a:rPr>
              <a:t>，在周恩来总理直接关怀下，钱学森成功组织实施中国第一颗人造卫星</a:t>
            </a:r>
            <a:r>
              <a:rPr lang="en-US" sz="2400" b="1" dirty="0">
                <a:solidFill>
                  <a:srgbClr val="2C2C2C"/>
                </a:solidFill>
              </a:rPr>
              <a:t>"东方红一号"</a:t>
            </a:r>
            <a:r>
              <a:rPr lang="en-US" sz="2400" dirty="0">
                <a:solidFill>
                  <a:srgbClr val="2C2C2C"/>
                </a:solidFill>
              </a:rPr>
              <a:t>发射。</a:t>
            </a:r>
            <a:endParaRPr lang="en-US" sz="1600" dirty="0"/>
          </a:p>
          <a:p>
            <a:pPr>
              <a:lnSpc>
                <a:spcPct val="170000"/>
              </a:lnSpc>
            </a:pPr>
            <a:r>
              <a:rPr lang="en-US" sz="2400" dirty="0">
                <a:solidFill>
                  <a:srgbClr val="2C2C2C"/>
                </a:solidFill>
              </a:rPr>
              <a:t>卫星重量</a:t>
            </a:r>
            <a:r>
              <a:rPr lang="en-US" sz="2400" b="1" dirty="0">
                <a:solidFill>
                  <a:srgbClr val="2C2C2C"/>
                </a:solidFill>
              </a:rPr>
              <a:t>173公斤</a:t>
            </a:r>
            <a:r>
              <a:rPr lang="en-US" sz="2400" dirty="0">
                <a:solidFill>
                  <a:srgbClr val="2C2C2C"/>
                </a:solidFill>
              </a:rPr>
              <a:t>，超过美苏首颗卫星总和，是新中国科技发展史上的重要里程碑。</a:t>
            </a:r>
            <a:endParaRPr lang="en-US" sz="1600" dirty="0"/>
          </a:p>
        </p:txBody>
      </p:sp>
      <p:sp>
        <p:nvSpPr>
          <p:cNvPr id="21" name="Text 19"/>
          <p:cNvSpPr/>
          <p:nvPr/>
        </p:nvSpPr>
        <p:spPr>
          <a:xfrm>
            <a:off x="635000" y="4673600"/>
            <a:ext cx="3429000" cy="762000"/>
          </a:xfrm>
          <a:prstGeom prst="rect">
            <a:avLst/>
          </a:prstGeom>
          <a:noFill/>
          <a:ln/>
        </p:spPr>
        <p:txBody>
          <a:bodyPr wrap="none" lIns="0" tIns="0" rIns="0" bIns="0" rtlCol="0" anchor="ctr"/>
          <a:lstStyle/>
          <a:p>
            <a:pPr algn="ctr">
              <a:lnSpc>
                <a:spcPct val="100000"/>
              </a:lnSpc>
            </a:pPr>
            <a:endParaRPr lang="en-US" sz="1600" dirty="0"/>
          </a:p>
        </p:txBody>
      </p:sp>
      <p:sp>
        <p:nvSpPr>
          <p:cNvPr id="23" name="Shape 21"/>
          <p:cNvSpPr/>
          <p:nvPr/>
        </p:nvSpPr>
        <p:spPr>
          <a:xfrm>
            <a:off x="2615096" y="4778514"/>
            <a:ext cx="3429000" cy="1651000"/>
          </a:xfrm>
          <a:prstGeom prst="rect">
            <a:avLst/>
          </a:prstGeom>
          <a:solidFill>
            <a:srgbClr val="B8860B"/>
          </a:solidFill>
          <a:ln/>
        </p:spPr>
        <p:txBody>
          <a:bodyPr/>
          <a:lstStyle/>
          <a:p>
            <a:endParaRPr/>
          </a:p>
        </p:txBody>
      </p:sp>
      <p:sp>
        <p:nvSpPr>
          <p:cNvPr id="24" name="Text 22"/>
          <p:cNvSpPr/>
          <p:nvPr/>
        </p:nvSpPr>
        <p:spPr>
          <a:xfrm>
            <a:off x="2615096" y="4880114"/>
            <a:ext cx="3429000" cy="762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黑体" pitchFamily="34" charset="0"/>
                <a:ea typeface="黑体"/>
              </a:rPr>
              <a:t>1970.4.24</a:t>
            </a:r>
            <a:endParaRPr lang="en-US" sz="1600" dirty="0"/>
          </a:p>
        </p:txBody>
      </p:sp>
      <p:sp>
        <p:nvSpPr>
          <p:cNvPr id="25" name="Text 23"/>
          <p:cNvSpPr/>
          <p:nvPr/>
        </p:nvSpPr>
        <p:spPr>
          <a:xfrm>
            <a:off x="2615096" y="5692914"/>
            <a:ext cx="3429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发射成功日期</a:t>
            </a:r>
            <a:endParaRPr lang="en-US" sz="1600" dirty="0"/>
          </a:p>
        </p:txBody>
      </p:sp>
      <p:sp>
        <p:nvSpPr>
          <p:cNvPr id="29" name="Shape 27"/>
          <p:cNvSpPr/>
          <p:nvPr/>
        </p:nvSpPr>
        <p:spPr>
          <a:xfrm>
            <a:off x="9981096" y="4778514"/>
            <a:ext cx="3937000" cy="1651000"/>
          </a:xfrm>
          <a:prstGeom prst="rect">
            <a:avLst/>
          </a:prstGeom>
          <a:solidFill>
            <a:srgbClr val="5A0A0A"/>
          </a:solidFill>
          <a:ln/>
        </p:spPr>
        <p:txBody>
          <a:bodyPr/>
          <a:lstStyle/>
          <a:p>
            <a:endParaRPr/>
          </a:p>
        </p:txBody>
      </p:sp>
      <p:sp>
        <p:nvSpPr>
          <p:cNvPr id="30" name="Text 28"/>
          <p:cNvSpPr/>
          <p:nvPr/>
        </p:nvSpPr>
        <p:spPr>
          <a:xfrm>
            <a:off x="9981096" y="4880114"/>
            <a:ext cx="3937000" cy="762000"/>
          </a:xfrm>
          <a:prstGeom prst="rect">
            <a:avLst/>
          </a:prstGeom>
          <a:noFill/>
          <a:ln/>
        </p:spPr>
        <p:txBody>
          <a:bodyPr wrap="none" lIns="0" tIns="0" rIns="0" bIns="0" rtlCol="0" anchor="ctr"/>
          <a:lstStyle/>
          <a:p>
            <a:pPr algn="ctr">
              <a:lnSpc>
                <a:spcPct val="100000"/>
              </a:lnSpc>
            </a:pPr>
            <a:r>
              <a:rPr lang="en-US" sz="4000" b="1" dirty="0">
                <a:solidFill>
                  <a:srgbClr val="FFFFFF"/>
                </a:solidFill>
                <a:latin typeface="黑体" pitchFamily="34" charset="0"/>
                <a:ea typeface="黑体"/>
              </a:rPr>
              <a:t>56周年</a:t>
            </a:r>
            <a:endParaRPr lang="en-US" sz="1600" dirty="0"/>
          </a:p>
        </p:txBody>
      </p:sp>
      <p:sp>
        <p:nvSpPr>
          <p:cNvPr id="31" name="Text 29"/>
          <p:cNvSpPr/>
          <p:nvPr/>
        </p:nvSpPr>
        <p:spPr>
          <a:xfrm>
            <a:off x="9981096" y="5692914"/>
            <a:ext cx="3937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2026年迎来发射56周年</a:t>
            </a:r>
            <a:endParaRPr lang="en-US" sz="1600" dirty="0"/>
          </a:p>
        </p:txBody>
      </p:sp>
      <p:sp>
        <p:nvSpPr>
          <p:cNvPr id="32" name="Text 30"/>
          <p:cNvSpPr/>
          <p:nvPr/>
        </p:nvSpPr>
        <p:spPr>
          <a:xfrm>
            <a:off x="635000" y="6604000"/>
            <a:ext cx="14986000" cy="1524000"/>
          </a:xfrm>
          <a:prstGeom prst="rect">
            <a:avLst/>
          </a:prstGeom>
          <a:noFill/>
          <a:ln/>
        </p:spPr>
        <p:txBody>
          <a:bodyPr wrap="square" lIns="0" tIns="0" rIns="0" bIns="0" rtlCol="0" anchor="ctr"/>
          <a:lstStyle/>
          <a:p>
            <a:pPr>
              <a:lnSpc>
                <a:spcPct val="170000"/>
              </a:lnSpc>
            </a:pPr>
            <a:r>
              <a:rPr lang="en-US" sz="2400" dirty="0">
                <a:solidFill>
                  <a:srgbClr val="2C2C2C"/>
                </a:solidFill>
              </a:rPr>
              <a:t>钱学森还创新提出</a:t>
            </a:r>
            <a:r>
              <a:rPr lang="en-US" sz="2400" b="1" dirty="0">
                <a:solidFill>
                  <a:srgbClr val="2C2C2C"/>
                </a:solidFill>
              </a:rPr>
              <a:t>"总体设计部"系统工程理论</a:t>
            </a:r>
            <a:r>
              <a:rPr lang="en-US" sz="2400" dirty="0">
                <a:solidFill>
                  <a:srgbClr val="2C2C2C"/>
                </a:solidFill>
              </a:rPr>
              <a:t>，强调"总体优化、系统协调"，该模式被推广至全国工业领域，成为重大科技工程管理范本。此后，他又对载人航天工程提出战略性建议，助力实现飞天梦想。</a:t>
            </a:r>
            <a:endParaRPr lang="en-US" sz="1600" dirty="0"/>
          </a:p>
        </p:txBody>
      </p:sp>
      <p:sp>
        <p:nvSpPr>
          <p:cNvPr id="33" name="Shape 3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5080000" y="0"/>
            <a:ext cx="11176000" cy="9144000"/>
          </a:xfrm>
          <a:prstGeom prst="rect">
            <a:avLst/>
          </a:prstGeom>
          <a:gradFill flip="none" rotWithShape="1">
            <a:gsLst>
              <a:gs pos="0">
                <a:srgbClr val="8B1A1A"/>
              </a:gs>
              <a:gs pos="100000">
                <a:srgbClr val="5A0A0A"/>
              </a:gs>
            </a:gsLst>
            <a:lin ang="5400000" scaled="1"/>
          </a:gradFill>
          <a:ln/>
        </p:spPr>
        <p:txBody>
          <a:bodyPr/>
          <a:lstStyle/>
          <a:p>
            <a:endParaRPr/>
          </a:p>
        </p:txBody>
      </p:sp>
      <p:sp>
        <p:nvSpPr>
          <p:cNvPr id="3" name="Text 1"/>
          <p:cNvSpPr/>
          <p:nvPr/>
        </p:nvSpPr>
        <p:spPr>
          <a:xfrm>
            <a:off x="508000" y="2794000"/>
            <a:ext cx="4318000" cy="2540000"/>
          </a:xfrm>
          <a:prstGeom prst="rect">
            <a:avLst/>
          </a:prstGeom>
          <a:noFill/>
          <a:ln/>
        </p:spPr>
        <p:txBody>
          <a:bodyPr wrap="none" lIns="0" tIns="0" rIns="0" bIns="0" rtlCol="0" anchor="ctr"/>
          <a:lstStyle/>
          <a:p>
            <a:pPr>
              <a:lnSpc>
                <a:spcPct val="100000"/>
              </a:lnSpc>
            </a:pPr>
            <a:r>
              <a:rPr lang="en-US" sz="14000" b="1" dirty="0">
                <a:solidFill>
                  <a:srgbClr val="B8860B"/>
                </a:solidFill>
                <a:latin typeface="黑体" pitchFamily="34" charset="0"/>
                <a:ea typeface="黑体"/>
              </a:rPr>
              <a:t>04</a:t>
            </a:r>
            <a:endParaRPr lang="en-US" sz="1600" dirty="0"/>
          </a:p>
        </p:txBody>
      </p:sp>
      <p:sp>
        <p:nvSpPr>
          <p:cNvPr id="4" name="Shape 2"/>
          <p:cNvSpPr/>
          <p:nvPr/>
        </p:nvSpPr>
        <p:spPr>
          <a:xfrm>
            <a:off x="508000" y="5588000"/>
            <a:ext cx="4064000" cy="0"/>
          </a:xfrm>
          <a:prstGeom prst="straightConnector1">
            <a:avLst/>
          </a:prstGeom>
          <a:noFill/>
          <a:ln w="38100">
            <a:solidFill>
              <a:srgbClr val="B8860B"/>
            </a:solidFill>
            <a:prstDash val="solid"/>
            <a:headEnd type="none"/>
            <a:tailEnd type="none"/>
          </a:ln>
        </p:spPr>
        <p:txBody>
          <a:bodyPr/>
          <a:lstStyle/>
          <a:p>
            <a:endParaRPr/>
          </a:p>
        </p:txBody>
      </p:sp>
      <p:sp>
        <p:nvSpPr>
          <p:cNvPr id="5" name="Text 3"/>
          <p:cNvSpPr/>
          <p:nvPr/>
        </p:nvSpPr>
        <p:spPr>
          <a:xfrm>
            <a:off x="5842000" y="3302000"/>
            <a:ext cx="9144000" cy="762000"/>
          </a:xfrm>
          <a:prstGeom prst="rect">
            <a:avLst/>
          </a:prstGeom>
          <a:noFill/>
          <a:ln/>
        </p:spPr>
        <p:txBody>
          <a:bodyPr wrap="none" lIns="0" tIns="0" rIns="0" bIns="0" rtlCol="0" anchor="ctr"/>
          <a:lstStyle/>
          <a:p>
            <a:pPr>
              <a:lnSpc>
                <a:spcPct val="100000"/>
              </a:lnSpc>
            </a:pPr>
            <a:r>
              <a:rPr lang="en-US" sz="3800" b="1" dirty="0">
                <a:solidFill>
                  <a:srgbClr val="FFFFFF"/>
                </a:solidFill>
                <a:latin typeface="黑体" pitchFamily="34" charset="0"/>
                <a:ea typeface="黑体"/>
              </a:rPr>
              <a:t>传道授业 硕果累累</a:t>
            </a:r>
            <a:endParaRPr lang="en-US" sz="1600" dirty="0"/>
          </a:p>
        </p:txBody>
      </p:sp>
      <p:sp>
        <p:nvSpPr>
          <p:cNvPr id="6" name="Text 4"/>
          <p:cNvSpPr/>
          <p:nvPr/>
        </p:nvSpPr>
        <p:spPr>
          <a:xfrm>
            <a:off x="5842000" y="4191000"/>
            <a:ext cx="8890000" cy="355600"/>
          </a:xfrm>
          <a:prstGeom prst="rect">
            <a:avLst/>
          </a:prstGeom>
          <a:noFill/>
          <a:ln/>
        </p:spPr>
        <p:txBody>
          <a:bodyPr wrap="none" lIns="0" tIns="0" rIns="0" bIns="0" rtlCol="0" anchor="ctr"/>
          <a:lstStyle/>
          <a:p>
            <a:pPr>
              <a:lnSpc>
                <a:spcPct val="100000"/>
              </a:lnSpc>
            </a:pPr>
            <a:endParaRPr lang="en-US" sz="1600" dirty="0"/>
          </a:p>
        </p:txBody>
      </p:sp>
      <p:sp>
        <p:nvSpPr>
          <p:cNvPr id="7" name="Text 5"/>
          <p:cNvSpPr/>
          <p:nvPr/>
        </p:nvSpPr>
        <p:spPr>
          <a:xfrm>
            <a:off x="5842000" y="50800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4.1　创办中国科学技术大学</a:t>
            </a:r>
            <a:endParaRPr lang="en-US" sz="1600" dirty="0"/>
          </a:p>
        </p:txBody>
      </p:sp>
      <p:sp>
        <p:nvSpPr>
          <p:cNvPr id="8" name="Text 6"/>
          <p:cNvSpPr/>
          <p:nvPr/>
        </p:nvSpPr>
        <p:spPr>
          <a:xfrm>
            <a:off x="5842000" y="55118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4.2　工程科学教育思想</a:t>
            </a:r>
            <a:endParaRPr lang="en-US" sz="1600" dirty="0"/>
          </a:p>
        </p:txBody>
      </p:sp>
      <p:sp>
        <p:nvSpPr>
          <p:cNvPr id="9" name="Text 7"/>
          <p:cNvSpPr/>
          <p:nvPr/>
        </p:nvSpPr>
        <p:spPr>
          <a:xfrm>
            <a:off x="5842000" y="59436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4.3　人才培养与力学英才班</a:t>
            </a:r>
            <a:endParaRPr lang="en-US" sz="1600" dirty="0"/>
          </a:p>
        </p:txBody>
      </p:sp>
      <p:sp>
        <p:nvSpPr>
          <p:cNvPr id="10" name="Text 8"/>
          <p:cNvSpPr/>
          <p:nvPr/>
        </p:nvSpPr>
        <p:spPr>
          <a:xfrm>
            <a:off x="5842000" y="63754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4.4　晚年贡献：系统科学与大成智慧</a:t>
            </a:r>
            <a:endParaRPr lang="en-US" sz="1600" dirty="0"/>
          </a:p>
        </p:txBody>
      </p:sp>
      <p:sp>
        <p:nvSpPr>
          <p:cNvPr id="11" name="Shape 9"/>
          <p:cNvSpPr/>
          <p:nvPr/>
        </p:nvSpPr>
        <p:spPr>
          <a:xfrm>
            <a:off x="5842000" y="31496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12"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2400" dirty="0">
                <a:solidFill>
                  <a:srgbClr val="FFFFFF">
                    <a:alpha val="66667"/>
                  </a:srgbClr>
                </a:solidFill>
              </a:rPr>
              <a:t>16</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97536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创办中国科学技术大学</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Text 14"/>
          <p:cNvSpPr/>
          <p:nvPr/>
        </p:nvSpPr>
        <p:spPr>
          <a:xfrm>
            <a:off x="635000" y="1651000"/>
            <a:ext cx="7620000" cy="3810000"/>
          </a:xfrm>
          <a:prstGeom prst="rect">
            <a:avLst/>
          </a:prstGeom>
          <a:noFill/>
          <a:ln/>
        </p:spPr>
        <p:txBody>
          <a:bodyPr wrap="square" lIns="0" tIns="0" rIns="0" bIns="0" rtlCol="0" anchor="ctr"/>
          <a:lstStyle/>
          <a:p>
            <a:pPr>
              <a:lnSpc>
                <a:spcPct val="170000"/>
              </a:lnSpc>
            </a:pPr>
            <a:r>
              <a:rPr lang="en-US" sz="2400" b="1" dirty="0">
                <a:solidFill>
                  <a:srgbClr val="2C2C2C"/>
                </a:solidFill>
              </a:rPr>
              <a:t>1958年</a:t>
            </a:r>
            <a:r>
              <a:rPr lang="en-US" sz="2400" dirty="0">
                <a:solidFill>
                  <a:srgbClr val="2C2C2C"/>
                </a:solidFill>
              </a:rPr>
              <a:t>，钱学森参与创办中国科学技术大学，担任近代力学系首任系主任。</a:t>
            </a:r>
            <a:endParaRPr lang="en-US" sz="1600" dirty="0"/>
          </a:p>
          <a:p>
            <a:pPr>
              <a:lnSpc>
                <a:spcPct val="170000"/>
              </a:lnSpc>
            </a:pPr>
            <a:r>
              <a:rPr lang="en-US" sz="2400" dirty="0">
                <a:solidFill>
                  <a:srgbClr val="2C2C2C"/>
                </a:solidFill>
              </a:rPr>
              <a:t>他亲自制定教学计划，聘请顶尖科学家授课，曾兴奋地对学生们说：</a:t>
            </a:r>
            <a:r>
              <a:rPr lang="en-US" sz="2400" b="1" dirty="0">
                <a:solidFill>
                  <a:srgbClr val="8B1A1A"/>
                </a:solidFill>
              </a:rPr>
              <a:t>"我把科学院的大炮都给你们调来了！"</a:t>
            </a:r>
            <a:endParaRPr lang="en-US" sz="1600" dirty="0"/>
          </a:p>
          <a:p>
            <a:pPr>
              <a:lnSpc>
                <a:spcPct val="170000"/>
              </a:lnSpc>
            </a:pPr>
            <a:r>
              <a:rPr lang="en-US" sz="2400" dirty="0">
                <a:solidFill>
                  <a:srgbClr val="2C2C2C"/>
                </a:solidFill>
              </a:rPr>
              <a:t>他倡导</a:t>
            </a:r>
            <a:r>
              <a:rPr lang="en-US" sz="2400" b="1" dirty="0">
                <a:solidFill>
                  <a:srgbClr val="2C2C2C"/>
                </a:solidFill>
              </a:rPr>
              <a:t>"理工结合""教学与科研相结合"</a:t>
            </a:r>
            <a:r>
              <a:rPr lang="en-US" sz="2400" dirty="0">
                <a:solidFill>
                  <a:srgbClr val="2C2C2C"/>
                </a:solidFill>
              </a:rPr>
              <a:t>的人才培养模式，为"两弹一星"培养了大批尖端科技人才。</a:t>
            </a:r>
            <a:endParaRPr lang="en-US" sz="1600" dirty="0"/>
          </a:p>
        </p:txBody>
      </p:sp>
      <p:sp>
        <p:nvSpPr>
          <p:cNvPr id="17" name="Shape 15"/>
          <p:cNvSpPr/>
          <p:nvPr/>
        </p:nvSpPr>
        <p:spPr>
          <a:xfrm>
            <a:off x="8636000" y="1651000"/>
            <a:ext cx="6985000" cy="2540000"/>
          </a:xfrm>
          <a:prstGeom prst="rect">
            <a:avLst/>
          </a:prstGeom>
          <a:solidFill>
            <a:srgbClr val="FFF5F5"/>
          </a:solidFill>
          <a:ln w="25400">
            <a:solidFill>
              <a:srgbClr val="B8860B"/>
            </a:solidFill>
            <a:prstDash val="solid"/>
          </a:ln>
        </p:spPr>
        <p:txBody>
          <a:bodyPr/>
          <a:lstStyle/>
          <a:p>
            <a:endParaRPr/>
          </a:p>
        </p:txBody>
      </p:sp>
      <p:sp>
        <p:nvSpPr>
          <p:cNvPr id="18" name="Shape 16"/>
          <p:cNvSpPr/>
          <p:nvPr/>
        </p:nvSpPr>
        <p:spPr>
          <a:xfrm>
            <a:off x="9039225" y="1905000"/>
            <a:ext cx="311150" cy="355600"/>
          </a:xfrm>
          <a:custGeom>
            <a:avLst/>
            <a:gdLst/>
            <a:ahLst/>
            <a:cxnLst/>
            <a:rect l="l" t="t" r="r" b="b"/>
            <a:pathLst>
              <a:path w="311150" h="355600">
                <a:moveTo>
                  <a:pt x="0" y="150019"/>
                </a:moveTo>
                <a:cubicBezTo>
                  <a:pt x="0" y="103971"/>
                  <a:pt x="37296" y="66675"/>
                  <a:pt x="83344" y="66675"/>
                </a:cubicBezTo>
                <a:lnTo>
                  <a:pt x="88900" y="66675"/>
                </a:lnTo>
                <a:cubicBezTo>
                  <a:pt x="101193" y="66675"/>
                  <a:pt x="111125" y="76607"/>
                  <a:pt x="111125" y="88900"/>
                </a:cubicBezTo>
                <a:cubicBezTo>
                  <a:pt x="111125" y="101193"/>
                  <a:pt x="101193" y="111125"/>
                  <a:pt x="88900" y="111125"/>
                </a:cubicBezTo>
                <a:lnTo>
                  <a:pt x="83344" y="111125"/>
                </a:lnTo>
                <a:cubicBezTo>
                  <a:pt x="61883" y="111125"/>
                  <a:pt x="44450" y="128558"/>
                  <a:pt x="44450" y="150019"/>
                </a:cubicBezTo>
                <a:lnTo>
                  <a:pt x="44450" y="155575"/>
                </a:lnTo>
                <a:lnTo>
                  <a:pt x="88900" y="155575"/>
                </a:lnTo>
                <a:cubicBezTo>
                  <a:pt x="113417" y="155575"/>
                  <a:pt x="133350" y="175508"/>
                  <a:pt x="133350" y="200025"/>
                </a:cubicBezTo>
                <a:lnTo>
                  <a:pt x="133350" y="244475"/>
                </a:lnTo>
                <a:cubicBezTo>
                  <a:pt x="133350" y="268992"/>
                  <a:pt x="113417" y="288925"/>
                  <a:pt x="88900" y="288925"/>
                </a:cubicBezTo>
                <a:lnTo>
                  <a:pt x="44450" y="288925"/>
                </a:lnTo>
                <a:cubicBezTo>
                  <a:pt x="19933" y="288925"/>
                  <a:pt x="0" y="268992"/>
                  <a:pt x="0" y="244475"/>
                </a:cubicBezTo>
                <a:lnTo>
                  <a:pt x="0" y="150019"/>
                </a:lnTo>
                <a:close/>
                <a:moveTo>
                  <a:pt x="177800" y="150019"/>
                </a:moveTo>
                <a:cubicBezTo>
                  <a:pt x="177800" y="103971"/>
                  <a:pt x="215096" y="66675"/>
                  <a:pt x="261144" y="66675"/>
                </a:cubicBezTo>
                <a:lnTo>
                  <a:pt x="266700" y="66675"/>
                </a:lnTo>
                <a:cubicBezTo>
                  <a:pt x="278993" y="66675"/>
                  <a:pt x="288925" y="76607"/>
                  <a:pt x="288925" y="88900"/>
                </a:cubicBezTo>
                <a:cubicBezTo>
                  <a:pt x="288925" y="101193"/>
                  <a:pt x="278993" y="111125"/>
                  <a:pt x="266700" y="111125"/>
                </a:cubicBezTo>
                <a:lnTo>
                  <a:pt x="261144" y="111125"/>
                </a:lnTo>
                <a:cubicBezTo>
                  <a:pt x="239683" y="111125"/>
                  <a:pt x="222250" y="128558"/>
                  <a:pt x="222250" y="150019"/>
                </a:cubicBezTo>
                <a:lnTo>
                  <a:pt x="222250" y="155575"/>
                </a:lnTo>
                <a:lnTo>
                  <a:pt x="266700" y="155575"/>
                </a:lnTo>
                <a:cubicBezTo>
                  <a:pt x="291217" y="155575"/>
                  <a:pt x="311150" y="175508"/>
                  <a:pt x="311150" y="200025"/>
                </a:cubicBezTo>
                <a:lnTo>
                  <a:pt x="311150" y="244475"/>
                </a:lnTo>
                <a:cubicBezTo>
                  <a:pt x="311150" y="268992"/>
                  <a:pt x="291217" y="288925"/>
                  <a:pt x="266700" y="288925"/>
                </a:cubicBezTo>
                <a:lnTo>
                  <a:pt x="222250" y="288925"/>
                </a:lnTo>
                <a:cubicBezTo>
                  <a:pt x="197733" y="288925"/>
                  <a:pt x="177800" y="268992"/>
                  <a:pt x="177800" y="244475"/>
                </a:cubicBezTo>
                <a:lnTo>
                  <a:pt x="177800" y="150019"/>
                </a:lnTo>
                <a:close/>
              </a:path>
            </a:pathLst>
          </a:custGeom>
          <a:solidFill>
            <a:srgbClr val="B8860B"/>
          </a:solidFill>
          <a:ln/>
        </p:spPr>
        <p:txBody>
          <a:bodyPr/>
          <a:lstStyle/>
          <a:p>
            <a:endParaRPr/>
          </a:p>
        </p:txBody>
      </p:sp>
      <p:sp>
        <p:nvSpPr>
          <p:cNvPr id="19" name="Text 17"/>
          <p:cNvSpPr/>
          <p:nvPr/>
        </p:nvSpPr>
        <p:spPr>
          <a:xfrm>
            <a:off x="9017000" y="2413000"/>
            <a:ext cx="6223000" cy="1524000"/>
          </a:xfrm>
          <a:prstGeom prst="rect">
            <a:avLst/>
          </a:prstGeom>
          <a:noFill/>
          <a:ln/>
        </p:spPr>
        <p:txBody>
          <a:bodyPr wrap="square" lIns="0" tIns="0" rIns="0" bIns="0" rtlCol="0" anchor="ctr"/>
          <a:lstStyle/>
          <a:p>
            <a:pPr>
              <a:lnSpc>
                <a:spcPct val="170000"/>
              </a:lnSpc>
            </a:pPr>
            <a:r>
              <a:rPr lang="en-US" sz="2400" dirty="0">
                <a:solidFill>
                  <a:srgbClr val="2C2C2C"/>
                </a:solidFill>
              </a:rPr>
              <a:t>"我把科学院的大炮都给你们调来了！"</a:t>
            </a:r>
            <a:endParaRPr lang="en-US" sz="1600" dirty="0"/>
          </a:p>
          <a:p>
            <a:pPr algn="r">
              <a:lnSpc>
                <a:spcPct val="170000"/>
              </a:lnSpc>
            </a:pPr>
            <a:r>
              <a:rPr lang="en-US" sz="2400" dirty="0">
                <a:solidFill>
                  <a:srgbClr val="666666"/>
                </a:solidFill>
              </a:rPr>
              <a:t>——钱学森在科大力学系宣布任课教师名单时</a:t>
            </a:r>
            <a:endParaRPr lang="en-US" sz="1600" dirty="0"/>
          </a:p>
        </p:txBody>
      </p:sp>
      <p:sp>
        <p:nvSpPr>
          <p:cNvPr id="20" name="Text 18"/>
          <p:cNvSpPr/>
          <p:nvPr/>
        </p:nvSpPr>
        <p:spPr>
          <a:xfrm>
            <a:off x="635000" y="5842000"/>
            <a:ext cx="3810000" cy="355600"/>
          </a:xfrm>
          <a:prstGeom prst="rect">
            <a:avLst/>
          </a:prstGeom>
          <a:noFill/>
          <a:ln/>
        </p:spPr>
        <p:txBody>
          <a:bodyPr wrap="none" lIns="0" tIns="0" rIns="0" bIns="0" rtlCol="0" anchor="ctr"/>
          <a:lstStyle/>
          <a:p>
            <a:pPr>
              <a:lnSpc>
                <a:spcPct val="100000"/>
              </a:lnSpc>
            </a:pPr>
            <a:r>
              <a:rPr lang="en-US" sz="2400" b="1" dirty="0">
                <a:solidFill>
                  <a:srgbClr val="8B1A1A"/>
                </a:solidFill>
              </a:rPr>
              <a:t>科教融合培养模式</a:t>
            </a:r>
            <a:endParaRPr lang="en-US" sz="1600" dirty="0"/>
          </a:p>
        </p:txBody>
      </p:sp>
      <p:sp>
        <p:nvSpPr>
          <p:cNvPr id="21" name="Shape 19"/>
          <p:cNvSpPr/>
          <p:nvPr/>
        </p:nvSpPr>
        <p:spPr>
          <a:xfrm>
            <a:off x="635000" y="62738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22" name="Text 20"/>
          <p:cNvSpPr/>
          <p:nvPr/>
        </p:nvSpPr>
        <p:spPr>
          <a:xfrm>
            <a:off x="635000" y="6477000"/>
            <a:ext cx="14986000" cy="1524000"/>
          </a:xfrm>
          <a:prstGeom prst="rect">
            <a:avLst/>
          </a:prstGeom>
          <a:noFill/>
          <a:ln/>
        </p:spPr>
        <p:txBody>
          <a:bodyPr wrap="square" lIns="0" tIns="0" rIns="0" bIns="0" rtlCol="0" anchor="ctr"/>
          <a:lstStyle/>
          <a:p>
            <a:pPr>
              <a:lnSpc>
                <a:spcPct val="170000"/>
              </a:lnSpc>
            </a:pPr>
            <a:r>
              <a:rPr lang="en-US" sz="2400" dirty="0">
                <a:solidFill>
                  <a:srgbClr val="2C2C2C"/>
                </a:solidFill>
              </a:rPr>
              <a:t>建校初期，中国科大开创</a:t>
            </a:r>
            <a:r>
              <a:rPr lang="en-US" sz="2400" b="1" dirty="0">
                <a:solidFill>
                  <a:srgbClr val="2C2C2C"/>
                </a:solidFill>
              </a:rPr>
              <a:t>"全院办校、所系结合"</a:t>
            </a:r>
            <a:r>
              <a:rPr lang="en-US" sz="2400" dirty="0">
                <a:solidFill>
                  <a:srgbClr val="2C2C2C"/>
                </a:solidFill>
              </a:rPr>
              <a:t>的链式模式，由钱学森等"两弹一星"功勋科学家亲自制定培养计划，面向国家战略需求培养尖端科技人才。他主讲的《火箭技术导论》后来改为《星际航行概论》，并编写专著成为学生专用教材。</a:t>
            </a:r>
            <a:endParaRPr lang="en-US" sz="1600" dirty="0"/>
          </a:p>
        </p:txBody>
      </p:sp>
      <p:sp>
        <p:nvSpPr>
          <p:cNvPr id="23" name="Shape 2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97536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工程科学教育思想</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7366000" cy="5334000"/>
          </a:xfrm>
          <a:prstGeom prst="rect">
            <a:avLst/>
          </a:prstGeom>
          <a:solidFill>
            <a:srgbClr val="FFF5F5"/>
          </a:solidFill>
          <a:ln w="12700">
            <a:solidFill>
              <a:srgbClr val="8B1A1A">
                <a:alpha val="25098"/>
              </a:srgbClr>
            </a:solidFill>
            <a:prstDash val="solid"/>
          </a:ln>
        </p:spPr>
        <p:txBody>
          <a:bodyPr/>
          <a:lstStyle/>
          <a:p>
            <a:endParaRPr/>
          </a:p>
        </p:txBody>
      </p:sp>
      <p:sp>
        <p:nvSpPr>
          <p:cNvPr id="17" name="Text 15"/>
          <p:cNvSpPr/>
          <p:nvPr/>
        </p:nvSpPr>
        <p:spPr>
          <a:xfrm>
            <a:off x="889000" y="1752600"/>
            <a:ext cx="6858000" cy="381000"/>
          </a:xfrm>
          <a:prstGeom prst="rect">
            <a:avLst/>
          </a:prstGeom>
          <a:noFill/>
          <a:ln/>
        </p:spPr>
        <p:txBody>
          <a:bodyPr wrap="none" lIns="0" tIns="0" rIns="0" bIns="0" rtlCol="0" anchor="ctr"/>
          <a:lstStyle/>
          <a:p>
            <a:pPr>
              <a:lnSpc>
                <a:spcPct val="100000"/>
              </a:lnSpc>
            </a:pPr>
            <a:r>
              <a:rPr lang="en-US" sz="2400" b="1" dirty="0">
                <a:solidFill>
                  <a:srgbClr val="8B1A1A"/>
                </a:solidFill>
              </a:rPr>
              <a:t>核心理念</a:t>
            </a:r>
            <a:endParaRPr lang="en-US" sz="1600" dirty="0"/>
          </a:p>
        </p:txBody>
      </p:sp>
      <p:sp>
        <p:nvSpPr>
          <p:cNvPr id="18" name="Text 16"/>
          <p:cNvSpPr/>
          <p:nvPr/>
        </p:nvSpPr>
        <p:spPr>
          <a:xfrm>
            <a:off x="889000" y="2286000"/>
            <a:ext cx="6858000" cy="4318000"/>
          </a:xfrm>
          <a:prstGeom prst="rect">
            <a:avLst/>
          </a:prstGeom>
          <a:noFill/>
          <a:ln/>
        </p:spPr>
        <p:txBody>
          <a:bodyPr wrap="square" lIns="0" tIns="0" rIns="0" bIns="0" rtlCol="0" anchor="ctr"/>
          <a:lstStyle/>
          <a:p>
            <a:pPr>
              <a:lnSpc>
                <a:spcPct val="170000"/>
              </a:lnSpc>
            </a:pPr>
            <a:r>
              <a:rPr lang="en-US" sz="2400" b="1" dirty="0">
                <a:solidFill>
                  <a:srgbClr val="2C2C2C"/>
                </a:solidFill>
              </a:rPr>
              <a:t>培养目标：</a:t>
            </a:r>
            <a:r>
              <a:rPr lang="en-US" sz="2400" dirty="0">
                <a:solidFill>
                  <a:srgbClr val="2C2C2C"/>
                </a:solidFill>
              </a:rPr>
              <a:t>类似于"研究工程师"——既有科学研究能力的工程技术人才，又是有一定工程技术才能的科学工作者。</a:t>
            </a:r>
            <a:endParaRPr lang="en-US" sz="1600" dirty="0"/>
          </a:p>
          <a:p>
            <a:pPr>
              <a:lnSpc>
                <a:spcPct val="170000"/>
              </a:lnSpc>
            </a:pPr>
            <a:r>
              <a:rPr lang="en-US" sz="2400" b="1" dirty="0">
                <a:solidFill>
                  <a:srgbClr val="2C2C2C"/>
                </a:solidFill>
              </a:rPr>
              <a:t>知识结构：</a:t>
            </a:r>
            <a:r>
              <a:rPr lang="en-US" sz="2400" dirty="0">
                <a:solidFill>
                  <a:srgbClr val="2C2C2C"/>
                </a:solidFill>
              </a:rPr>
              <a:t>应像</a:t>
            </a:r>
            <a:r>
              <a:rPr lang="en-US" sz="2400" b="1" dirty="0">
                <a:solidFill>
                  <a:srgbClr val="2C2C2C"/>
                </a:solidFill>
              </a:rPr>
              <a:t>"金字塔"</a:t>
            </a:r>
            <a:r>
              <a:rPr lang="en-US" sz="2400" dirty="0">
                <a:solidFill>
                  <a:srgbClr val="2C2C2C"/>
                </a:solidFill>
              </a:rPr>
              <a:t>，基础宽厚才有后劲。科学技术的发展不可避免地将会是多学科的相互交叉与渗透。</a:t>
            </a:r>
            <a:endParaRPr lang="en-US" sz="1600" dirty="0"/>
          </a:p>
          <a:p>
            <a:pPr>
              <a:lnSpc>
                <a:spcPct val="170000"/>
              </a:lnSpc>
            </a:pPr>
            <a:r>
              <a:rPr lang="en-US" sz="2400" b="1" dirty="0">
                <a:solidFill>
                  <a:srgbClr val="2C2C2C"/>
                </a:solidFill>
              </a:rPr>
              <a:t>教学原则：</a:t>
            </a:r>
            <a:r>
              <a:rPr lang="en-US" sz="2400" dirty="0">
                <a:solidFill>
                  <a:srgbClr val="2C2C2C"/>
                </a:solidFill>
              </a:rPr>
              <a:t>做到</a:t>
            </a:r>
            <a:r>
              <a:rPr lang="en-US" sz="2400" b="1" dirty="0">
                <a:solidFill>
                  <a:srgbClr val="2C2C2C"/>
                </a:solidFill>
              </a:rPr>
              <a:t>"理与工的结合，科学与技术的结合"</a:t>
            </a:r>
            <a:r>
              <a:rPr lang="en-US" sz="2400" dirty="0">
                <a:solidFill>
                  <a:srgbClr val="2C2C2C"/>
                </a:solidFill>
              </a:rPr>
              <a:t>，课程设置突出先进性与前瞻性。</a:t>
            </a:r>
            <a:endParaRPr lang="en-US" sz="1600" dirty="0"/>
          </a:p>
        </p:txBody>
      </p:sp>
      <p:sp>
        <p:nvSpPr>
          <p:cNvPr id="19" name="Shape 17"/>
          <p:cNvSpPr/>
          <p:nvPr/>
        </p:nvSpPr>
        <p:spPr>
          <a:xfrm>
            <a:off x="8255000" y="1549400"/>
            <a:ext cx="7366000" cy="5334000"/>
          </a:xfrm>
          <a:prstGeom prst="rect">
            <a:avLst/>
          </a:prstGeom>
          <a:solidFill>
            <a:srgbClr val="FFF8E6"/>
          </a:solidFill>
          <a:ln w="12700">
            <a:solidFill>
              <a:srgbClr val="B8860B">
                <a:alpha val="25098"/>
              </a:srgbClr>
            </a:solidFill>
            <a:prstDash val="solid"/>
          </a:ln>
        </p:spPr>
        <p:txBody>
          <a:bodyPr/>
          <a:lstStyle/>
          <a:p>
            <a:endParaRPr/>
          </a:p>
        </p:txBody>
      </p:sp>
      <p:sp>
        <p:nvSpPr>
          <p:cNvPr id="20" name="Text 18"/>
          <p:cNvSpPr/>
          <p:nvPr/>
        </p:nvSpPr>
        <p:spPr>
          <a:xfrm>
            <a:off x="8509000" y="1752600"/>
            <a:ext cx="6858000" cy="381000"/>
          </a:xfrm>
          <a:prstGeom prst="rect">
            <a:avLst/>
          </a:prstGeom>
          <a:noFill/>
          <a:ln/>
        </p:spPr>
        <p:txBody>
          <a:bodyPr wrap="none" lIns="0" tIns="0" rIns="0" bIns="0" rtlCol="0" anchor="ctr"/>
          <a:lstStyle/>
          <a:p>
            <a:pPr>
              <a:lnSpc>
                <a:spcPct val="100000"/>
              </a:lnSpc>
            </a:pPr>
            <a:r>
              <a:rPr lang="en-US" sz="2400" b="1" dirty="0">
                <a:solidFill>
                  <a:srgbClr val="6D4C00"/>
                </a:solidFill>
              </a:rPr>
              <a:t>"三严"作风</a:t>
            </a:r>
            <a:endParaRPr lang="en-US" sz="1600" dirty="0"/>
          </a:p>
        </p:txBody>
      </p:sp>
      <p:sp>
        <p:nvSpPr>
          <p:cNvPr id="21" name="Text 19"/>
          <p:cNvSpPr/>
          <p:nvPr/>
        </p:nvSpPr>
        <p:spPr>
          <a:xfrm>
            <a:off x="8509000" y="2286000"/>
            <a:ext cx="6858000" cy="4318000"/>
          </a:xfrm>
          <a:prstGeom prst="rect">
            <a:avLst/>
          </a:prstGeom>
          <a:noFill/>
          <a:ln/>
        </p:spPr>
        <p:txBody>
          <a:bodyPr wrap="square" lIns="0" tIns="0" rIns="0" bIns="0" rtlCol="0" anchor="ctr"/>
          <a:lstStyle/>
          <a:p>
            <a:pPr>
              <a:lnSpc>
                <a:spcPct val="170000"/>
              </a:lnSpc>
            </a:pPr>
            <a:r>
              <a:rPr lang="en-US" sz="2400" dirty="0">
                <a:solidFill>
                  <a:srgbClr val="2C2C2C"/>
                </a:solidFill>
              </a:rPr>
              <a:t>1963年，钱学森为58、59级学生做了</a:t>
            </a:r>
            <a:r>
              <a:rPr lang="en-US" sz="2400" b="1" dirty="0">
                <a:solidFill>
                  <a:srgbClr val="2C2C2C"/>
                </a:solidFill>
              </a:rPr>
              <a:t>"如何撰写毕业论文"</a:t>
            </a:r>
            <a:r>
              <a:rPr lang="en-US" sz="2400" dirty="0">
                <a:solidFill>
                  <a:srgbClr val="2C2C2C"/>
                </a:solidFill>
              </a:rPr>
              <a:t>的报告。</a:t>
            </a:r>
            <a:endParaRPr lang="en-US" sz="1600" dirty="0"/>
          </a:p>
          <a:p>
            <a:pPr>
              <a:lnSpc>
                <a:spcPct val="170000"/>
              </a:lnSpc>
            </a:pPr>
            <a:r>
              <a:rPr lang="en-US" sz="2400" dirty="0">
                <a:solidFill>
                  <a:srgbClr val="2C2C2C"/>
                </a:solidFill>
              </a:rPr>
              <a:t>他指出做毕业论文是为今后从事科研工作练兵，所以一定要做到：</a:t>
            </a:r>
            <a:endParaRPr lang="en-US" sz="1600" dirty="0"/>
          </a:p>
          <a:p>
            <a:pPr>
              <a:lnSpc>
                <a:spcPct val="170000"/>
              </a:lnSpc>
            </a:pPr>
            <a:r>
              <a:rPr lang="en-US" sz="2400" b="1" dirty="0">
                <a:solidFill>
                  <a:srgbClr val="8B1A1A"/>
                </a:solidFill>
              </a:rPr>
              <a:t>严肃、严密、严格</a:t>
            </a:r>
            <a:endParaRPr lang="en-US" sz="1600" dirty="0"/>
          </a:p>
          <a:p>
            <a:pPr>
              <a:lnSpc>
                <a:spcPct val="170000"/>
              </a:lnSpc>
            </a:pPr>
            <a:r>
              <a:rPr lang="en-US" sz="2400" dirty="0">
                <a:solidFill>
                  <a:srgbClr val="2C2C2C"/>
                </a:solidFill>
              </a:rPr>
              <a:t>他亲自听取学生毕业论文答辩，对培养工作作了专门部署。这种"三严"作风代代相传，成为科大的优良传统。</a:t>
            </a:r>
            <a:endParaRPr lang="en-US" sz="1600" dirty="0"/>
          </a:p>
        </p:txBody>
      </p:sp>
      <p:sp>
        <p:nvSpPr>
          <p:cNvPr id="22" name="Shape 20"/>
          <p:cNvSpPr/>
          <p:nvPr/>
        </p:nvSpPr>
        <p:spPr>
          <a:xfrm>
            <a:off x="635000" y="7162799"/>
            <a:ext cx="14986000" cy="815009"/>
          </a:xfrm>
          <a:prstGeom prst="rect">
            <a:avLst/>
          </a:prstGeom>
          <a:solidFill>
            <a:srgbClr val="FFF5F5"/>
          </a:solidFill>
          <a:ln w="25400">
            <a:solidFill>
              <a:srgbClr val="B8860B"/>
            </a:solidFill>
            <a:prstDash val="solid"/>
          </a:ln>
        </p:spPr>
        <p:txBody>
          <a:bodyPr/>
          <a:lstStyle/>
          <a:p>
            <a:endParaRPr/>
          </a:p>
        </p:txBody>
      </p:sp>
      <p:sp>
        <p:nvSpPr>
          <p:cNvPr id="23" name="Text 21"/>
          <p:cNvSpPr/>
          <p:nvPr/>
        </p:nvSpPr>
        <p:spPr>
          <a:xfrm>
            <a:off x="889000" y="7162799"/>
            <a:ext cx="14478000" cy="761997"/>
          </a:xfrm>
          <a:prstGeom prst="rect">
            <a:avLst/>
          </a:prstGeom>
          <a:noFill/>
          <a:ln/>
        </p:spPr>
        <p:txBody>
          <a:bodyPr wrap="square" lIns="0" tIns="0" rIns="0" bIns="0" rtlCol="0" anchor="ctr"/>
          <a:lstStyle/>
          <a:p>
            <a:pPr>
              <a:lnSpc>
                <a:spcPct val="100000"/>
              </a:lnSpc>
            </a:pPr>
            <a:r>
              <a:rPr lang="en-US" sz="2400" b="1" dirty="0">
                <a:solidFill>
                  <a:srgbClr val="8B1A1A"/>
                </a:solidFill>
              </a:rPr>
              <a:t>核心启示：</a:t>
            </a:r>
            <a:r>
              <a:rPr lang="en-US" sz="2400" dirty="0">
                <a:solidFill>
                  <a:srgbClr val="8B1A1A"/>
                </a:solidFill>
              </a:rPr>
              <a:t>钱学森的教育思想强调"理工结合、科教融合"，这一理念至今仍是中国科学技术大学拔尖创新人才培养的核心理念。</a:t>
            </a:r>
            <a:endParaRPr lang="en-US" sz="1600" dirty="0"/>
          </a:p>
        </p:txBody>
      </p:sp>
      <p:sp>
        <p:nvSpPr>
          <p:cNvPr id="24" name="Shape 22"/>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97536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人才培养与力学英才班</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74800"/>
            <a:ext cx="3429000" cy="1778000"/>
          </a:xfrm>
          <a:prstGeom prst="rect">
            <a:avLst/>
          </a:prstGeom>
          <a:solidFill>
            <a:srgbClr val="8B1A1A"/>
          </a:solidFill>
          <a:ln/>
        </p:spPr>
        <p:txBody>
          <a:bodyPr/>
          <a:lstStyle/>
          <a:p>
            <a:endParaRPr/>
          </a:p>
        </p:txBody>
      </p:sp>
      <p:sp>
        <p:nvSpPr>
          <p:cNvPr id="17" name="Text 15"/>
          <p:cNvSpPr/>
          <p:nvPr/>
        </p:nvSpPr>
        <p:spPr>
          <a:xfrm>
            <a:off x="635000" y="1676400"/>
            <a:ext cx="3429000" cy="889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黑体" pitchFamily="34" charset="0"/>
                <a:ea typeface="黑体"/>
              </a:rPr>
              <a:t>2009</a:t>
            </a:r>
            <a:endParaRPr lang="en-US" sz="1600" dirty="0"/>
          </a:p>
        </p:txBody>
      </p:sp>
      <p:sp>
        <p:nvSpPr>
          <p:cNvPr id="18" name="Text 16"/>
          <p:cNvSpPr/>
          <p:nvPr/>
        </p:nvSpPr>
        <p:spPr>
          <a:xfrm>
            <a:off x="635000" y="2641600"/>
            <a:ext cx="3429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钱学森力学科技英才班成立</a:t>
            </a:r>
            <a:endParaRPr lang="en-US" sz="1600" dirty="0"/>
          </a:p>
        </p:txBody>
      </p:sp>
      <p:sp>
        <p:nvSpPr>
          <p:cNvPr id="19" name="Shape 17"/>
          <p:cNvSpPr/>
          <p:nvPr/>
        </p:nvSpPr>
        <p:spPr>
          <a:xfrm>
            <a:off x="4318000" y="1574800"/>
            <a:ext cx="3429000" cy="1778000"/>
          </a:xfrm>
          <a:prstGeom prst="rect">
            <a:avLst/>
          </a:prstGeom>
          <a:solidFill>
            <a:srgbClr val="B8860B"/>
          </a:solidFill>
          <a:ln/>
        </p:spPr>
        <p:txBody>
          <a:bodyPr/>
          <a:lstStyle/>
          <a:p>
            <a:endParaRPr/>
          </a:p>
        </p:txBody>
      </p:sp>
      <p:sp>
        <p:nvSpPr>
          <p:cNvPr id="20" name="Text 18"/>
          <p:cNvSpPr/>
          <p:nvPr/>
        </p:nvSpPr>
        <p:spPr>
          <a:xfrm>
            <a:off x="4318000" y="1676400"/>
            <a:ext cx="3429000" cy="889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黑体" pitchFamily="34" charset="0"/>
                <a:ea typeface="黑体"/>
              </a:rPr>
              <a:t>256名</a:t>
            </a:r>
            <a:endParaRPr lang="en-US" sz="1600" dirty="0"/>
          </a:p>
        </p:txBody>
      </p:sp>
      <p:sp>
        <p:nvSpPr>
          <p:cNvPr id="21" name="Text 19"/>
          <p:cNvSpPr/>
          <p:nvPr/>
        </p:nvSpPr>
        <p:spPr>
          <a:xfrm>
            <a:off x="4318000" y="2641600"/>
            <a:ext cx="3429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截至2024年共12届毕业生</a:t>
            </a:r>
            <a:endParaRPr lang="en-US" sz="1600" dirty="0"/>
          </a:p>
        </p:txBody>
      </p:sp>
      <p:sp>
        <p:nvSpPr>
          <p:cNvPr id="22" name="Shape 20"/>
          <p:cNvSpPr/>
          <p:nvPr/>
        </p:nvSpPr>
        <p:spPr>
          <a:xfrm>
            <a:off x="8001000" y="1574800"/>
            <a:ext cx="3429000" cy="1778000"/>
          </a:xfrm>
          <a:prstGeom prst="rect">
            <a:avLst/>
          </a:prstGeom>
          <a:solidFill>
            <a:srgbClr val="6D0E0E"/>
          </a:solidFill>
          <a:ln/>
        </p:spPr>
        <p:txBody>
          <a:bodyPr/>
          <a:lstStyle/>
          <a:p>
            <a:endParaRPr/>
          </a:p>
        </p:txBody>
      </p:sp>
      <p:sp>
        <p:nvSpPr>
          <p:cNvPr id="23" name="Text 21"/>
          <p:cNvSpPr/>
          <p:nvPr/>
        </p:nvSpPr>
        <p:spPr>
          <a:xfrm>
            <a:off x="8001000" y="1676400"/>
            <a:ext cx="3429000" cy="889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黑体" pitchFamily="34" charset="0"/>
                <a:ea typeface="黑体"/>
              </a:rPr>
              <a:t>98.83%</a:t>
            </a:r>
            <a:endParaRPr lang="en-US" sz="1600" dirty="0"/>
          </a:p>
        </p:txBody>
      </p:sp>
      <p:sp>
        <p:nvSpPr>
          <p:cNvPr id="24" name="Text 22"/>
          <p:cNvSpPr/>
          <p:nvPr/>
        </p:nvSpPr>
        <p:spPr>
          <a:xfrm>
            <a:off x="8001000" y="2641600"/>
            <a:ext cx="3429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赴国内外知名高校深造比例</a:t>
            </a:r>
            <a:endParaRPr lang="en-US" sz="1600" dirty="0"/>
          </a:p>
        </p:txBody>
      </p:sp>
      <p:sp>
        <p:nvSpPr>
          <p:cNvPr id="25" name="Shape 23"/>
          <p:cNvSpPr/>
          <p:nvPr/>
        </p:nvSpPr>
        <p:spPr>
          <a:xfrm>
            <a:off x="11684000" y="1574800"/>
            <a:ext cx="3937000" cy="1778000"/>
          </a:xfrm>
          <a:prstGeom prst="rect">
            <a:avLst/>
          </a:prstGeom>
          <a:solidFill>
            <a:srgbClr val="5A0A0A"/>
          </a:solidFill>
          <a:ln/>
        </p:spPr>
        <p:txBody>
          <a:bodyPr/>
          <a:lstStyle/>
          <a:p>
            <a:endParaRPr/>
          </a:p>
        </p:txBody>
      </p:sp>
      <p:sp>
        <p:nvSpPr>
          <p:cNvPr id="26" name="Text 24"/>
          <p:cNvSpPr/>
          <p:nvPr/>
        </p:nvSpPr>
        <p:spPr>
          <a:xfrm>
            <a:off x="11684000" y="1676400"/>
            <a:ext cx="3937000" cy="889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黑体" pitchFamily="34" charset="0"/>
                <a:ea typeface="黑体"/>
              </a:rPr>
              <a:t>国家级</a:t>
            </a:r>
            <a:endParaRPr lang="en-US" sz="1600" dirty="0"/>
          </a:p>
        </p:txBody>
      </p:sp>
      <p:sp>
        <p:nvSpPr>
          <p:cNvPr id="27" name="Text 25"/>
          <p:cNvSpPr/>
          <p:nvPr/>
        </p:nvSpPr>
        <p:spPr>
          <a:xfrm>
            <a:off x="11684000" y="2641600"/>
            <a:ext cx="3937000" cy="381000"/>
          </a:xfrm>
          <a:prstGeom prst="rect">
            <a:avLst/>
          </a:prstGeom>
          <a:noFill/>
          <a:ln/>
        </p:spPr>
        <p:txBody>
          <a:bodyPr wrap="square" lIns="0" tIns="0" rIns="0" bIns="0" rtlCol="0" anchor="ctr"/>
          <a:lstStyle/>
          <a:p>
            <a:pPr algn="ctr">
              <a:lnSpc>
                <a:spcPct val="100000"/>
              </a:lnSpc>
            </a:pPr>
            <a:r>
              <a:rPr lang="en-US" sz="2400" dirty="0">
                <a:solidFill>
                  <a:srgbClr val="FFFFFF">
                    <a:alpha val="80000"/>
                  </a:srgbClr>
                </a:solidFill>
              </a:rPr>
              <a:t>教学成果奖与拔尖计划标杆</a:t>
            </a:r>
            <a:endParaRPr lang="en-US" sz="1600" dirty="0"/>
          </a:p>
        </p:txBody>
      </p:sp>
      <p:sp>
        <p:nvSpPr>
          <p:cNvPr id="28" name="Text 26"/>
          <p:cNvSpPr/>
          <p:nvPr/>
        </p:nvSpPr>
        <p:spPr>
          <a:xfrm>
            <a:off x="635000" y="3683000"/>
            <a:ext cx="14986000" cy="3048000"/>
          </a:xfrm>
          <a:prstGeom prst="rect">
            <a:avLst/>
          </a:prstGeom>
          <a:noFill/>
          <a:ln/>
        </p:spPr>
        <p:txBody>
          <a:bodyPr wrap="square" lIns="0" tIns="0" rIns="0" bIns="0" rtlCol="0" anchor="ctr"/>
          <a:lstStyle/>
          <a:p>
            <a:pPr>
              <a:lnSpc>
                <a:spcPct val="170000"/>
              </a:lnSpc>
            </a:pPr>
            <a:r>
              <a:rPr lang="en-US" sz="2400" dirty="0">
                <a:solidFill>
                  <a:srgbClr val="2C2C2C"/>
                </a:solidFill>
              </a:rPr>
              <a:t>钱学森力学科技英才班践行钱学森"工程科学"教育思想，构建</a:t>
            </a:r>
            <a:r>
              <a:rPr lang="en-US" sz="2400" b="1" dirty="0">
                <a:solidFill>
                  <a:srgbClr val="2C2C2C"/>
                </a:solidFill>
              </a:rPr>
              <a:t>"数理通修-工程科学基础-力学专业核心-科研创新能力训练"</a:t>
            </a:r>
            <a:r>
              <a:rPr lang="en-US" sz="2400" dirty="0">
                <a:solidFill>
                  <a:srgbClr val="2C2C2C"/>
                </a:solidFill>
              </a:rPr>
              <a:t>的培养框架。</a:t>
            </a:r>
            <a:endParaRPr lang="en-US" sz="1600" dirty="0"/>
          </a:p>
          <a:p>
            <a:pPr>
              <a:lnSpc>
                <a:spcPct val="170000"/>
              </a:lnSpc>
            </a:pPr>
            <a:r>
              <a:rPr lang="en-US" sz="2400" dirty="0">
                <a:solidFill>
                  <a:srgbClr val="2C2C2C"/>
                </a:solidFill>
              </a:rPr>
              <a:t>依托中国科学院力学研究所和校内科研平台，实现</a:t>
            </a:r>
            <a:r>
              <a:rPr lang="en-US" sz="2400" b="1" dirty="0">
                <a:solidFill>
                  <a:srgbClr val="2C2C2C"/>
                </a:solidFill>
              </a:rPr>
              <a:t>"本科生全员进实验室""本科生百分百参与科研实践"</a:t>
            </a:r>
            <a:r>
              <a:rPr lang="en-US" sz="2400" dirty="0">
                <a:solidFill>
                  <a:srgbClr val="2C2C2C"/>
                </a:solidFill>
              </a:rPr>
              <a:t>。</a:t>
            </a:r>
            <a:endParaRPr lang="en-US" sz="1600" dirty="0"/>
          </a:p>
          <a:p>
            <a:pPr>
              <a:lnSpc>
                <a:spcPct val="170000"/>
              </a:lnSpc>
            </a:pPr>
            <a:r>
              <a:rPr lang="en-US" sz="2400" dirty="0">
                <a:solidFill>
                  <a:srgbClr val="2C2C2C"/>
                </a:solidFill>
              </a:rPr>
              <a:t>以钱学森力学科技英才班实践探索为重要内容的中科大本科力学拔尖人才培养传承创新与实践曾获</a:t>
            </a:r>
            <a:r>
              <a:rPr lang="en-US" sz="2400" b="1" dirty="0">
                <a:solidFill>
                  <a:srgbClr val="2C2C2C"/>
                </a:solidFill>
              </a:rPr>
              <a:t>2018年度高等教育国家级教学成果二等奖</a:t>
            </a:r>
            <a:r>
              <a:rPr lang="en-US" sz="2400" dirty="0">
                <a:solidFill>
                  <a:srgbClr val="2C2C2C"/>
                </a:solidFill>
              </a:rPr>
              <a:t>，已成为全国力学拔尖创新人才培养的标杆。</a:t>
            </a:r>
            <a:endParaRPr lang="en-US" sz="1600" dirty="0"/>
          </a:p>
        </p:txBody>
      </p:sp>
      <p:sp>
        <p:nvSpPr>
          <p:cNvPr id="29" name="Shape 27"/>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97536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晚年贡献：系统科学与大成智慧</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Text 14"/>
          <p:cNvSpPr/>
          <p:nvPr/>
        </p:nvSpPr>
        <p:spPr>
          <a:xfrm>
            <a:off x="635000" y="1651000"/>
            <a:ext cx="7620000" cy="3810000"/>
          </a:xfrm>
          <a:prstGeom prst="rect">
            <a:avLst/>
          </a:prstGeom>
          <a:noFill/>
          <a:ln/>
        </p:spPr>
        <p:txBody>
          <a:bodyPr wrap="square" lIns="0" tIns="0" rIns="0" bIns="0" rtlCol="0" anchor="ctr"/>
          <a:lstStyle/>
          <a:p>
            <a:pPr>
              <a:lnSpc>
                <a:spcPct val="170000"/>
              </a:lnSpc>
            </a:pPr>
            <a:r>
              <a:rPr lang="en-US" sz="2000" b="1" dirty="0">
                <a:solidFill>
                  <a:srgbClr val="2C2C2C"/>
                </a:solidFill>
              </a:rPr>
              <a:t>1982年</a:t>
            </a:r>
            <a:r>
              <a:rPr lang="en-US" sz="2000" dirty="0">
                <a:solidFill>
                  <a:srgbClr val="2C2C2C"/>
                </a:solidFill>
              </a:rPr>
              <a:t>，71岁的钱学森退出国防一线。但他退而不休，说：</a:t>
            </a:r>
            <a:r>
              <a:rPr lang="en-US" sz="2000" b="1" dirty="0">
                <a:solidFill>
                  <a:srgbClr val="8B1A1A"/>
                </a:solidFill>
              </a:rPr>
              <a:t>"我回国后在一线干了27年，我要抓紧余生，做一些对国家对人民有益的事情。"</a:t>
            </a:r>
            <a:endParaRPr lang="en-US" sz="1400" dirty="0"/>
          </a:p>
          <a:p>
            <a:pPr>
              <a:lnSpc>
                <a:spcPct val="170000"/>
              </a:lnSpc>
            </a:pPr>
            <a:r>
              <a:rPr lang="en-US" sz="2000" dirty="0">
                <a:solidFill>
                  <a:srgbClr val="2C2C2C"/>
                </a:solidFill>
              </a:rPr>
              <a:t>他在系统工程、思维科学、人体科学等领域提出许多开创性观点，构建</a:t>
            </a:r>
            <a:r>
              <a:rPr lang="en-US" sz="2000" b="1" dirty="0">
                <a:solidFill>
                  <a:srgbClr val="2C2C2C"/>
                </a:solidFill>
              </a:rPr>
              <a:t>"现代科学技术体系"</a:t>
            </a:r>
            <a:r>
              <a:rPr lang="en-US" sz="2000" dirty="0">
                <a:solidFill>
                  <a:srgbClr val="2C2C2C"/>
                </a:solidFill>
              </a:rPr>
              <a:t>，提出</a:t>
            </a:r>
            <a:r>
              <a:rPr lang="en-US" sz="2000" b="1" dirty="0">
                <a:solidFill>
                  <a:srgbClr val="2C2C2C"/>
                </a:solidFill>
              </a:rPr>
              <a:t>"大成智慧"</a:t>
            </a:r>
            <a:r>
              <a:rPr lang="en-US" sz="2000" dirty="0">
                <a:solidFill>
                  <a:srgbClr val="2C2C2C"/>
                </a:solidFill>
              </a:rPr>
              <a:t>教育思想。</a:t>
            </a:r>
            <a:endParaRPr lang="en-US" sz="1400" dirty="0"/>
          </a:p>
          <a:p>
            <a:pPr>
              <a:lnSpc>
                <a:spcPct val="170000"/>
              </a:lnSpc>
            </a:pPr>
            <a:r>
              <a:rPr lang="en-US" sz="2000" dirty="0">
                <a:solidFill>
                  <a:srgbClr val="2C2C2C"/>
                </a:solidFill>
              </a:rPr>
              <a:t>连续16个大年初一，他都在写学术交流书信，最多一天写7封信。</a:t>
            </a:r>
            <a:endParaRPr lang="en-US" sz="1400" dirty="0"/>
          </a:p>
        </p:txBody>
      </p:sp>
      <p:sp>
        <p:nvSpPr>
          <p:cNvPr id="17" name="Shape 15"/>
          <p:cNvSpPr/>
          <p:nvPr/>
        </p:nvSpPr>
        <p:spPr>
          <a:xfrm>
            <a:off x="8636000" y="1650999"/>
            <a:ext cx="6985000" cy="2748721"/>
          </a:xfrm>
          <a:prstGeom prst="rect">
            <a:avLst/>
          </a:prstGeom>
          <a:solidFill>
            <a:srgbClr val="FFF5F5"/>
          </a:solidFill>
          <a:ln w="25400">
            <a:solidFill>
              <a:srgbClr val="B8860B"/>
            </a:solidFill>
            <a:prstDash val="solid"/>
          </a:ln>
        </p:spPr>
        <p:txBody>
          <a:bodyPr/>
          <a:lstStyle/>
          <a:p>
            <a:endParaRPr/>
          </a:p>
        </p:txBody>
      </p:sp>
      <p:sp>
        <p:nvSpPr>
          <p:cNvPr id="18" name="Shape 16"/>
          <p:cNvSpPr/>
          <p:nvPr/>
        </p:nvSpPr>
        <p:spPr>
          <a:xfrm>
            <a:off x="9039225" y="1905000"/>
            <a:ext cx="311150" cy="355600"/>
          </a:xfrm>
          <a:custGeom>
            <a:avLst/>
            <a:gdLst/>
            <a:ahLst/>
            <a:cxnLst/>
            <a:rect l="l" t="t" r="r" b="b"/>
            <a:pathLst>
              <a:path w="311150" h="355600">
                <a:moveTo>
                  <a:pt x="0" y="150019"/>
                </a:moveTo>
                <a:cubicBezTo>
                  <a:pt x="0" y="103971"/>
                  <a:pt x="37296" y="66675"/>
                  <a:pt x="83344" y="66675"/>
                </a:cubicBezTo>
                <a:lnTo>
                  <a:pt x="88900" y="66675"/>
                </a:lnTo>
                <a:cubicBezTo>
                  <a:pt x="101193" y="66675"/>
                  <a:pt x="111125" y="76607"/>
                  <a:pt x="111125" y="88900"/>
                </a:cubicBezTo>
                <a:cubicBezTo>
                  <a:pt x="111125" y="101193"/>
                  <a:pt x="101193" y="111125"/>
                  <a:pt x="88900" y="111125"/>
                </a:cubicBezTo>
                <a:lnTo>
                  <a:pt x="83344" y="111125"/>
                </a:lnTo>
                <a:cubicBezTo>
                  <a:pt x="61883" y="111125"/>
                  <a:pt x="44450" y="128558"/>
                  <a:pt x="44450" y="150019"/>
                </a:cubicBezTo>
                <a:lnTo>
                  <a:pt x="44450" y="155575"/>
                </a:lnTo>
                <a:lnTo>
                  <a:pt x="88900" y="155575"/>
                </a:lnTo>
                <a:cubicBezTo>
                  <a:pt x="113417" y="155575"/>
                  <a:pt x="133350" y="175508"/>
                  <a:pt x="133350" y="200025"/>
                </a:cubicBezTo>
                <a:lnTo>
                  <a:pt x="133350" y="244475"/>
                </a:lnTo>
                <a:cubicBezTo>
                  <a:pt x="133350" y="268992"/>
                  <a:pt x="113417" y="288925"/>
                  <a:pt x="88900" y="288925"/>
                </a:cubicBezTo>
                <a:lnTo>
                  <a:pt x="44450" y="288925"/>
                </a:lnTo>
                <a:cubicBezTo>
                  <a:pt x="19933" y="288925"/>
                  <a:pt x="0" y="268992"/>
                  <a:pt x="0" y="244475"/>
                </a:cubicBezTo>
                <a:lnTo>
                  <a:pt x="0" y="150019"/>
                </a:lnTo>
                <a:close/>
                <a:moveTo>
                  <a:pt x="177800" y="150019"/>
                </a:moveTo>
                <a:cubicBezTo>
                  <a:pt x="177800" y="103971"/>
                  <a:pt x="215096" y="66675"/>
                  <a:pt x="261144" y="66675"/>
                </a:cubicBezTo>
                <a:lnTo>
                  <a:pt x="266700" y="66675"/>
                </a:lnTo>
                <a:cubicBezTo>
                  <a:pt x="278993" y="66675"/>
                  <a:pt x="288925" y="76607"/>
                  <a:pt x="288925" y="88900"/>
                </a:cubicBezTo>
                <a:cubicBezTo>
                  <a:pt x="288925" y="101193"/>
                  <a:pt x="278993" y="111125"/>
                  <a:pt x="266700" y="111125"/>
                </a:cubicBezTo>
                <a:lnTo>
                  <a:pt x="261144" y="111125"/>
                </a:lnTo>
                <a:cubicBezTo>
                  <a:pt x="239683" y="111125"/>
                  <a:pt x="222250" y="128558"/>
                  <a:pt x="222250" y="150019"/>
                </a:cubicBezTo>
                <a:lnTo>
                  <a:pt x="222250" y="155575"/>
                </a:lnTo>
                <a:lnTo>
                  <a:pt x="266700" y="155575"/>
                </a:lnTo>
                <a:cubicBezTo>
                  <a:pt x="291217" y="155575"/>
                  <a:pt x="311150" y="175508"/>
                  <a:pt x="311150" y="200025"/>
                </a:cubicBezTo>
                <a:lnTo>
                  <a:pt x="311150" y="244475"/>
                </a:lnTo>
                <a:cubicBezTo>
                  <a:pt x="311150" y="268992"/>
                  <a:pt x="291217" y="288925"/>
                  <a:pt x="266700" y="288925"/>
                </a:cubicBezTo>
                <a:lnTo>
                  <a:pt x="222250" y="288925"/>
                </a:lnTo>
                <a:cubicBezTo>
                  <a:pt x="197733" y="288925"/>
                  <a:pt x="177800" y="268992"/>
                  <a:pt x="177800" y="244475"/>
                </a:cubicBezTo>
                <a:lnTo>
                  <a:pt x="177800" y="150019"/>
                </a:lnTo>
                <a:close/>
              </a:path>
            </a:pathLst>
          </a:custGeom>
          <a:solidFill>
            <a:srgbClr val="B8860B"/>
          </a:solidFill>
          <a:ln/>
        </p:spPr>
        <p:txBody>
          <a:bodyPr/>
          <a:lstStyle/>
          <a:p>
            <a:endParaRPr/>
          </a:p>
        </p:txBody>
      </p:sp>
      <p:sp>
        <p:nvSpPr>
          <p:cNvPr id="19" name="Text 17"/>
          <p:cNvSpPr/>
          <p:nvPr/>
        </p:nvSpPr>
        <p:spPr>
          <a:xfrm>
            <a:off x="9017000" y="2413000"/>
            <a:ext cx="6223000" cy="1524000"/>
          </a:xfrm>
          <a:prstGeom prst="rect">
            <a:avLst/>
          </a:prstGeom>
          <a:noFill/>
          <a:ln/>
        </p:spPr>
        <p:txBody>
          <a:bodyPr wrap="square" lIns="0" tIns="0" rIns="0" bIns="0" rtlCol="0" anchor="ctr"/>
          <a:lstStyle/>
          <a:p>
            <a:pPr>
              <a:lnSpc>
                <a:spcPct val="170000"/>
              </a:lnSpc>
            </a:pPr>
            <a:r>
              <a:rPr lang="en-US" sz="2400" dirty="0">
                <a:solidFill>
                  <a:srgbClr val="2C2C2C"/>
                </a:solidFill>
              </a:rPr>
              <a:t>"我回国以后在一线干了27年，我以后不可能再有27年了，我要抓紧余生，做一些对国家对人民有益的事情。"</a:t>
            </a:r>
            <a:endParaRPr lang="en-US" sz="1600" dirty="0"/>
          </a:p>
          <a:p>
            <a:pPr algn="r">
              <a:lnSpc>
                <a:spcPct val="170000"/>
              </a:lnSpc>
            </a:pPr>
            <a:r>
              <a:rPr lang="en-US" sz="2400" dirty="0">
                <a:solidFill>
                  <a:srgbClr val="666666"/>
                </a:solidFill>
              </a:rPr>
              <a:t>——钱学森</a:t>
            </a:r>
            <a:endParaRPr lang="en-US" sz="1600" dirty="0"/>
          </a:p>
        </p:txBody>
      </p:sp>
      <p:sp>
        <p:nvSpPr>
          <p:cNvPr id="20" name="Text 18"/>
          <p:cNvSpPr/>
          <p:nvPr/>
        </p:nvSpPr>
        <p:spPr>
          <a:xfrm>
            <a:off x="635000" y="5842000"/>
            <a:ext cx="3810000" cy="355600"/>
          </a:xfrm>
          <a:prstGeom prst="rect">
            <a:avLst/>
          </a:prstGeom>
          <a:noFill/>
          <a:ln/>
        </p:spPr>
        <p:txBody>
          <a:bodyPr wrap="none" lIns="0" tIns="0" rIns="0" bIns="0" rtlCol="0" anchor="ctr"/>
          <a:lstStyle/>
          <a:p>
            <a:pPr>
              <a:lnSpc>
                <a:spcPct val="100000"/>
              </a:lnSpc>
            </a:pPr>
            <a:r>
              <a:rPr lang="en-US" sz="2400" b="1" dirty="0">
                <a:solidFill>
                  <a:srgbClr val="8B1A1A"/>
                </a:solidFill>
              </a:rPr>
              <a:t>晚年研究领域</a:t>
            </a:r>
            <a:endParaRPr lang="en-US" sz="1600" dirty="0"/>
          </a:p>
        </p:txBody>
      </p:sp>
      <p:sp>
        <p:nvSpPr>
          <p:cNvPr id="21" name="Shape 19"/>
          <p:cNvSpPr/>
          <p:nvPr/>
        </p:nvSpPr>
        <p:spPr>
          <a:xfrm>
            <a:off x="635000" y="62738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22" name="Text 20"/>
          <p:cNvSpPr/>
          <p:nvPr/>
        </p:nvSpPr>
        <p:spPr>
          <a:xfrm>
            <a:off x="635000" y="6477000"/>
            <a:ext cx="14986000" cy="1524000"/>
          </a:xfrm>
          <a:prstGeom prst="rect">
            <a:avLst/>
          </a:prstGeom>
          <a:noFill/>
          <a:ln/>
        </p:spPr>
        <p:txBody>
          <a:bodyPr wrap="square" lIns="0" tIns="0" rIns="0" bIns="0" rtlCol="0" anchor="ctr"/>
          <a:lstStyle/>
          <a:p>
            <a:pPr>
              <a:lnSpc>
                <a:spcPct val="170000"/>
              </a:lnSpc>
            </a:pPr>
            <a:r>
              <a:rPr lang="en-US" sz="2400" dirty="0">
                <a:solidFill>
                  <a:srgbClr val="2C2C2C"/>
                </a:solidFill>
              </a:rPr>
              <a:t>钱学森晚年以超前思维和远见卓识，在</a:t>
            </a:r>
            <a:r>
              <a:rPr lang="en-US" sz="2400" b="1" dirty="0">
                <a:solidFill>
                  <a:srgbClr val="2C2C2C"/>
                </a:solidFill>
              </a:rPr>
              <a:t>系统工程、系统科学与马克思主义哲学、思维科学、人体科学</a:t>
            </a:r>
            <a:r>
              <a:rPr lang="en-US" sz="2400" dirty="0">
                <a:solidFill>
                  <a:srgbClr val="2C2C2C"/>
                </a:solidFill>
              </a:rPr>
              <a:t>等领域做出开创性贡献。他提出"现代科学技术体系"，对现代农业、林业和沙业等重大问题提出了科学思想和创意，铸就了科学历程中的第三座创造高峰。</a:t>
            </a:r>
            <a:endParaRPr lang="en-US" sz="1600" dirty="0"/>
          </a:p>
        </p:txBody>
      </p:sp>
      <p:sp>
        <p:nvSpPr>
          <p:cNvPr id="23" name="Shape 2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5080000" y="0"/>
            <a:ext cx="11176000" cy="9144000"/>
          </a:xfrm>
          <a:prstGeom prst="rect">
            <a:avLst/>
          </a:prstGeom>
          <a:gradFill flip="none" rotWithShape="1">
            <a:gsLst>
              <a:gs pos="0">
                <a:srgbClr val="8B1A1A"/>
              </a:gs>
              <a:gs pos="100000">
                <a:srgbClr val="5A0A0A"/>
              </a:gs>
            </a:gsLst>
            <a:lin ang="5400000" scaled="1"/>
          </a:gradFill>
          <a:ln/>
        </p:spPr>
        <p:txBody>
          <a:bodyPr/>
          <a:lstStyle/>
          <a:p>
            <a:endParaRPr/>
          </a:p>
        </p:txBody>
      </p:sp>
      <p:sp>
        <p:nvSpPr>
          <p:cNvPr id="3" name="Text 1"/>
          <p:cNvSpPr/>
          <p:nvPr/>
        </p:nvSpPr>
        <p:spPr>
          <a:xfrm>
            <a:off x="508000" y="2794000"/>
            <a:ext cx="4318000" cy="2540000"/>
          </a:xfrm>
          <a:prstGeom prst="rect">
            <a:avLst/>
          </a:prstGeom>
          <a:noFill/>
          <a:ln/>
        </p:spPr>
        <p:txBody>
          <a:bodyPr wrap="none" lIns="0" tIns="0" rIns="0" bIns="0" rtlCol="0" anchor="ctr"/>
          <a:lstStyle/>
          <a:p>
            <a:pPr>
              <a:lnSpc>
                <a:spcPct val="100000"/>
              </a:lnSpc>
            </a:pPr>
            <a:r>
              <a:rPr lang="en-US" sz="14000" b="1" dirty="0">
                <a:solidFill>
                  <a:srgbClr val="B8860B"/>
                </a:solidFill>
                <a:latin typeface="黑体" pitchFamily="34" charset="0"/>
                <a:ea typeface="黑体"/>
              </a:rPr>
              <a:t>05</a:t>
            </a:r>
            <a:endParaRPr lang="en-US" sz="1600" dirty="0"/>
          </a:p>
        </p:txBody>
      </p:sp>
      <p:sp>
        <p:nvSpPr>
          <p:cNvPr id="4" name="Shape 2"/>
          <p:cNvSpPr/>
          <p:nvPr/>
        </p:nvSpPr>
        <p:spPr>
          <a:xfrm>
            <a:off x="508000" y="5588000"/>
            <a:ext cx="4064000" cy="0"/>
          </a:xfrm>
          <a:prstGeom prst="straightConnector1">
            <a:avLst/>
          </a:prstGeom>
          <a:noFill/>
          <a:ln w="38100">
            <a:solidFill>
              <a:srgbClr val="B8860B"/>
            </a:solidFill>
            <a:prstDash val="solid"/>
            <a:headEnd type="none"/>
            <a:tailEnd type="none"/>
          </a:ln>
        </p:spPr>
        <p:txBody>
          <a:bodyPr/>
          <a:lstStyle/>
          <a:p>
            <a:endParaRPr/>
          </a:p>
        </p:txBody>
      </p:sp>
      <p:sp>
        <p:nvSpPr>
          <p:cNvPr id="5" name="Text 3"/>
          <p:cNvSpPr/>
          <p:nvPr/>
        </p:nvSpPr>
        <p:spPr>
          <a:xfrm>
            <a:off x="5842000" y="3302000"/>
            <a:ext cx="9144000" cy="762000"/>
          </a:xfrm>
          <a:prstGeom prst="rect">
            <a:avLst/>
          </a:prstGeom>
          <a:noFill/>
          <a:ln/>
        </p:spPr>
        <p:txBody>
          <a:bodyPr wrap="none" lIns="0" tIns="0" rIns="0" bIns="0" rtlCol="0" anchor="ctr"/>
          <a:lstStyle/>
          <a:p>
            <a:pPr>
              <a:lnSpc>
                <a:spcPct val="100000"/>
              </a:lnSpc>
            </a:pPr>
            <a:r>
              <a:rPr lang="en-US" sz="3800" b="1" dirty="0">
                <a:solidFill>
                  <a:srgbClr val="FFFFFF"/>
                </a:solidFill>
                <a:latin typeface="黑体" pitchFamily="34" charset="0"/>
                <a:ea typeface="黑体"/>
              </a:rPr>
              <a:t>科学家精神 薪火相传</a:t>
            </a:r>
            <a:endParaRPr lang="en-US" sz="1600" dirty="0"/>
          </a:p>
        </p:txBody>
      </p:sp>
      <p:sp>
        <p:nvSpPr>
          <p:cNvPr id="6" name="Text 4"/>
          <p:cNvSpPr/>
          <p:nvPr/>
        </p:nvSpPr>
        <p:spPr>
          <a:xfrm>
            <a:off x="5842000" y="4191000"/>
            <a:ext cx="8890000" cy="355600"/>
          </a:xfrm>
          <a:prstGeom prst="rect">
            <a:avLst/>
          </a:prstGeom>
          <a:noFill/>
          <a:ln/>
        </p:spPr>
        <p:txBody>
          <a:bodyPr wrap="none" lIns="0" tIns="0" rIns="0" bIns="0" rtlCol="0" anchor="ctr"/>
          <a:lstStyle/>
          <a:p>
            <a:pPr>
              <a:lnSpc>
                <a:spcPct val="100000"/>
              </a:lnSpc>
            </a:pPr>
            <a:endParaRPr lang="en-US" sz="1600" dirty="0"/>
          </a:p>
        </p:txBody>
      </p:sp>
      <p:sp>
        <p:nvSpPr>
          <p:cNvPr id="7" name="Text 5"/>
          <p:cNvSpPr/>
          <p:nvPr/>
        </p:nvSpPr>
        <p:spPr>
          <a:xfrm>
            <a:off x="5842000" y="50800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5.1　爱国精神：胸怀祖国 服务人民</a:t>
            </a:r>
            <a:endParaRPr lang="en-US" sz="1600" dirty="0"/>
          </a:p>
        </p:txBody>
      </p:sp>
      <p:sp>
        <p:nvSpPr>
          <p:cNvPr id="8" name="Text 6"/>
          <p:cNvSpPr/>
          <p:nvPr/>
        </p:nvSpPr>
        <p:spPr>
          <a:xfrm>
            <a:off x="5842000" y="55118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5.2　创新精神：勇攀高峰 敢为人先</a:t>
            </a:r>
            <a:endParaRPr lang="en-US" sz="1600" dirty="0"/>
          </a:p>
        </p:txBody>
      </p:sp>
      <p:sp>
        <p:nvSpPr>
          <p:cNvPr id="9" name="Text 7"/>
          <p:cNvSpPr/>
          <p:nvPr/>
        </p:nvSpPr>
        <p:spPr>
          <a:xfrm>
            <a:off x="5842000" y="59436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5.3　奉献精神：淡泊名利 潜心研究</a:t>
            </a:r>
            <a:endParaRPr lang="en-US" sz="1600" dirty="0"/>
          </a:p>
        </p:txBody>
      </p:sp>
      <p:sp>
        <p:nvSpPr>
          <p:cNvPr id="10" name="Text 8"/>
          <p:cNvSpPr/>
          <p:nvPr/>
        </p:nvSpPr>
        <p:spPr>
          <a:xfrm>
            <a:off x="5842000" y="6375400"/>
            <a:ext cx="8890000" cy="330200"/>
          </a:xfrm>
          <a:prstGeom prst="rect">
            <a:avLst/>
          </a:prstGeom>
          <a:noFill/>
          <a:ln/>
        </p:spPr>
        <p:txBody>
          <a:bodyPr wrap="none" lIns="0" tIns="0" rIns="0" bIns="0" rtlCol="0" anchor="ctr"/>
          <a:lstStyle/>
          <a:p>
            <a:pPr>
              <a:lnSpc>
                <a:spcPct val="100000"/>
              </a:lnSpc>
            </a:pPr>
            <a:r>
              <a:rPr lang="en-US" sz="2400" dirty="0">
                <a:solidFill>
                  <a:srgbClr val="FFFFFF">
                    <a:alpha val="80000"/>
                  </a:srgbClr>
                </a:solidFill>
              </a:rPr>
              <a:t>5.4　协同与育人精神</a:t>
            </a:r>
            <a:endParaRPr lang="en-US" sz="1600" dirty="0"/>
          </a:p>
        </p:txBody>
      </p:sp>
      <p:sp>
        <p:nvSpPr>
          <p:cNvPr id="11" name="Shape 9"/>
          <p:cNvSpPr/>
          <p:nvPr/>
        </p:nvSpPr>
        <p:spPr>
          <a:xfrm>
            <a:off x="5842000" y="3149600"/>
            <a:ext cx="2540000" cy="0"/>
          </a:xfrm>
          <a:prstGeom prst="straightConnector1">
            <a:avLst/>
          </a:prstGeom>
          <a:noFill/>
          <a:ln w="25400">
            <a:solidFill>
              <a:srgbClr val="B8860B"/>
            </a:solidFill>
            <a:prstDash val="solid"/>
            <a:headEnd type="none"/>
            <a:tailEnd type="none"/>
          </a:ln>
        </p:spPr>
        <p:txBody>
          <a:bodyPr/>
          <a:lstStyle/>
          <a:p>
            <a:endParaRPr/>
          </a:p>
        </p:txBody>
      </p:sp>
      <p:sp>
        <p:nvSpPr>
          <p:cNvPr id="12"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2400" dirty="0">
                <a:solidFill>
                  <a:srgbClr val="FFFFFF">
                    <a:alpha val="66667"/>
                  </a:srgbClr>
                </a:solidFill>
              </a:rPr>
              <a:t>21</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130048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爱国精神：胸怀祖国 服务人民</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651000"/>
            <a:ext cx="14986000" cy="2032000"/>
          </a:xfrm>
          <a:prstGeom prst="rect">
            <a:avLst/>
          </a:prstGeom>
          <a:solidFill>
            <a:srgbClr val="FFF5F5"/>
          </a:solidFill>
          <a:ln w="25400">
            <a:solidFill>
              <a:srgbClr val="8B1A1A"/>
            </a:solidFill>
            <a:prstDash val="solid"/>
          </a:ln>
        </p:spPr>
        <p:txBody>
          <a:bodyPr/>
          <a:lstStyle/>
          <a:p>
            <a:endParaRPr/>
          </a:p>
        </p:txBody>
      </p:sp>
      <p:sp>
        <p:nvSpPr>
          <p:cNvPr id="17" name="Shape 15"/>
          <p:cNvSpPr/>
          <p:nvPr/>
        </p:nvSpPr>
        <p:spPr>
          <a:xfrm>
            <a:off x="1044575" y="1905000"/>
            <a:ext cx="400050" cy="457200"/>
          </a:xfrm>
          <a:custGeom>
            <a:avLst/>
            <a:gdLst/>
            <a:ahLst/>
            <a:cxnLst/>
            <a:rect l="l" t="t" r="r" b="b"/>
            <a:pathLst>
              <a:path w="400050" h="457200">
                <a:moveTo>
                  <a:pt x="0" y="192881"/>
                </a:moveTo>
                <a:cubicBezTo>
                  <a:pt x="0" y="133677"/>
                  <a:pt x="47952" y="85725"/>
                  <a:pt x="107156" y="85725"/>
                </a:cubicBezTo>
                <a:lnTo>
                  <a:pt x="114300" y="85725"/>
                </a:lnTo>
                <a:cubicBezTo>
                  <a:pt x="130106" y="85725"/>
                  <a:pt x="142875" y="98494"/>
                  <a:pt x="142875" y="114300"/>
                </a:cubicBezTo>
                <a:cubicBezTo>
                  <a:pt x="142875" y="130106"/>
                  <a:pt x="130106" y="142875"/>
                  <a:pt x="114300" y="142875"/>
                </a:cubicBezTo>
                <a:lnTo>
                  <a:pt x="107156" y="142875"/>
                </a:lnTo>
                <a:cubicBezTo>
                  <a:pt x="79564" y="142875"/>
                  <a:pt x="57150" y="165289"/>
                  <a:pt x="57150" y="192881"/>
                </a:cubicBezTo>
                <a:lnTo>
                  <a:pt x="57150" y="200025"/>
                </a:lnTo>
                <a:lnTo>
                  <a:pt x="114300" y="200025"/>
                </a:lnTo>
                <a:cubicBezTo>
                  <a:pt x="145822" y="200025"/>
                  <a:pt x="171450" y="225653"/>
                  <a:pt x="171450" y="257175"/>
                </a:cubicBezTo>
                <a:lnTo>
                  <a:pt x="171450" y="314325"/>
                </a:lnTo>
                <a:cubicBezTo>
                  <a:pt x="171450" y="345847"/>
                  <a:pt x="145822" y="371475"/>
                  <a:pt x="114300" y="371475"/>
                </a:cubicBezTo>
                <a:lnTo>
                  <a:pt x="57150" y="371475"/>
                </a:lnTo>
                <a:cubicBezTo>
                  <a:pt x="25628" y="371475"/>
                  <a:pt x="0" y="345847"/>
                  <a:pt x="0" y="314325"/>
                </a:cubicBezTo>
                <a:lnTo>
                  <a:pt x="0" y="192881"/>
                </a:lnTo>
                <a:close/>
                <a:moveTo>
                  <a:pt x="228600" y="192881"/>
                </a:moveTo>
                <a:cubicBezTo>
                  <a:pt x="228600" y="133677"/>
                  <a:pt x="276552" y="85725"/>
                  <a:pt x="335756" y="85725"/>
                </a:cubicBezTo>
                <a:lnTo>
                  <a:pt x="342900" y="85725"/>
                </a:lnTo>
                <a:cubicBezTo>
                  <a:pt x="358706" y="85725"/>
                  <a:pt x="371475" y="98494"/>
                  <a:pt x="371475" y="114300"/>
                </a:cubicBezTo>
                <a:cubicBezTo>
                  <a:pt x="371475" y="130106"/>
                  <a:pt x="358706" y="142875"/>
                  <a:pt x="342900" y="142875"/>
                </a:cubicBezTo>
                <a:lnTo>
                  <a:pt x="335756" y="142875"/>
                </a:lnTo>
                <a:cubicBezTo>
                  <a:pt x="308164" y="142875"/>
                  <a:pt x="285750" y="165289"/>
                  <a:pt x="285750" y="192881"/>
                </a:cubicBezTo>
                <a:lnTo>
                  <a:pt x="285750" y="200025"/>
                </a:lnTo>
                <a:lnTo>
                  <a:pt x="342900" y="200025"/>
                </a:lnTo>
                <a:cubicBezTo>
                  <a:pt x="374422" y="200025"/>
                  <a:pt x="400050" y="225653"/>
                  <a:pt x="400050" y="257175"/>
                </a:cubicBezTo>
                <a:lnTo>
                  <a:pt x="400050" y="314325"/>
                </a:lnTo>
                <a:cubicBezTo>
                  <a:pt x="400050" y="345847"/>
                  <a:pt x="374422" y="371475"/>
                  <a:pt x="342900" y="371475"/>
                </a:cubicBezTo>
                <a:lnTo>
                  <a:pt x="285750" y="371475"/>
                </a:lnTo>
                <a:cubicBezTo>
                  <a:pt x="254228" y="371475"/>
                  <a:pt x="228600" y="345847"/>
                  <a:pt x="228600" y="314325"/>
                </a:cubicBezTo>
                <a:lnTo>
                  <a:pt x="228600" y="192881"/>
                </a:lnTo>
                <a:close/>
              </a:path>
            </a:pathLst>
          </a:custGeom>
          <a:solidFill>
            <a:srgbClr val="B8860B"/>
          </a:solidFill>
          <a:ln/>
        </p:spPr>
        <p:txBody>
          <a:bodyPr/>
          <a:lstStyle/>
          <a:p>
            <a:endParaRPr/>
          </a:p>
        </p:txBody>
      </p:sp>
      <p:sp>
        <p:nvSpPr>
          <p:cNvPr id="18" name="Text 16"/>
          <p:cNvSpPr/>
          <p:nvPr/>
        </p:nvSpPr>
        <p:spPr>
          <a:xfrm>
            <a:off x="1016000" y="2489200"/>
            <a:ext cx="14224000" cy="1016000"/>
          </a:xfrm>
          <a:prstGeom prst="rect">
            <a:avLst/>
          </a:prstGeom>
          <a:noFill/>
          <a:ln/>
        </p:spPr>
        <p:txBody>
          <a:bodyPr wrap="square" lIns="0" tIns="0" rIns="0" bIns="0" rtlCol="0" anchor="ctr"/>
          <a:lstStyle/>
          <a:p>
            <a:pPr>
              <a:lnSpc>
                <a:spcPct val="150000"/>
              </a:lnSpc>
            </a:pPr>
            <a:r>
              <a:rPr lang="en-US" sz="2400" b="1" dirty="0">
                <a:solidFill>
                  <a:srgbClr val="8B1A1A"/>
                </a:solidFill>
                <a:latin typeface="楷体" pitchFamily="34" charset="0"/>
                <a:ea typeface="楷体"/>
              </a:rPr>
              <a:t>"在他心里，国为重，家为轻；科学最重，名利最轻。5年归国路，10年两弹成。"</a:t>
            </a:r>
            <a:endParaRPr lang="en-US" sz="1600" dirty="0"/>
          </a:p>
          <a:p>
            <a:pPr algn="r">
              <a:lnSpc>
                <a:spcPct val="150000"/>
              </a:lnSpc>
            </a:pPr>
            <a:r>
              <a:rPr lang="en-US" sz="2400" dirty="0">
                <a:solidFill>
                  <a:srgbClr val="666666"/>
                </a:solidFill>
              </a:rPr>
              <a:t>——2007年《感动中国》组委会颁奖词</a:t>
            </a:r>
            <a:endParaRPr lang="en-US" sz="1600" dirty="0"/>
          </a:p>
        </p:txBody>
      </p:sp>
      <p:sp>
        <p:nvSpPr>
          <p:cNvPr id="19" name="Text 17"/>
          <p:cNvSpPr/>
          <p:nvPr/>
        </p:nvSpPr>
        <p:spPr>
          <a:xfrm>
            <a:off x="635000" y="4064000"/>
            <a:ext cx="14986000" cy="3302000"/>
          </a:xfrm>
          <a:prstGeom prst="rect">
            <a:avLst/>
          </a:prstGeom>
          <a:noFill/>
          <a:ln/>
        </p:spPr>
        <p:txBody>
          <a:bodyPr wrap="square" lIns="0" tIns="0" rIns="0" bIns="0" rtlCol="0" anchor="ctr"/>
          <a:lstStyle/>
          <a:p>
            <a:pPr>
              <a:lnSpc>
                <a:spcPct val="170000"/>
              </a:lnSpc>
            </a:pPr>
            <a:r>
              <a:rPr lang="en-US" sz="2400" dirty="0">
                <a:solidFill>
                  <a:srgbClr val="2C2C2C"/>
                </a:solidFill>
              </a:rPr>
              <a:t>钱学森放弃美国优厚待遇和终身教授职位，历经5年磨难毅然回国。他说：</a:t>
            </a:r>
            <a:r>
              <a:rPr lang="en-US" sz="2400" b="1" dirty="0">
                <a:solidFill>
                  <a:srgbClr val="8B1A1A"/>
                </a:solidFill>
              </a:rPr>
              <a:t>"我打算回中国去，竭尽全力，与中国人民一道建设国家，使中国人民过上有尊严的幸福生活。"</a:t>
            </a:r>
            <a:endParaRPr lang="en-US" sz="1600" dirty="0"/>
          </a:p>
          <a:p>
            <a:pPr>
              <a:lnSpc>
                <a:spcPct val="170000"/>
              </a:lnSpc>
            </a:pPr>
            <a:r>
              <a:rPr lang="en-US" sz="2400" dirty="0">
                <a:solidFill>
                  <a:srgbClr val="2C2C2C"/>
                </a:solidFill>
              </a:rPr>
              <a:t>他将个人理想与民族复兴紧密相连，是爱国知识分子的杰出典范。正如习近平总书记所指出：</a:t>
            </a:r>
            <a:r>
              <a:rPr lang="en-US" sz="2400" b="1" dirty="0">
                <a:solidFill>
                  <a:srgbClr val="2C2C2C"/>
                </a:solidFill>
              </a:rPr>
              <a:t>"科学无国界，而科学家有祖国。"</a:t>
            </a:r>
            <a:endParaRPr lang="en-US" sz="1600" dirty="0"/>
          </a:p>
          <a:p>
            <a:pPr>
              <a:lnSpc>
                <a:spcPct val="170000"/>
              </a:lnSpc>
            </a:pPr>
            <a:r>
              <a:rPr lang="en-US" sz="2400" dirty="0">
                <a:solidFill>
                  <a:srgbClr val="2C2C2C"/>
                </a:solidFill>
              </a:rPr>
              <a:t>钱学森的爱国精神，是科学家精神的灵魂所在，激励着一代代科技工作者把论文写在祖国的大地上。</a:t>
            </a:r>
            <a:endParaRPr lang="en-US" sz="1600" dirty="0"/>
          </a:p>
        </p:txBody>
      </p:sp>
      <p:sp>
        <p:nvSpPr>
          <p:cNvPr id="20" name="Shape 18"/>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130048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创新精神：勇攀高峰 敢为人先</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74800"/>
            <a:ext cx="7239000" cy="2794000"/>
          </a:xfrm>
          <a:prstGeom prst="rect">
            <a:avLst/>
          </a:prstGeom>
          <a:solidFill>
            <a:srgbClr val="FFF5F5"/>
          </a:solidFill>
          <a:ln w="25400">
            <a:solidFill>
              <a:srgbClr val="8B1A1A"/>
            </a:solidFill>
            <a:prstDash val="solid"/>
          </a:ln>
        </p:spPr>
        <p:txBody>
          <a:bodyPr/>
          <a:lstStyle/>
          <a:p>
            <a:endParaRPr/>
          </a:p>
        </p:txBody>
      </p:sp>
      <p:sp>
        <p:nvSpPr>
          <p:cNvPr id="17" name="Shape 15"/>
          <p:cNvSpPr/>
          <p:nvPr/>
        </p:nvSpPr>
        <p:spPr>
          <a:xfrm>
            <a:off x="635000" y="1574800"/>
            <a:ext cx="660400" cy="660400"/>
          </a:xfrm>
          <a:prstGeom prst="rect">
            <a:avLst/>
          </a:prstGeom>
          <a:solidFill>
            <a:srgbClr val="8B1A1A"/>
          </a:solidFill>
          <a:ln/>
        </p:spPr>
        <p:txBody>
          <a:bodyPr/>
          <a:lstStyle/>
          <a:p>
            <a:endParaRPr/>
          </a:p>
        </p:txBody>
      </p:sp>
      <p:sp>
        <p:nvSpPr>
          <p:cNvPr id="18" name="Text 16"/>
          <p:cNvSpPr/>
          <p:nvPr/>
        </p:nvSpPr>
        <p:spPr>
          <a:xfrm>
            <a:off x="635000" y="1574800"/>
            <a:ext cx="660400" cy="6604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楷体" pitchFamily="34" charset="0"/>
                <a:ea typeface="楷体"/>
              </a:rPr>
              <a:t>01</a:t>
            </a:r>
            <a:endParaRPr lang="en-US" sz="1600" dirty="0"/>
          </a:p>
        </p:txBody>
      </p:sp>
      <p:sp>
        <p:nvSpPr>
          <p:cNvPr id="19" name="Text 17"/>
          <p:cNvSpPr/>
          <p:nvPr/>
        </p:nvSpPr>
        <p:spPr>
          <a:xfrm>
            <a:off x="1473200" y="1676400"/>
            <a:ext cx="6096000" cy="355600"/>
          </a:xfrm>
          <a:prstGeom prst="rect">
            <a:avLst/>
          </a:prstGeom>
          <a:noFill/>
          <a:ln/>
        </p:spPr>
        <p:txBody>
          <a:bodyPr wrap="none" lIns="0" tIns="0" rIns="0" bIns="0" rtlCol="0" anchor="ctr"/>
          <a:lstStyle/>
          <a:p>
            <a:pPr>
              <a:lnSpc>
                <a:spcPct val="100000"/>
              </a:lnSpc>
            </a:pPr>
            <a:r>
              <a:rPr lang="en-US" sz="2400" b="1" dirty="0">
                <a:solidFill>
                  <a:srgbClr val="8B1A1A"/>
                </a:solidFill>
              </a:rPr>
              <a:t>卡门-钱学森公式</a:t>
            </a:r>
            <a:endParaRPr lang="en-US" sz="1600" dirty="0"/>
          </a:p>
        </p:txBody>
      </p:sp>
      <p:sp>
        <p:nvSpPr>
          <p:cNvPr id="20" name="Text 18"/>
          <p:cNvSpPr/>
          <p:nvPr/>
        </p:nvSpPr>
        <p:spPr>
          <a:xfrm>
            <a:off x="838200" y="2311400"/>
            <a:ext cx="6781800" cy="1778000"/>
          </a:xfrm>
          <a:prstGeom prst="rect">
            <a:avLst/>
          </a:prstGeom>
          <a:noFill/>
          <a:ln/>
        </p:spPr>
        <p:txBody>
          <a:bodyPr wrap="square" lIns="0" tIns="0" rIns="0" bIns="0" rtlCol="0" anchor="ctr"/>
          <a:lstStyle/>
          <a:p>
            <a:pPr>
              <a:lnSpc>
                <a:spcPct val="170000"/>
              </a:lnSpc>
            </a:pPr>
            <a:r>
              <a:rPr lang="en-US" sz="2400" dirty="0">
                <a:solidFill>
                  <a:srgbClr val="2C2C2C"/>
                </a:solidFill>
              </a:rPr>
              <a:t>与导师冯·卡门共同创立，在空气动力学和超音速飞行领域具有重大意义，对美国的火箭研究贡献突出。</a:t>
            </a:r>
            <a:endParaRPr lang="en-US" sz="1600" dirty="0"/>
          </a:p>
        </p:txBody>
      </p:sp>
      <p:sp>
        <p:nvSpPr>
          <p:cNvPr id="21" name="Shape 19"/>
          <p:cNvSpPr/>
          <p:nvPr/>
        </p:nvSpPr>
        <p:spPr>
          <a:xfrm>
            <a:off x="8382000" y="1574800"/>
            <a:ext cx="7239000" cy="2794000"/>
          </a:xfrm>
          <a:prstGeom prst="rect">
            <a:avLst/>
          </a:prstGeom>
          <a:solidFill>
            <a:srgbClr val="FFF8E6"/>
          </a:solidFill>
          <a:ln w="25400">
            <a:solidFill>
              <a:srgbClr val="B8860B"/>
            </a:solidFill>
            <a:prstDash val="solid"/>
          </a:ln>
        </p:spPr>
        <p:txBody>
          <a:bodyPr/>
          <a:lstStyle/>
          <a:p>
            <a:endParaRPr/>
          </a:p>
        </p:txBody>
      </p:sp>
      <p:sp>
        <p:nvSpPr>
          <p:cNvPr id="22" name="Shape 20"/>
          <p:cNvSpPr/>
          <p:nvPr/>
        </p:nvSpPr>
        <p:spPr>
          <a:xfrm>
            <a:off x="8382000" y="1574800"/>
            <a:ext cx="660400" cy="660400"/>
          </a:xfrm>
          <a:prstGeom prst="rect">
            <a:avLst/>
          </a:prstGeom>
          <a:solidFill>
            <a:srgbClr val="B8860B"/>
          </a:solidFill>
          <a:ln/>
        </p:spPr>
        <p:txBody>
          <a:bodyPr/>
          <a:lstStyle/>
          <a:p>
            <a:endParaRPr/>
          </a:p>
        </p:txBody>
      </p:sp>
      <p:sp>
        <p:nvSpPr>
          <p:cNvPr id="23" name="Text 21"/>
          <p:cNvSpPr/>
          <p:nvPr/>
        </p:nvSpPr>
        <p:spPr>
          <a:xfrm>
            <a:off x="8382000" y="1574800"/>
            <a:ext cx="660400" cy="6604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楷体" pitchFamily="34" charset="0"/>
                <a:ea typeface="楷体"/>
              </a:rPr>
              <a:t>02</a:t>
            </a:r>
            <a:endParaRPr lang="en-US" sz="1600" dirty="0"/>
          </a:p>
        </p:txBody>
      </p:sp>
      <p:sp>
        <p:nvSpPr>
          <p:cNvPr id="24" name="Text 22"/>
          <p:cNvSpPr/>
          <p:nvPr/>
        </p:nvSpPr>
        <p:spPr>
          <a:xfrm>
            <a:off x="9220200" y="1676400"/>
            <a:ext cx="6096000" cy="355600"/>
          </a:xfrm>
          <a:prstGeom prst="rect">
            <a:avLst/>
          </a:prstGeom>
          <a:noFill/>
          <a:ln/>
        </p:spPr>
        <p:txBody>
          <a:bodyPr wrap="none" lIns="0" tIns="0" rIns="0" bIns="0" rtlCol="0" anchor="ctr"/>
          <a:lstStyle/>
          <a:p>
            <a:pPr>
              <a:lnSpc>
                <a:spcPct val="100000"/>
              </a:lnSpc>
            </a:pPr>
            <a:r>
              <a:rPr lang="en-US" sz="2400" b="1" dirty="0">
                <a:solidFill>
                  <a:srgbClr val="6D4C00"/>
                </a:solidFill>
              </a:rPr>
              <a:t>总体设计部理论</a:t>
            </a:r>
            <a:endParaRPr lang="en-US" sz="1600" dirty="0"/>
          </a:p>
        </p:txBody>
      </p:sp>
      <p:sp>
        <p:nvSpPr>
          <p:cNvPr id="25" name="Text 23"/>
          <p:cNvSpPr/>
          <p:nvPr/>
        </p:nvSpPr>
        <p:spPr>
          <a:xfrm>
            <a:off x="8585200" y="2311400"/>
            <a:ext cx="6781800" cy="1778000"/>
          </a:xfrm>
          <a:prstGeom prst="rect">
            <a:avLst/>
          </a:prstGeom>
          <a:noFill/>
          <a:ln/>
        </p:spPr>
        <p:txBody>
          <a:bodyPr wrap="square" lIns="0" tIns="0" rIns="0" bIns="0" rtlCol="0" anchor="ctr"/>
          <a:lstStyle/>
          <a:p>
            <a:pPr>
              <a:lnSpc>
                <a:spcPct val="170000"/>
              </a:lnSpc>
            </a:pPr>
            <a:r>
              <a:rPr lang="en-US" sz="2400" dirty="0">
                <a:solidFill>
                  <a:srgbClr val="2C2C2C"/>
                </a:solidFill>
              </a:rPr>
              <a:t>创新提出"总体设计部"系统工程理论，强调"总体优化、系统协调"，被推广至全国工业领域。</a:t>
            </a:r>
            <a:endParaRPr lang="en-US" sz="1600" dirty="0"/>
          </a:p>
        </p:txBody>
      </p:sp>
      <p:sp>
        <p:nvSpPr>
          <p:cNvPr id="26" name="Shape 24"/>
          <p:cNvSpPr/>
          <p:nvPr/>
        </p:nvSpPr>
        <p:spPr>
          <a:xfrm>
            <a:off x="635000" y="4622800"/>
            <a:ext cx="7239000" cy="2794000"/>
          </a:xfrm>
          <a:prstGeom prst="rect">
            <a:avLst/>
          </a:prstGeom>
          <a:solidFill>
            <a:srgbClr val="FFF5F5"/>
          </a:solidFill>
          <a:ln w="25400">
            <a:solidFill>
              <a:srgbClr val="6D0E0E"/>
            </a:solidFill>
            <a:prstDash val="solid"/>
          </a:ln>
        </p:spPr>
        <p:txBody>
          <a:bodyPr/>
          <a:lstStyle/>
          <a:p>
            <a:endParaRPr/>
          </a:p>
        </p:txBody>
      </p:sp>
      <p:sp>
        <p:nvSpPr>
          <p:cNvPr id="27" name="Shape 25"/>
          <p:cNvSpPr/>
          <p:nvPr/>
        </p:nvSpPr>
        <p:spPr>
          <a:xfrm>
            <a:off x="635000" y="4622800"/>
            <a:ext cx="660400" cy="660400"/>
          </a:xfrm>
          <a:prstGeom prst="rect">
            <a:avLst/>
          </a:prstGeom>
          <a:solidFill>
            <a:srgbClr val="6D0E0E"/>
          </a:solidFill>
          <a:ln/>
        </p:spPr>
        <p:txBody>
          <a:bodyPr/>
          <a:lstStyle/>
          <a:p>
            <a:endParaRPr/>
          </a:p>
        </p:txBody>
      </p:sp>
      <p:sp>
        <p:nvSpPr>
          <p:cNvPr id="28" name="Text 26"/>
          <p:cNvSpPr/>
          <p:nvPr/>
        </p:nvSpPr>
        <p:spPr>
          <a:xfrm>
            <a:off x="635000" y="4622800"/>
            <a:ext cx="660400" cy="6604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楷体" pitchFamily="34" charset="0"/>
                <a:ea typeface="楷体"/>
              </a:rPr>
              <a:t>03</a:t>
            </a:r>
            <a:endParaRPr lang="en-US" sz="1600" dirty="0"/>
          </a:p>
        </p:txBody>
      </p:sp>
      <p:sp>
        <p:nvSpPr>
          <p:cNvPr id="29" name="Text 27"/>
          <p:cNvSpPr/>
          <p:nvPr/>
        </p:nvSpPr>
        <p:spPr>
          <a:xfrm>
            <a:off x="1473200" y="4724400"/>
            <a:ext cx="6096000" cy="355600"/>
          </a:xfrm>
          <a:prstGeom prst="rect">
            <a:avLst/>
          </a:prstGeom>
          <a:noFill/>
          <a:ln/>
        </p:spPr>
        <p:txBody>
          <a:bodyPr wrap="none" lIns="0" tIns="0" rIns="0" bIns="0" rtlCol="0" anchor="ctr"/>
          <a:lstStyle/>
          <a:p>
            <a:pPr>
              <a:lnSpc>
                <a:spcPct val="100000"/>
              </a:lnSpc>
            </a:pPr>
            <a:r>
              <a:rPr lang="en-US" sz="2400" b="1" dirty="0">
                <a:solidFill>
                  <a:srgbClr val="6D0E0E"/>
                </a:solidFill>
              </a:rPr>
              <a:t>工程控制论</a:t>
            </a:r>
            <a:endParaRPr lang="en-US" sz="1600" dirty="0"/>
          </a:p>
        </p:txBody>
      </p:sp>
      <p:sp>
        <p:nvSpPr>
          <p:cNvPr id="30" name="Text 28"/>
          <p:cNvSpPr/>
          <p:nvPr/>
        </p:nvSpPr>
        <p:spPr>
          <a:xfrm>
            <a:off x="838200" y="5359400"/>
            <a:ext cx="6781800" cy="1778000"/>
          </a:xfrm>
          <a:prstGeom prst="rect">
            <a:avLst/>
          </a:prstGeom>
          <a:noFill/>
          <a:ln/>
        </p:spPr>
        <p:txBody>
          <a:bodyPr wrap="square" lIns="0" tIns="0" rIns="0" bIns="0" rtlCol="0" anchor="ctr"/>
          <a:lstStyle/>
          <a:p>
            <a:pPr>
              <a:lnSpc>
                <a:spcPct val="170000"/>
              </a:lnSpc>
            </a:pPr>
            <a:r>
              <a:rPr lang="en-US" sz="2400" dirty="0">
                <a:solidFill>
                  <a:srgbClr val="2C2C2C"/>
                </a:solidFill>
              </a:rPr>
              <a:t>被软禁期间完成经典著作《工程控制论》，开创控制科学新领域，成为该学科的开山之作。</a:t>
            </a:r>
            <a:endParaRPr lang="en-US" sz="1600" dirty="0"/>
          </a:p>
        </p:txBody>
      </p:sp>
      <p:sp>
        <p:nvSpPr>
          <p:cNvPr id="31" name="Shape 29"/>
          <p:cNvSpPr/>
          <p:nvPr/>
        </p:nvSpPr>
        <p:spPr>
          <a:xfrm>
            <a:off x="8382000" y="4622800"/>
            <a:ext cx="7239000" cy="2794000"/>
          </a:xfrm>
          <a:prstGeom prst="rect">
            <a:avLst/>
          </a:prstGeom>
          <a:solidFill>
            <a:srgbClr val="FFF8E6"/>
          </a:solidFill>
          <a:ln w="25400">
            <a:solidFill>
              <a:srgbClr val="B8860B"/>
            </a:solidFill>
            <a:prstDash val="solid"/>
          </a:ln>
        </p:spPr>
        <p:txBody>
          <a:bodyPr/>
          <a:lstStyle/>
          <a:p>
            <a:endParaRPr/>
          </a:p>
        </p:txBody>
      </p:sp>
      <p:sp>
        <p:nvSpPr>
          <p:cNvPr id="32" name="Shape 30"/>
          <p:cNvSpPr/>
          <p:nvPr/>
        </p:nvSpPr>
        <p:spPr>
          <a:xfrm>
            <a:off x="8382000" y="4622800"/>
            <a:ext cx="660400" cy="660400"/>
          </a:xfrm>
          <a:prstGeom prst="rect">
            <a:avLst/>
          </a:prstGeom>
          <a:solidFill>
            <a:srgbClr val="B8860B"/>
          </a:solidFill>
          <a:ln/>
        </p:spPr>
        <p:txBody>
          <a:bodyPr/>
          <a:lstStyle/>
          <a:p>
            <a:endParaRPr/>
          </a:p>
        </p:txBody>
      </p:sp>
      <p:sp>
        <p:nvSpPr>
          <p:cNvPr id="33" name="Text 31"/>
          <p:cNvSpPr/>
          <p:nvPr/>
        </p:nvSpPr>
        <p:spPr>
          <a:xfrm>
            <a:off x="8382000" y="4622800"/>
            <a:ext cx="660400" cy="6604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楷体" pitchFamily="34" charset="0"/>
                <a:ea typeface="楷体"/>
              </a:rPr>
              <a:t>04</a:t>
            </a:r>
            <a:endParaRPr lang="en-US" sz="1600" dirty="0"/>
          </a:p>
        </p:txBody>
      </p:sp>
      <p:sp>
        <p:nvSpPr>
          <p:cNvPr id="34" name="Text 32"/>
          <p:cNvSpPr/>
          <p:nvPr/>
        </p:nvSpPr>
        <p:spPr>
          <a:xfrm>
            <a:off x="9220200" y="4724400"/>
            <a:ext cx="6096000" cy="355600"/>
          </a:xfrm>
          <a:prstGeom prst="rect">
            <a:avLst/>
          </a:prstGeom>
          <a:noFill/>
          <a:ln/>
        </p:spPr>
        <p:txBody>
          <a:bodyPr wrap="none" lIns="0" tIns="0" rIns="0" bIns="0" rtlCol="0" anchor="ctr"/>
          <a:lstStyle/>
          <a:p>
            <a:pPr>
              <a:lnSpc>
                <a:spcPct val="100000"/>
              </a:lnSpc>
            </a:pPr>
            <a:r>
              <a:rPr lang="en-US" sz="2400" b="1" dirty="0">
                <a:solidFill>
                  <a:srgbClr val="B8860B"/>
                </a:solidFill>
              </a:rPr>
              <a:t>现代科学技术体系</a:t>
            </a:r>
            <a:endParaRPr lang="en-US" sz="1600" dirty="0"/>
          </a:p>
        </p:txBody>
      </p:sp>
      <p:sp>
        <p:nvSpPr>
          <p:cNvPr id="35" name="Text 33"/>
          <p:cNvSpPr/>
          <p:nvPr/>
        </p:nvSpPr>
        <p:spPr>
          <a:xfrm>
            <a:off x="8585200" y="5359400"/>
            <a:ext cx="6781800" cy="1778000"/>
          </a:xfrm>
          <a:prstGeom prst="rect">
            <a:avLst/>
          </a:prstGeom>
          <a:noFill/>
          <a:ln/>
        </p:spPr>
        <p:txBody>
          <a:bodyPr wrap="square" lIns="0" tIns="0" rIns="0" bIns="0" rtlCol="0" anchor="ctr"/>
          <a:lstStyle/>
          <a:p>
            <a:pPr>
              <a:lnSpc>
                <a:spcPct val="170000"/>
              </a:lnSpc>
            </a:pPr>
            <a:r>
              <a:rPr lang="en-US" sz="2400" dirty="0">
                <a:solidFill>
                  <a:srgbClr val="2C2C2C"/>
                </a:solidFill>
              </a:rPr>
              <a:t>晚年构建"现代科学技术体系"，提出"大成智慧"教育思想，铸就科学历程中的第三座创造高峰。</a:t>
            </a:r>
            <a:endParaRPr lang="en-US" sz="1600" dirty="0"/>
          </a:p>
        </p:txBody>
      </p:sp>
      <p:sp>
        <p:nvSpPr>
          <p:cNvPr id="36" name="Shape 34"/>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130048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奉献精神：淡泊名利 潜心研究</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7366000" cy="5334000"/>
          </a:xfrm>
          <a:prstGeom prst="rect">
            <a:avLst/>
          </a:prstGeom>
          <a:solidFill>
            <a:srgbClr val="FFF5F5"/>
          </a:solidFill>
          <a:ln w="12700">
            <a:solidFill>
              <a:srgbClr val="8B1A1A">
                <a:alpha val="25098"/>
              </a:srgbClr>
            </a:solidFill>
            <a:prstDash val="solid"/>
          </a:ln>
        </p:spPr>
        <p:txBody>
          <a:bodyPr/>
          <a:lstStyle/>
          <a:p>
            <a:endParaRPr/>
          </a:p>
        </p:txBody>
      </p:sp>
      <p:sp>
        <p:nvSpPr>
          <p:cNvPr id="17" name="Text 15"/>
          <p:cNvSpPr/>
          <p:nvPr/>
        </p:nvSpPr>
        <p:spPr>
          <a:xfrm>
            <a:off x="889000" y="1778000"/>
            <a:ext cx="6858000" cy="4826000"/>
          </a:xfrm>
          <a:prstGeom prst="rect">
            <a:avLst/>
          </a:prstGeom>
          <a:noFill/>
          <a:ln/>
        </p:spPr>
        <p:txBody>
          <a:bodyPr wrap="square" lIns="0" tIns="0" rIns="0" bIns="0" rtlCol="0" anchor="ctr"/>
          <a:lstStyle/>
          <a:p>
            <a:pPr>
              <a:lnSpc>
                <a:spcPct val="170000"/>
              </a:lnSpc>
            </a:pPr>
            <a:r>
              <a:rPr lang="en-US" sz="2400" dirty="0">
                <a:solidFill>
                  <a:srgbClr val="2C2C2C"/>
                </a:solidFill>
              </a:rPr>
              <a:t>钱学森一生淡泊名利，曾说：</a:t>
            </a:r>
            <a:r>
              <a:rPr lang="en-US" sz="2400" b="1" dirty="0">
                <a:solidFill>
                  <a:srgbClr val="8B1A1A"/>
                </a:solidFill>
              </a:rPr>
              <a:t>"如果人民说我为国家做了点事，就是最高奖赏。"</a:t>
            </a:r>
            <a:endParaRPr lang="en-US" sz="1600" dirty="0"/>
          </a:p>
          <a:p>
            <a:pPr>
              <a:lnSpc>
                <a:spcPct val="170000"/>
              </a:lnSpc>
            </a:pPr>
            <a:r>
              <a:rPr lang="en-US" sz="2400" dirty="0">
                <a:solidFill>
                  <a:srgbClr val="2C2C2C"/>
                </a:solidFill>
              </a:rPr>
              <a:t>他连续</a:t>
            </a:r>
            <a:r>
              <a:rPr lang="en-US" sz="2400" b="1" dirty="0">
                <a:solidFill>
                  <a:srgbClr val="2C2C2C"/>
                </a:solidFill>
              </a:rPr>
              <a:t>16个大年初一</a:t>
            </a:r>
            <a:r>
              <a:rPr lang="en-US" sz="2400" dirty="0">
                <a:solidFill>
                  <a:srgbClr val="2C2C2C"/>
                </a:solidFill>
              </a:rPr>
              <a:t>都在写学术交流书信，最多一天写</a:t>
            </a:r>
            <a:r>
              <a:rPr lang="en-US" sz="2400" b="1" dirty="0">
                <a:solidFill>
                  <a:srgbClr val="2C2C2C"/>
                </a:solidFill>
              </a:rPr>
              <a:t>7封信</a:t>
            </a:r>
            <a:r>
              <a:rPr lang="en-US" sz="2400" dirty="0">
                <a:solidFill>
                  <a:srgbClr val="2C2C2C"/>
                </a:solidFill>
              </a:rPr>
              <a:t>。</a:t>
            </a:r>
            <a:endParaRPr lang="en-US" sz="1600" dirty="0"/>
          </a:p>
          <a:p>
            <a:pPr>
              <a:lnSpc>
                <a:spcPct val="170000"/>
              </a:lnSpc>
            </a:pPr>
            <a:r>
              <a:rPr lang="en-US" sz="2400" dirty="0">
                <a:solidFill>
                  <a:srgbClr val="2C2C2C"/>
                </a:solidFill>
              </a:rPr>
              <a:t>在戈壁深处的试验基地，他与战士们吃一样的饭菜，穿着满是汗渍的衣服，在指挥大厅拼板凳休息。</a:t>
            </a:r>
            <a:endParaRPr lang="en-US" sz="1600" dirty="0"/>
          </a:p>
          <a:p>
            <a:pPr>
              <a:lnSpc>
                <a:spcPct val="170000"/>
              </a:lnSpc>
            </a:pPr>
            <a:r>
              <a:rPr lang="en-US" sz="2400" dirty="0">
                <a:solidFill>
                  <a:srgbClr val="2C2C2C"/>
                </a:solidFill>
              </a:rPr>
              <a:t>干惊天动地事，做隐姓埋名人。</a:t>
            </a:r>
            <a:endParaRPr lang="en-US" sz="1600" dirty="0"/>
          </a:p>
        </p:txBody>
      </p:sp>
      <p:sp>
        <p:nvSpPr>
          <p:cNvPr id="18" name="Shape 16"/>
          <p:cNvSpPr/>
          <p:nvPr/>
        </p:nvSpPr>
        <p:spPr>
          <a:xfrm>
            <a:off x="8255000" y="1549400"/>
            <a:ext cx="7366000" cy="5334000"/>
          </a:xfrm>
          <a:prstGeom prst="rect">
            <a:avLst/>
          </a:prstGeom>
          <a:solidFill>
            <a:srgbClr val="FFF8E6"/>
          </a:solidFill>
          <a:ln w="12700">
            <a:solidFill>
              <a:srgbClr val="B8860B">
                <a:alpha val="25098"/>
              </a:srgbClr>
            </a:solidFill>
            <a:prstDash val="solid"/>
          </a:ln>
        </p:spPr>
        <p:txBody>
          <a:bodyPr/>
          <a:lstStyle/>
          <a:p>
            <a:endParaRPr/>
          </a:p>
        </p:txBody>
      </p:sp>
      <p:sp>
        <p:nvSpPr>
          <p:cNvPr id="19" name="Text 17"/>
          <p:cNvSpPr/>
          <p:nvPr/>
        </p:nvSpPr>
        <p:spPr>
          <a:xfrm>
            <a:off x="8509000" y="1778000"/>
            <a:ext cx="6858000" cy="381000"/>
          </a:xfrm>
          <a:prstGeom prst="rect">
            <a:avLst/>
          </a:prstGeom>
          <a:noFill/>
          <a:ln/>
        </p:spPr>
        <p:txBody>
          <a:bodyPr wrap="none" lIns="0" tIns="0" rIns="0" bIns="0" rtlCol="0" anchor="ctr"/>
          <a:lstStyle/>
          <a:p>
            <a:pPr>
              <a:lnSpc>
                <a:spcPct val="100000"/>
              </a:lnSpc>
            </a:pPr>
            <a:r>
              <a:rPr lang="en-US" sz="2400" b="1" dirty="0">
                <a:solidFill>
                  <a:srgbClr val="6D4C00"/>
                </a:solidFill>
              </a:rPr>
              <a:t>同甘共苦</a:t>
            </a:r>
            <a:endParaRPr lang="en-US" sz="1600" dirty="0"/>
          </a:p>
        </p:txBody>
      </p:sp>
      <p:sp>
        <p:nvSpPr>
          <p:cNvPr id="20" name="Text 18"/>
          <p:cNvSpPr/>
          <p:nvPr/>
        </p:nvSpPr>
        <p:spPr>
          <a:xfrm>
            <a:off x="8509000" y="2336800"/>
            <a:ext cx="6858000" cy="4318000"/>
          </a:xfrm>
          <a:prstGeom prst="rect">
            <a:avLst/>
          </a:prstGeom>
          <a:noFill/>
          <a:ln/>
        </p:spPr>
        <p:txBody>
          <a:bodyPr wrap="square" lIns="0" tIns="0" rIns="0" bIns="0" rtlCol="0" anchor="ctr"/>
          <a:lstStyle/>
          <a:p>
            <a:pPr>
              <a:lnSpc>
                <a:spcPct val="170000"/>
              </a:lnSpc>
            </a:pPr>
            <a:r>
              <a:rPr lang="en-US" sz="2400" dirty="0">
                <a:solidFill>
                  <a:srgbClr val="2C2C2C"/>
                </a:solidFill>
              </a:rPr>
              <a:t>钱学森虽是著名科学家，但与大家同甘共苦。</a:t>
            </a:r>
            <a:endParaRPr lang="en-US" sz="1600" dirty="0"/>
          </a:p>
          <a:p>
            <a:pPr>
              <a:lnSpc>
                <a:spcPct val="170000"/>
              </a:lnSpc>
            </a:pPr>
            <a:r>
              <a:rPr lang="en-US" sz="2400" dirty="0">
                <a:solidFill>
                  <a:srgbClr val="2C2C2C"/>
                </a:solidFill>
              </a:rPr>
              <a:t>他从美国回来后生活上不讲究，冬天穿着老羊皮大衣，夏天衣服上满是汗渍。</a:t>
            </a:r>
            <a:endParaRPr lang="en-US" sz="1600" dirty="0"/>
          </a:p>
          <a:p>
            <a:pPr>
              <a:lnSpc>
                <a:spcPct val="170000"/>
              </a:lnSpc>
            </a:pPr>
            <a:r>
              <a:rPr lang="en-US" sz="2400" dirty="0">
                <a:solidFill>
                  <a:srgbClr val="2C2C2C"/>
                </a:solidFill>
              </a:rPr>
              <a:t>晚上在试验指挥大厅拼板凳休息，还亲自去戈壁深处的观测点视察工作。</a:t>
            </a:r>
            <a:endParaRPr lang="en-US" sz="1600" dirty="0"/>
          </a:p>
          <a:p>
            <a:pPr>
              <a:lnSpc>
                <a:spcPct val="170000"/>
              </a:lnSpc>
            </a:pPr>
            <a:r>
              <a:rPr lang="en-US" sz="2400" dirty="0">
                <a:solidFill>
                  <a:srgbClr val="2C2C2C"/>
                </a:solidFill>
              </a:rPr>
              <a:t>他说：</a:t>
            </a:r>
            <a:r>
              <a:rPr lang="en-US" sz="2400" b="1" dirty="0">
                <a:solidFill>
                  <a:srgbClr val="8B1A1A"/>
                </a:solidFill>
              </a:rPr>
              <a:t>"国为重，家为轻。"</a:t>
            </a:r>
            <a:endParaRPr lang="en-US" sz="1600" dirty="0"/>
          </a:p>
        </p:txBody>
      </p:sp>
      <p:sp>
        <p:nvSpPr>
          <p:cNvPr id="21" name="Shape 19"/>
          <p:cNvSpPr/>
          <p:nvPr/>
        </p:nvSpPr>
        <p:spPr>
          <a:xfrm>
            <a:off x="635000" y="6997148"/>
            <a:ext cx="14986000" cy="841511"/>
          </a:xfrm>
          <a:prstGeom prst="rect">
            <a:avLst/>
          </a:prstGeom>
          <a:solidFill>
            <a:srgbClr val="FFF5F5"/>
          </a:solidFill>
          <a:ln w="25400">
            <a:solidFill>
              <a:srgbClr val="B8860B"/>
            </a:solidFill>
            <a:prstDash val="solid"/>
          </a:ln>
        </p:spPr>
        <p:txBody>
          <a:bodyPr/>
          <a:lstStyle/>
          <a:p>
            <a:endParaRPr/>
          </a:p>
        </p:txBody>
      </p:sp>
      <p:sp>
        <p:nvSpPr>
          <p:cNvPr id="22" name="Text 20"/>
          <p:cNvSpPr/>
          <p:nvPr/>
        </p:nvSpPr>
        <p:spPr>
          <a:xfrm>
            <a:off x="889000" y="7162800"/>
            <a:ext cx="14478000" cy="457200"/>
          </a:xfrm>
          <a:prstGeom prst="rect">
            <a:avLst/>
          </a:prstGeom>
          <a:noFill/>
          <a:ln/>
        </p:spPr>
        <p:txBody>
          <a:bodyPr wrap="square" lIns="0" tIns="0" rIns="0" bIns="0" rtlCol="0" anchor="ctr"/>
          <a:lstStyle/>
          <a:p>
            <a:pPr>
              <a:lnSpc>
                <a:spcPct val="100000"/>
              </a:lnSpc>
            </a:pPr>
            <a:r>
              <a:rPr lang="en-US" sz="2400" b="1" dirty="0">
                <a:solidFill>
                  <a:srgbClr val="8B1A1A"/>
                </a:solidFill>
              </a:rPr>
              <a:t>精神内核：</a:t>
            </a:r>
            <a:r>
              <a:rPr lang="en-US" sz="2400" dirty="0">
                <a:solidFill>
                  <a:srgbClr val="8B1A1A"/>
                </a:solidFill>
              </a:rPr>
              <a:t>钱学森以祖国强大、人民幸福为最高追求，坚信"外国人能干的，中国人都能干"，向祖国和人民递交了完美的人生答卷。</a:t>
            </a:r>
            <a:endParaRPr lang="en-US" sz="1600" dirty="0"/>
          </a:p>
        </p:txBody>
      </p:sp>
      <p:sp>
        <p:nvSpPr>
          <p:cNvPr id="23" name="Shape 2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130048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协同与育人精神</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549400"/>
            <a:ext cx="14986000" cy="6350000"/>
          </a:xfrm>
          <a:prstGeom prst="rect">
            <a:avLst/>
          </a:prstGeom>
          <a:solidFill>
            <a:srgbClr val="FFF5F5"/>
          </a:solidFill>
          <a:ln/>
        </p:spPr>
        <p:txBody>
          <a:bodyPr/>
          <a:lstStyle/>
          <a:p>
            <a:endParaRPr/>
          </a:p>
        </p:txBody>
      </p:sp>
      <p:sp>
        <p:nvSpPr>
          <p:cNvPr id="17" name="Shape 15"/>
          <p:cNvSpPr/>
          <p:nvPr/>
        </p:nvSpPr>
        <p:spPr>
          <a:xfrm>
            <a:off x="914400" y="1879600"/>
            <a:ext cx="127000" cy="127000"/>
          </a:xfrm>
          <a:prstGeom prst="ellipse">
            <a:avLst/>
          </a:prstGeom>
          <a:solidFill>
            <a:srgbClr val="8B1A1A"/>
          </a:solidFill>
          <a:ln/>
        </p:spPr>
        <p:txBody>
          <a:bodyPr/>
          <a:lstStyle/>
          <a:p>
            <a:endParaRPr/>
          </a:p>
        </p:txBody>
      </p:sp>
      <p:sp>
        <p:nvSpPr>
          <p:cNvPr id="18" name="Text 16"/>
          <p:cNvSpPr/>
          <p:nvPr/>
        </p:nvSpPr>
        <p:spPr>
          <a:xfrm>
            <a:off x="1219200" y="1752600"/>
            <a:ext cx="13970000" cy="508000"/>
          </a:xfrm>
          <a:prstGeom prst="rect">
            <a:avLst/>
          </a:prstGeom>
          <a:noFill/>
          <a:ln/>
        </p:spPr>
        <p:txBody>
          <a:bodyPr wrap="square" lIns="0" tIns="0" rIns="0" bIns="0" rtlCol="0" anchor="ctr"/>
          <a:lstStyle/>
          <a:p>
            <a:pPr>
              <a:lnSpc>
                <a:spcPct val="100000"/>
              </a:lnSpc>
            </a:pPr>
            <a:r>
              <a:rPr lang="en-US" sz="2400" b="1" dirty="0">
                <a:solidFill>
                  <a:srgbClr val="2C2C2C"/>
                </a:solidFill>
              </a:rPr>
              <a:t>集智攻关、团结协作：</a:t>
            </a:r>
            <a:r>
              <a:rPr lang="en-US" sz="2400" dirty="0">
                <a:solidFill>
                  <a:srgbClr val="2C2C2C"/>
                </a:solidFill>
              </a:rPr>
              <a:t>钱学森带领156名大学生从零起步，白天讲授《导弹概论》，夜晚翻译苏联资料，在煤油灯下演算弹道数据。</a:t>
            </a:r>
            <a:endParaRPr lang="en-US" sz="1600" dirty="0"/>
          </a:p>
        </p:txBody>
      </p:sp>
      <p:sp>
        <p:nvSpPr>
          <p:cNvPr id="19" name="Shape 17"/>
          <p:cNvSpPr/>
          <p:nvPr/>
        </p:nvSpPr>
        <p:spPr>
          <a:xfrm>
            <a:off x="914400" y="2895600"/>
            <a:ext cx="127000" cy="127000"/>
          </a:xfrm>
          <a:prstGeom prst="ellipse">
            <a:avLst/>
          </a:prstGeom>
          <a:solidFill>
            <a:srgbClr val="8B1A1A"/>
          </a:solidFill>
          <a:ln/>
        </p:spPr>
        <p:txBody>
          <a:bodyPr/>
          <a:lstStyle/>
          <a:p>
            <a:endParaRPr/>
          </a:p>
        </p:txBody>
      </p:sp>
      <p:sp>
        <p:nvSpPr>
          <p:cNvPr id="20" name="Text 18"/>
          <p:cNvSpPr/>
          <p:nvPr/>
        </p:nvSpPr>
        <p:spPr>
          <a:xfrm>
            <a:off x="1219200" y="2768600"/>
            <a:ext cx="13970000" cy="889000"/>
          </a:xfrm>
          <a:prstGeom prst="rect">
            <a:avLst/>
          </a:prstGeom>
          <a:noFill/>
          <a:ln/>
        </p:spPr>
        <p:txBody>
          <a:bodyPr wrap="square" lIns="0" tIns="0" rIns="0" bIns="0" rtlCol="0" anchor="ctr"/>
          <a:lstStyle/>
          <a:p>
            <a:pPr>
              <a:lnSpc>
                <a:spcPct val="100000"/>
              </a:lnSpc>
            </a:pPr>
            <a:r>
              <a:rPr lang="en-US" sz="2400" b="1" dirty="0">
                <a:solidFill>
                  <a:srgbClr val="2C2C2C"/>
                </a:solidFill>
              </a:rPr>
              <a:t>甘为人梯、奖掖后学：</a:t>
            </a:r>
            <a:r>
              <a:rPr lang="en-US" sz="2400" dirty="0">
                <a:solidFill>
                  <a:srgbClr val="2C2C2C"/>
                </a:solidFill>
              </a:rPr>
              <a:t>钱学森培养了大批科技领军人才，如今中国航天事业的专家们很多都是钱老的徒子徒孙，站在他的肩膀上取得伟大成就。</a:t>
            </a:r>
            <a:endParaRPr lang="en-US" sz="1600" dirty="0"/>
          </a:p>
        </p:txBody>
      </p:sp>
      <p:sp>
        <p:nvSpPr>
          <p:cNvPr id="21" name="Shape 19"/>
          <p:cNvSpPr/>
          <p:nvPr/>
        </p:nvSpPr>
        <p:spPr>
          <a:xfrm>
            <a:off x="914400" y="3911600"/>
            <a:ext cx="127000" cy="127000"/>
          </a:xfrm>
          <a:prstGeom prst="ellipse">
            <a:avLst/>
          </a:prstGeom>
          <a:solidFill>
            <a:srgbClr val="8B1A1A"/>
          </a:solidFill>
          <a:ln/>
        </p:spPr>
        <p:txBody>
          <a:bodyPr/>
          <a:lstStyle/>
          <a:p>
            <a:endParaRPr/>
          </a:p>
        </p:txBody>
      </p:sp>
      <p:sp>
        <p:nvSpPr>
          <p:cNvPr id="22" name="Text 20"/>
          <p:cNvSpPr/>
          <p:nvPr/>
        </p:nvSpPr>
        <p:spPr>
          <a:xfrm>
            <a:off x="1219200" y="3784600"/>
            <a:ext cx="13970000" cy="508000"/>
          </a:xfrm>
          <a:prstGeom prst="rect">
            <a:avLst/>
          </a:prstGeom>
          <a:noFill/>
          <a:ln/>
        </p:spPr>
        <p:txBody>
          <a:bodyPr wrap="square" lIns="0" tIns="0" rIns="0" bIns="0" rtlCol="0" anchor="ctr"/>
          <a:lstStyle/>
          <a:p>
            <a:pPr>
              <a:lnSpc>
                <a:spcPct val="100000"/>
              </a:lnSpc>
            </a:pPr>
            <a:r>
              <a:rPr lang="en-US" sz="2400" b="1" dirty="0">
                <a:solidFill>
                  <a:srgbClr val="2C2C2C"/>
                </a:solidFill>
              </a:rPr>
              <a:t>举荐人才、培养梯队：</a:t>
            </a:r>
            <a:r>
              <a:rPr lang="en-US" sz="2400" dirty="0">
                <a:solidFill>
                  <a:srgbClr val="2C2C2C"/>
                </a:solidFill>
              </a:rPr>
              <a:t>晚年他举荐一批科技领军人才，为航天事业培养出一支年轻化、梯队化、创新型科技人才队伍。</a:t>
            </a:r>
            <a:endParaRPr lang="en-US" sz="1600" dirty="0"/>
          </a:p>
        </p:txBody>
      </p:sp>
      <p:sp>
        <p:nvSpPr>
          <p:cNvPr id="23" name="Shape 21"/>
          <p:cNvSpPr/>
          <p:nvPr/>
        </p:nvSpPr>
        <p:spPr>
          <a:xfrm>
            <a:off x="914400" y="4927600"/>
            <a:ext cx="127000" cy="127000"/>
          </a:xfrm>
          <a:prstGeom prst="ellipse">
            <a:avLst/>
          </a:prstGeom>
          <a:solidFill>
            <a:srgbClr val="8B1A1A"/>
          </a:solidFill>
          <a:ln/>
        </p:spPr>
        <p:txBody>
          <a:bodyPr/>
          <a:lstStyle/>
          <a:p>
            <a:endParaRPr/>
          </a:p>
        </p:txBody>
      </p:sp>
      <p:sp>
        <p:nvSpPr>
          <p:cNvPr id="24" name="Text 22"/>
          <p:cNvSpPr/>
          <p:nvPr/>
        </p:nvSpPr>
        <p:spPr>
          <a:xfrm>
            <a:off x="1219200" y="4800600"/>
            <a:ext cx="13970000" cy="508000"/>
          </a:xfrm>
          <a:prstGeom prst="rect">
            <a:avLst/>
          </a:prstGeom>
          <a:noFill/>
          <a:ln/>
        </p:spPr>
        <p:txBody>
          <a:bodyPr wrap="square" lIns="0" tIns="0" rIns="0" bIns="0" rtlCol="0" anchor="ctr"/>
          <a:lstStyle/>
          <a:p>
            <a:pPr>
              <a:lnSpc>
                <a:spcPct val="100000"/>
              </a:lnSpc>
            </a:pPr>
            <a:r>
              <a:rPr lang="en-US" sz="2400" b="1" dirty="0">
                <a:solidFill>
                  <a:srgbClr val="2C2C2C"/>
                </a:solidFill>
              </a:rPr>
              <a:t>薪火相传：</a:t>
            </a:r>
            <a:r>
              <a:rPr lang="en-US" sz="2400" dirty="0">
                <a:solidFill>
                  <a:srgbClr val="2C2C2C"/>
                </a:solidFill>
              </a:rPr>
              <a:t>如今，以他名字命名的学院和班级在全国多所高校开办，钱学森精神依然在薪火相传，激励着无数青年学子。</a:t>
            </a:r>
            <a:endParaRPr lang="en-US" sz="1600" dirty="0"/>
          </a:p>
        </p:txBody>
      </p:sp>
      <p:sp>
        <p:nvSpPr>
          <p:cNvPr id="25" name="Shape 23"/>
          <p:cNvSpPr/>
          <p:nvPr/>
        </p:nvSpPr>
        <p:spPr>
          <a:xfrm>
            <a:off x="863600" y="5816600"/>
            <a:ext cx="14528800" cy="889000"/>
          </a:xfrm>
          <a:prstGeom prst="rect">
            <a:avLst/>
          </a:prstGeom>
          <a:solidFill>
            <a:srgbClr val="FFFFFF"/>
          </a:solidFill>
          <a:ln w="25400">
            <a:solidFill>
              <a:srgbClr val="B8860B"/>
            </a:solidFill>
            <a:prstDash val="solid"/>
          </a:ln>
        </p:spPr>
        <p:txBody>
          <a:bodyPr/>
          <a:lstStyle/>
          <a:p>
            <a:endParaRPr/>
          </a:p>
        </p:txBody>
      </p:sp>
      <p:sp>
        <p:nvSpPr>
          <p:cNvPr id="26" name="Text 24"/>
          <p:cNvSpPr/>
          <p:nvPr/>
        </p:nvSpPr>
        <p:spPr>
          <a:xfrm>
            <a:off x="1066800" y="5969000"/>
            <a:ext cx="14122400" cy="457200"/>
          </a:xfrm>
          <a:prstGeom prst="rect">
            <a:avLst/>
          </a:prstGeom>
          <a:noFill/>
          <a:ln/>
        </p:spPr>
        <p:txBody>
          <a:bodyPr wrap="square" lIns="0" tIns="0" rIns="0" bIns="0" rtlCol="0" anchor="ctr"/>
          <a:lstStyle/>
          <a:p>
            <a:pPr>
              <a:lnSpc>
                <a:spcPct val="100000"/>
              </a:lnSpc>
            </a:pPr>
            <a:r>
              <a:rPr lang="en-US" sz="2400" b="1" dirty="0">
                <a:solidFill>
                  <a:srgbClr val="8B1A1A"/>
                </a:solidFill>
              </a:rPr>
              <a:t>核心启示：</a:t>
            </a:r>
            <a:r>
              <a:rPr lang="en-US" sz="2400" dirty="0">
                <a:solidFill>
                  <a:srgbClr val="8B1A1A"/>
                </a:solidFill>
              </a:rPr>
              <a:t>钱学森说"成绩归于党，归于集体"，他深知科学事业需要团队协作，个人的成就离不开集体的力量。</a:t>
            </a:r>
            <a:endParaRPr lang="en-US" sz="1600" dirty="0"/>
          </a:p>
        </p:txBody>
      </p:sp>
      <p:sp>
        <p:nvSpPr>
          <p:cNvPr id="27" name="Shape 25"/>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558800"/>
          </a:xfrm>
          <a:prstGeom prst="rect">
            <a:avLst/>
          </a:prstGeom>
          <a:solidFill>
            <a:srgbClr val="6D0E0E"/>
          </a:solidFill>
          <a:ln/>
        </p:spPr>
        <p:txBody>
          <a:bodyPr/>
          <a:lstStyle/>
          <a:p>
            <a:endParaRPr/>
          </a:p>
        </p:txBody>
      </p:sp>
      <p:sp>
        <p:nvSpPr>
          <p:cNvPr id="3" name="Shape 1"/>
          <p:cNvSpPr/>
          <p:nvPr/>
        </p:nvSpPr>
        <p:spPr>
          <a:xfrm>
            <a:off x="13004800" y="0"/>
            <a:ext cx="3251200" cy="558800"/>
          </a:xfrm>
          <a:prstGeom prst="rect">
            <a:avLst/>
          </a:prstGeom>
          <a:solidFill>
            <a:srgbClr val="FFFFFF"/>
          </a:solidFill>
          <a:ln/>
        </p:spPr>
        <p:txBody>
          <a:bodyPr/>
          <a:lstStyle/>
          <a:p>
            <a:endParaRPr/>
          </a:p>
        </p:txBody>
      </p:sp>
      <p:sp>
        <p:nvSpPr>
          <p:cNvPr id="4" name="Text 2"/>
          <p:cNvSpPr/>
          <p:nvPr/>
        </p:nvSpPr>
        <p:spPr>
          <a:xfrm>
            <a:off x="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01 学思并进</a:t>
            </a:r>
            <a:endParaRPr lang="en-US" sz="1600" dirty="0"/>
          </a:p>
        </p:txBody>
      </p:sp>
      <p:sp>
        <p:nvSpPr>
          <p:cNvPr id="5" name="Shape 3"/>
          <p:cNvSpPr/>
          <p:nvPr/>
        </p:nvSpPr>
        <p:spPr>
          <a:xfrm>
            <a:off x="32512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6" name="Text 4"/>
          <p:cNvSpPr/>
          <p:nvPr/>
        </p:nvSpPr>
        <p:spPr>
          <a:xfrm>
            <a:off x="32512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02 冲破阻挠</a:t>
            </a:r>
            <a:endParaRPr lang="en-US" sz="1600" dirty="0"/>
          </a:p>
        </p:txBody>
      </p:sp>
      <p:sp>
        <p:nvSpPr>
          <p:cNvPr id="7" name="Shape 5"/>
          <p:cNvSpPr/>
          <p:nvPr/>
        </p:nvSpPr>
        <p:spPr>
          <a:xfrm>
            <a:off x="65024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8" name="Text 6"/>
          <p:cNvSpPr/>
          <p:nvPr/>
        </p:nvSpPr>
        <p:spPr>
          <a:xfrm>
            <a:off x="65024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03 攻关创新</a:t>
            </a:r>
            <a:endParaRPr lang="en-US" sz="1600" dirty="0"/>
          </a:p>
        </p:txBody>
      </p:sp>
      <p:sp>
        <p:nvSpPr>
          <p:cNvPr id="9" name="Shape 7"/>
          <p:cNvSpPr/>
          <p:nvPr/>
        </p:nvSpPr>
        <p:spPr>
          <a:xfrm>
            <a:off x="97536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0" name="Text 8"/>
          <p:cNvSpPr/>
          <p:nvPr/>
        </p:nvSpPr>
        <p:spPr>
          <a:xfrm>
            <a:off x="9753600" y="0"/>
            <a:ext cx="3251200" cy="558800"/>
          </a:xfrm>
          <a:prstGeom prst="rect">
            <a:avLst/>
          </a:prstGeom>
          <a:noFill/>
          <a:ln/>
        </p:spPr>
        <p:txBody>
          <a:bodyPr wrap="none" lIns="0" tIns="0" rIns="0" bIns="0" rtlCol="0" anchor="ctr"/>
          <a:lstStyle/>
          <a:p>
            <a:pPr algn="ctr">
              <a:lnSpc>
                <a:spcPct val="100000"/>
              </a:lnSpc>
            </a:pPr>
            <a:r>
              <a:rPr lang="en-US" sz="2400" dirty="0">
                <a:solidFill>
                  <a:srgbClr val="FFFFFF">
                    <a:alpha val="80000"/>
                  </a:srgbClr>
                </a:solidFill>
              </a:rPr>
              <a:t>04 传道授业</a:t>
            </a:r>
            <a:endParaRPr lang="en-US" sz="1600" dirty="0"/>
          </a:p>
        </p:txBody>
      </p:sp>
      <p:sp>
        <p:nvSpPr>
          <p:cNvPr id="11" name="Shape 9"/>
          <p:cNvSpPr/>
          <p:nvPr/>
        </p:nvSpPr>
        <p:spPr>
          <a:xfrm>
            <a:off x="13004800" y="76200"/>
            <a:ext cx="0" cy="406400"/>
          </a:xfrm>
          <a:prstGeom prst="straightConnector1">
            <a:avLst/>
          </a:prstGeom>
          <a:noFill/>
          <a:ln w="12700">
            <a:solidFill>
              <a:srgbClr val="FFFFFF">
                <a:alpha val="12549"/>
              </a:srgbClr>
            </a:solidFill>
            <a:prstDash val="solid"/>
            <a:headEnd type="none"/>
            <a:tailEnd type="none"/>
          </a:ln>
        </p:spPr>
        <p:txBody>
          <a:bodyPr/>
          <a:lstStyle/>
          <a:p>
            <a:endParaRPr/>
          </a:p>
        </p:txBody>
      </p:sp>
      <p:sp>
        <p:nvSpPr>
          <p:cNvPr id="12" name="Text 10"/>
          <p:cNvSpPr/>
          <p:nvPr/>
        </p:nvSpPr>
        <p:spPr>
          <a:xfrm>
            <a:off x="13004800" y="0"/>
            <a:ext cx="3251200" cy="558800"/>
          </a:xfrm>
          <a:prstGeom prst="rect">
            <a:avLst/>
          </a:prstGeom>
          <a:noFill/>
          <a:ln/>
        </p:spPr>
        <p:txBody>
          <a:bodyPr wrap="none" lIns="0" tIns="0" rIns="0" bIns="0" rtlCol="0" anchor="ctr"/>
          <a:lstStyle/>
          <a:p>
            <a:pPr algn="ctr">
              <a:lnSpc>
                <a:spcPct val="100000"/>
              </a:lnSpc>
            </a:pPr>
            <a:r>
              <a:rPr lang="en-US" sz="2400" dirty="0">
                <a:solidFill>
                  <a:srgbClr val="8B1A1A"/>
                </a:solidFill>
              </a:rPr>
              <a:t>05 精神传承</a:t>
            </a:r>
            <a:endParaRPr lang="en-US" sz="1600" dirty="0"/>
          </a:p>
        </p:txBody>
      </p:sp>
      <p:sp>
        <p:nvSpPr>
          <p:cNvPr id="13" name="Shape 11"/>
          <p:cNvSpPr/>
          <p:nvPr/>
        </p:nvSpPr>
        <p:spPr>
          <a:xfrm>
            <a:off x="635000" y="787400"/>
            <a:ext cx="0" cy="457200"/>
          </a:xfrm>
          <a:prstGeom prst="straightConnector1">
            <a:avLst/>
          </a:prstGeom>
          <a:noFill/>
          <a:ln w="50800">
            <a:solidFill>
              <a:srgbClr val="8B1A1A"/>
            </a:solidFill>
            <a:prstDash val="solid"/>
            <a:headEnd type="none"/>
            <a:tailEnd type="none"/>
          </a:ln>
        </p:spPr>
        <p:txBody>
          <a:bodyPr/>
          <a:lstStyle/>
          <a:p>
            <a:endParaRPr/>
          </a:p>
        </p:txBody>
      </p:sp>
      <p:sp>
        <p:nvSpPr>
          <p:cNvPr id="14" name="Text 12"/>
          <p:cNvSpPr/>
          <p:nvPr/>
        </p:nvSpPr>
        <p:spPr>
          <a:xfrm>
            <a:off x="863600" y="762000"/>
            <a:ext cx="11430000" cy="508000"/>
          </a:xfrm>
          <a:prstGeom prst="rect">
            <a:avLst/>
          </a:prstGeom>
          <a:noFill/>
          <a:ln/>
        </p:spPr>
        <p:txBody>
          <a:bodyPr wrap="none" lIns="0" tIns="0" rIns="0" bIns="0" rtlCol="0" anchor="ctr"/>
          <a:lstStyle/>
          <a:p>
            <a:pPr>
              <a:lnSpc>
                <a:spcPct val="100000"/>
              </a:lnSpc>
            </a:pPr>
            <a:r>
              <a:rPr lang="en-US" sz="2800" b="1" dirty="0">
                <a:solidFill>
                  <a:srgbClr val="8B1A1A"/>
                </a:solidFill>
                <a:latin typeface="楷体" pitchFamily="34" charset="0"/>
                <a:ea typeface="楷体"/>
              </a:rPr>
              <a:t>传承与启示</a:t>
            </a:r>
            <a:endParaRPr lang="en-US" sz="2800" dirty="0"/>
          </a:p>
        </p:txBody>
      </p:sp>
      <p:sp>
        <p:nvSpPr>
          <p:cNvPr id="15" name="Shape 13"/>
          <p:cNvSpPr/>
          <p:nvPr/>
        </p:nvSpPr>
        <p:spPr>
          <a:xfrm>
            <a:off x="635000" y="1371600"/>
            <a:ext cx="14986000" cy="0"/>
          </a:xfrm>
          <a:prstGeom prst="straightConnector1">
            <a:avLst/>
          </a:prstGeom>
          <a:noFill/>
          <a:ln w="12700">
            <a:solidFill>
              <a:srgbClr val="B8860B">
                <a:alpha val="37647"/>
              </a:srgbClr>
            </a:solidFill>
            <a:prstDash val="solid"/>
            <a:headEnd type="none"/>
            <a:tailEnd type="none"/>
          </a:ln>
        </p:spPr>
        <p:txBody>
          <a:bodyPr/>
          <a:lstStyle/>
          <a:p>
            <a:endParaRPr/>
          </a:p>
        </p:txBody>
      </p:sp>
      <p:sp>
        <p:nvSpPr>
          <p:cNvPr id="16" name="Shape 14"/>
          <p:cNvSpPr/>
          <p:nvPr/>
        </p:nvSpPr>
        <p:spPr>
          <a:xfrm>
            <a:off x="635000" y="1651000"/>
            <a:ext cx="7620000" cy="2540000"/>
          </a:xfrm>
          <a:prstGeom prst="rect">
            <a:avLst/>
          </a:prstGeom>
          <a:solidFill>
            <a:srgbClr val="FFF5F5"/>
          </a:solidFill>
          <a:ln w="25400">
            <a:solidFill>
              <a:srgbClr val="8B1A1A"/>
            </a:solidFill>
            <a:prstDash val="solid"/>
          </a:ln>
        </p:spPr>
        <p:txBody>
          <a:bodyPr/>
          <a:lstStyle/>
          <a:p>
            <a:endParaRPr/>
          </a:p>
        </p:txBody>
      </p:sp>
      <p:sp>
        <p:nvSpPr>
          <p:cNvPr id="17" name="Shape 15"/>
          <p:cNvSpPr/>
          <p:nvPr/>
        </p:nvSpPr>
        <p:spPr>
          <a:xfrm>
            <a:off x="1038225" y="1905000"/>
            <a:ext cx="311150" cy="355600"/>
          </a:xfrm>
          <a:custGeom>
            <a:avLst/>
            <a:gdLst/>
            <a:ahLst/>
            <a:cxnLst/>
            <a:rect l="l" t="t" r="r" b="b"/>
            <a:pathLst>
              <a:path w="311150" h="355600">
                <a:moveTo>
                  <a:pt x="0" y="150019"/>
                </a:moveTo>
                <a:cubicBezTo>
                  <a:pt x="0" y="103971"/>
                  <a:pt x="37296" y="66675"/>
                  <a:pt x="83344" y="66675"/>
                </a:cubicBezTo>
                <a:lnTo>
                  <a:pt x="88900" y="66675"/>
                </a:lnTo>
                <a:cubicBezTo>
                  <a:pt x="101193" y="66675"/>
                  <a:pt x="111125" y="76607"/>
                  <a:pt x="111125" y="88900"/>
                </a:cubicBezTo>
                <a:cubicBezTo>
                  <a:pt x="111125" y="101193"/>
                  <a:pt x="101193" y="111125"/>
                  <a:pt x="88900" y="111125"/>
                </a:cubicBezTo>
                <a:lnTo>
                  <a:pt x="83344" y="111125"/>
                </a:lnTo>
                <a:cubicBezTo>
                  <a:pt x="61883" y="111125"/>
                  <a:pt x="44450" y="128558"/>
                  <a:pt x="44450" y="150019"/>
                </a:cubicBezTo>
                <a:lnTo>
                  <a:pt x="44450" y="155575"/>
                </a:lnTo>
                <a:lnTo>
                  <a:pt x="88900" y="155575"/>
                </a:lnTo>
                <a:cubicBezTo>
                  <a:pt x="113417" y="155575"/>
                  <a:pt x="133350" y="175508"/>
                  <a:pt x="133350" y="200025"/>
                </a:cubicBezTo>
                <a:lnTo>
                  <a:pt x="133350" y="244475"/>
                </a:lnTo>
                <a:cubicBezTo>
                  <a:pt x="133350" y="268992"/>
                  <a:pt x="113417" y="288925"/>
                  <a:pt x="88900" y="288925"/>
                </a:cubicBezTo>
                <a:lnTo>
                  <a:pt x="44450" y="288925"/>
                </a:lnTo>
                <a:cubicBezTo>
                  <a:pt x="19933" y="288925"/>
                  <a:pt x="0" y="268992"/>
                  <a:pt x="0" y="244475"/>
                </a:cubicBezTo>
                <a:lnTo>
                  <a:pt x="0" y="150019"/>
                </a:lnTo>
                <a:close/>
                <a:moveTo>
                  <a:pt x="177800" y="150019"/>
                </a:moveTo>
                <a:cubicBezTo>
                  <a:pt x="177800" y="103971"/>
                  <a:pt x="215096" y="66675"/>
                  <a:pt x="261144" y="66675"/>
                </a:cubicBezTo>
                <a:lnTo>
                  <a:pt x="266700" y="66675"/>
                </a:lnTo>
                <a:cubicBezTo>
                  <a:pt x="278993" y="66675"/>
                  <a:pt x="288925" y="76607"/>
                  <a:pt x="288925" y="88900"/>
                </a:cubicBezTo>
                <a:cubicBezTo>
                  <a:pt x="288925" y="101193"/>
                  <a:pt x="278993" y="111125"/>
                  <a:pt x="266700" y="111125"/>
                </a:cubicBezTo>
                <a:lnTo>
                  <a:pt x="261144" y="111125"/>
                </a:lnTo>
                <a:cubicBezTo>
                  <a:pt x="239683" y="111125"/>
                  <a:pt x="222250" y="128558"/>
                  <a:pt x="222250" y="150019"/>
                </a:cubicBezTo>
                <a:lnTo>
                  <a:pt x="222250" y="155575"/>
                </a:lnTo>
                <a:lnTo>
                  <a:pt x="266700" y="155575"/>
                </a:lnTo>
                <a:cubicBezTo>
                  <a:pt x="291217" y="155575"/>
                  <a:pt x="311150" y="175508"/>
                  <a:pt x="311150" y="200025"/>
                </a:cubicBezTo>
                <a:lnTo>
                  <a:pt x="311150" y="244475"/>
                </a:lnTo>
                <a:cubicBezTo>
                  <a:pt x="311150" y="268992"/>
                  <a:pt x="291217" y="288925"/>
                  <a:pt x="266700" y="288925"/>
                </a:cubicBezTo>
                <a:lnTo>
                  <a:pt x="222250" y="288925"/>
                </a:lnTo>
                <a:cubicBezTo>
                  <a:pt x="197733" y="288925"/>
                  <a:pt x="177800" y="268992"/>
                  <a:pt x="177800" y="244475"/>
                </a:cubicBezTo>
                <a:lnTo>
                  <a:pt x="177800" y="150019"/>
                </a:lnTo>
                <a:close/>
              </a:path>
            </a:pathLst>
          </a:custGeom>
          <a:solidFill>
            <a:srgbClr val="B8860B"/>
          </a:solidFill>
          <a:ln/>
        </p:spPr>
        <p:txBody>
          <a:bodyPr/>
          <a:lstStyle/>
          <a:p>
            <a:endParaRPr/>
          </a:p>
        </p:txBody>
      </p:sp>
      <p:sp>
        <p:nvSpPr>
          <p:cNvPr id="18" name="Text 16"/>
          <p:cNvSpPr/>
          <p:nvPr/>
        </p:nvSpPr>
        <p:spPr>
          <a:xfrm>
            <a:off x="1016000" y="2413000"/>
            <a:ext cx="6858000" cy="1524000"/>
          </a:xfrm>
          <a:prstGeom prst="rect">
            <a:avLst/>
          </a:prstGeom>
          <a:noFill/>
          <a:ln/>
        </p:spPr>
        <p:txBody>
          <a:bodyPr wrap="square" lIns="0" tIns="0" rIns="0" bIns="0" rtlCol="0" anchor="ctr"/>
          <a:lstStyle/>
          <a:p>
            <a:pPr>
              <a:lnSpc>
                <a:spcPct val="170000"/>
              </a:lnSpc>
            </a:pPr>
            <a:r>
              <a:rPr lang="en-US" sz="2000" dirty="0">
                <a:solidFill>
                  <a:srgbClr val="2C2C2C"/>
                </a:solidFill>
              </a:rPr>
              <a:t>"新时代更需要继承发扬以国家民族命运为己任的爱国主义精神，更需要继续发扬以爱国主义为底色的科学家精神。"</a:t>
            </a:r>
            <a:endParaRPr lang="en-US" sz="1400" dirty="0"/>
          </a:p>
          <a:p>
            <a:pPr algn="r">
              <a:lnSpc>
                <a:spcPct val="170000"/>
              </a:lnSpc>
            </a:pPr>
            <a:r>
              <a:rPr lang="en-US" sz="2000" dirty="0">
                <a:solidFill>
                  <a:srgbClr val="666666"/>
                </a:solidFill>
              </a:rPr>
              <a:t>——习近平总书记</a:t>
            </a:r>
            <a:endParaRPr lang="en-US" sz="1400" dirty="0"/>
          </a:p>
        </p:txBody>
      </p:sp>
      <p:sp>
        <p:nvSpPr>
          <p:cNvPr id="19" name="Text 17"/>
          <p:cNvSpPr/>
          <p:nvPr/>
        </p:nvSpPr>
        <p:spPr>
          <a:xfrm>
            <a:off x="8636000" y="1651000"/>
            <a:ext cx="6985000" cy="3048000"/>
          </a:xfrm>
          <a:prstGeom prst="rect">
            <a:avLst/>
          </a:prstGeom>
          <a:noFill/>
          <a:ln/>
        </p:spPr>
        <p:txBody>
          <a:bodyPr wrap="square" lIns="0" tIns="0" rIns="0" bIns="0" rtlCol="0" anchor="ctr"/>
          <a:lstStyle/>
          <a:p>
            <a:pPr>
              <a:lnSpc>
                <a:spcPct val="170000"/>
              </a:lnSpc>
            </a:pPr>
            <a:r>
              <a:rPr lang="en-US" sz="2000" dirty="0">
                <a:solidFill>
                  <a:srgbClr val="2C2C2C"/>
                </a:solidFill>
              </a:rPr>
              <a:t>2019年，中共中央办公厅、国务院办公厅印发《关于进一步弘扬科学家精神，加强作风和学风建设的意见》。</a:t>
            </a:r>
            <a:endParaRPr lang="en-US" sz="1400" dirty="0"/>
          </a:p>
          <a:p>
            <a:pPr>
              <a:lnSpc>
                <a:spcPct val="170000"/>
              </a:lnSpc>
            </a:pPr>
            <a:r>
              <a:rPr lang="en-US" sz="2000" dirty="0">
                <a:solidFill>
                  <a:srgbClr val="2C2C2C"/>
                </a:solidFill>
              </a:rPr>
              <a:t>科学家精神被概括为六个方面：</a:t>
            </a:r>
            <a:r>
              <a:rPr lang="en-US" sz="2000" b="1" dirty="0">
                <a:solidFill>
                  <a:srgbClr val="8B1A1A"/>
                </a:solidFill>
              </a:rPr>
              <a:t>爱国、创新、求实、奉献、协同、育人</a:t>
            </a:r>
            <a:r>
              <a:rPr lang="en-US" sz="2000" dirty="0">
                <a:solidFill>
                  <a:srgbClr val="2C2C2C"/>
                </a:solidFill>
              </a:rPr>
              <a:t>。</a:t>
            </a:r>
            <a:endParaRPr lang="en-US" sz="1400" dirty="0"/>
          </a:p>
          <a:p>
            <a:pPr>
              <a:lnSpc>
                <a:spcPct val="170000"/>
              </a:lnSpc>
            </a:pPr>
            <a:r>
              <a:rPr lang="en-US" sz="2000" dirty="0">
                <a:solidFill>
                  <a:srgbClr val="2C2C2C"/>
                </a:solidFill>
              </a:rPr>
              <a:t>这六方面精神紧紧抓住科学研究的本质规律，全面彰显新时代科学家的使命担当。</a:t>
            </a:r>
            <a:endParaRPr lang="en-US" sz="1400" dirty="0"/>
          </a:p>
        </p:txBody>
      </p:sp>
      <p:sp>
        <p:nvSpPr>
          <p:cNvPr id="20" name="Shape 18"/>
          <p:cNvSpPr/>
          <p:nvPr/>
        </p:nvSpPr>
        <p:spPr>
          <a:xfrm>
            <a:off x="635000" y="4699000"/>
            <a:ext cx="2286000" cy="1016000"/>
          </a:xfrm>
          <a:prstGeom prst="rect">
            <a:avLst/>
          </a:prstGeom>
          <a:solidFill>
            <a:srgbClr val="8B1A1A"/>
          </a:solidFill>
          <a:ln/>
        </p:spPr>
        <p:txBody>
          <a:bodyPr/>
          <a:lstStyle/>
          <a:p>
            <a:endParaRPr/>
          </a:p>
        </p:txBody>
      </p:sp>
      <p:sp>
        <p:nvSpPr>
          <p:cNvPr id="21" name="Text 19"/>
          <p:cNvSpPr/>
          <p:nvPr/>
        </p:nvSpPr>
        <p:spPr>
          <a:xfrm>
            <a:off x="635000" y="4699000"/>
            <a:ext cx="2286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爱国</a:t>
            </a:r>
            <a:endParaRPr lang="en-US" sz="1600" dirty="0"/>
          </a:p>
        </p:txBody>
      </p:sp>
      <p:sp>
        <p:nvSpPr>
          <p:cNvPr id="22" name="Shape 20"/>
          <p:cNvSpPr/>
          <p:nvPr/>
        </p:nvSpPr>
        <p:spPr>
          <a:xfrm>
            <a:off x="3175000" y="4699000"/>
            <a:ext cx="2286000" cy="1016000"/>
          </a:xfrm>
          <a:prstGeom prst="rect">
            <a:avLst/>
          </a:prstGeom>
          <a:solidFill>
            <a:srgbClr val="B8860B"/>
          </a:solidFill>
          <a:ln/>
        </p:spPr>
        <p:txBody>
          <a:bodyPr/>
          <a:lstStyle/>
          <a:p>
            <a:endParaRPr/>
          </a:p>
        </p:txBody>
      </p:sp>
      <p:sp>
        <p:nvSpPr>
          <p:cNvPr id="23" name="Text 21"/>
          <p:cNvSpPr/>
          <p:nvPr/>
        </p:nvSpPr>
        <p:spPr>
          <a:xfrm>
            <a:off x="3175000" y="4699000"/>
            <a:ext cx="2286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创新</a:t>
            </a:r>
            <a:endParaRPr lang="en-US" sz="1600" dirty="0"/>
          </a:p>
        </p:txBody>
      </p:sp>
      <p:sp>
        <p:nvSpPr>
          <p:cNvPr id="24" name="Shape 22"/>
          <p:cNvSpPr/>
          <p:nvPr/>
        </p:nvSpPr>
        <p:spPr>
          <a:xfrm>
            <a:off x="5715000" y="4699000"/>
            <a:ext cx="2286000" cy="1016000"/>
          </a:xfrm>
          <a:prstGeom prst="rect">
            <a:avLst/>
          </a:prstGeom>
          <a:solidFill>
            <a:srgbClr val="6D0E0E"/>
          </a:solidFill>
          <a:ln/>
        </p:spPr>
        <p:txBody>
          <a:bodyPr/>
          <a:lstStyle/>
          <a:p>
            <a:endParaRPr/>
          </a:p>
        </p:txBody>
      </p:sp>
      <p:sp>
        <p:nvSpPr>
          <p:cNvPr id="25" name="Text 23"/>
          <p:cNvSpPr/>
          <p:nvPr/>
        </p:nvSpPr>
        <p:spPr>
          <a:xfrm>
            <a:off x="5715000" y="4699000"/>
            <a:ext cx="2286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求实</a:t>
            </a:r>
            <a:endParaRPr lang="en-US" sz="1600" dirty="0"/>
          </a:p>
        </p:txBody>
      </p:sp>
      <p:sp>
        <p:nvSpPr>
          <p:cNvPr id="26" name="Shape 24"/>
          <p:cNvSpPr/>
          <p:nvPr/>
        </p:nvSpPr>
        <p:spPr>
          <a:xfrm>
            <a:off x="8255000" y="4699000"/>
            <a:ext cx="2286000" cy="1016000"/>
          </a:xfrm>
          <a:prstGeom prst="rect">
            <a:avLst/>
          </a:prstGeom>
          <a:solidFill>
            <a:srgbClr val="8B1A1A"/>
          </a:solidFill>
          <a:ln/>
        </p:spPr>
        <p:txBody>
          <a:bodyPr/>
          <a:lstStyle/>
          <a:p>
            <a:endParaRPr/>
          </a:p>
        </p:txBody>
      </p:sp>
      <p:sp>
        <p:nvSpPr>
          <p:cNvPr id="27" name="Text 25"/>
          <p:cNvSpPr/>
          <p:nvPr/>
        </p:nvSpPr>
        <p:spPr>
          <a:xfrm>
            <a:off x="8255000" y="4699000"/>
            <a:ext cx="2286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奉献</a:t>
            </a:r>
            <a:endParaRPr lang="en-US" sz="1600" dirty="0"/>
          </a:p>
        </p:txBody>
      </p:sp>
      <p:sp>
        <p:nvSpPr>
          <p:cNvPr id="28" name="Shape 26"/>
          <p:cNvSpPr/>
          <p:nvPr/>
        </p:nvSpPr>
        <p:spPr>
          <a:xfrm>
            <a:off x="10795000" y="4699000"/>
            <a:ext cx="2286000" cy="1016000"/>
          </a:xfrm>
          <a:prstGeom prst="rect">
            <a:avLst/>
          </a:prstGeom>
          <a:solidFill>
            <a:srgbClr val="B8860B"/>
          </a:solidFill>
          <a:ln/>
        </p:spPr>
        <p:txBody>
          <a:bodyPr/>
          <a:lstStyle/>
          <a:p>
            <a:endParaRPr/>
          </a:p>
        </p:txBody>
      </p:sp>
      <p:sp>
        <p:nvSpPr>
          <p:cNvPr id="29" name="Text 27"/>
          <p:cNvSpPr/>
          <p:nvPr/>
        </p:nvSpPr>
        <p:spPr>
          <a:xfrm>
            <a:off x="10795000" y="4699000"/>
            <a:ext cx="2286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协同</a:t>
            </a:r>
            <a:endParaRPr lang="en-US" sz="1600" dirty="0"/>
          </a:p>
        </p:txBody>
      </p:sp>
      <p:sp>
        <p:nvSpPr>
          <p:cNvPr id="30" name="Shape 28"/>
          <p:cNvSpPr/>
          <p:nvPr/>
        </p:nvSpPr>
        <p:spPr>
          <a:xfrm>
            <a:off x="13335000" y="4699000"/>
            <a:ext cx="2286000" cy="1016000"/>
          </a:xfrm>
          <a:prstGeom prst="rect">
            <a:avLst/>
          </a:prstGeom>
          <a:solidFill>
            <a:srgbClr val="6D0E0E"/>
          </a:solidFill>
          <a:ln/>
        </p:spPr>
        <p:txBody>
          <a:bodyPr/>
          <a:lstStyle/>
          <a:p>
            <a:endParaRPr/>
          </a:p>
        </p:txBody>
      </p:sp>
      <p:sp>
        <p:nvSpPr>
          <p:cNvPr id="31" name="Text 29"/>
          <p:cNvSpPr/>
          <p:nvPr/>
        </p:nvSpPr>
        <p:spPr>
          <a:xfrm>
            <a:off x="13335000" y="4699000"/>
            <a:ext cx="2286000" cy="1016000"/>
          </a:xfrm>
          <a:prstGeom prst="rect">
            <a:avLst/>
          </a:prstGeom>
          <a:noFill/>
          <a:ln/>
        </p:spPr>
        <p:txBody>
          <a:bodyPr wrap="none" lIns="0" tIns="0" rIns="0" bIns="0" rtlCol="0" anchor="ctr"/>
          <a:lstStyle/>
          <a:p>
            <a:pPr algn="ctr">
              <a:lnSpc>
                <a:spcPct val="100000"/>
              </a:lnSpc>
            </a:pPr>
            <a:r>
              <a:rPr lang="en-US" sz="2400" b="1" dirty="0">
                <a:solidFill>
                  <a:srgbClr val="FFFFFF"/>
                </a:solidFill>
              </a:rPr>
              <a:t>育人</a:t>
            </a:r>
            <a:endParaRPr lang="en-US" sz="1600" dirty="0"/>
          </a:p>
        </p:txBody>
      </p:sp>
      <p:sp>
        <p:nvSpPr>
          <p:cNvPr id="32" name="Text 30"/>
          <p:cNvSpPr/>
          <p:nvPr/>
        </p:nvSpPr>
        <p:spPr>
          <a:xfrm>
            <a:off x="635000" y="6096000"/>
            <a:ext cx="14986000" cy="2032000"/>
          </a:xfrm>
          <a:prstGeom prst="rect">
            <a:avLst/>
          </a:prstGeom>
          <a:noFill/>
          <a:ln/>
        </p:spPr>
        <p:txBody>
          <a:bodyPr wrap="square" lIns="0" tIns="0" rIns="0" bIns="0" rtlCol="0" anchor="ctr"/>
          <a:lstStyle/>
          <a:p>
            <a:pPr>
              <a:lnSpc>
                <a:spcPct val="170000"/>
              </a:lnSpc>
            </a:pPr>
            <a:r>
              <a:rPr lang="en-US" sz="2400" dirty="0">
                <a:solidFill>
                  <a:srgbClr val="2C2C2C"/>
                </a:solidFill>
              </a:rPr>
              <a:t>钱学森精神的核心内涵，是激励广大科技工作者奋进新征程、建功新时代的不竭动力。在中华民族伟大复兴的征程上，我们需要更多像钱学森这样的科学家，心系祖国和人民，不畏艰难，无私奉献，为科学技术进步、人民生活改善、中华民族发展作出重大贡献。</a:t>
            </a:r>
            <a:endParaRPr lang="en-US" sz="1600" dirty="0"/>
          </a:p>
        </p:txBody>
      </p:sp>
      <p:sp>
        <p:nvSpPr>
          <p:cNvPr id="33" name="Shape 31"/>
          <p:cNvSpPr/>
          <p:nvPr/>
        </p:nvSpPr>
        <p:spPr>
          <a:xfrm>
            <a:off x="0" y="8966200"/>
            <a:ext cx="16256000" cy="0"/>
          </a:xfrm>
          <a:prstGeom prst="straightConnector1">
            <a:avLst/>
          </a:prstGeom>
          <a:noFill/>
          <a:ln w="25400">
            <a:solidFill>
              <a:srgbClr val="B8860B"/>
            </a:solidFill>
            <a:prstDash val="solid"/>
            <a:headEnd type="none"/>
            <a:tailEnd type="none"/>
          </a:ln>
        </p:spPr>
        <p:txBody>
          <a:bodyPr/>
          <a:lstStyle/>
          <a:p>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DF8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3200400"/>
          </a:xfrm>
          <a:prstGeom prst="rect">
            <a:avLst/>
          </a:prstGeom>
          <a:gradFill flip="none" rotWithShape="1">
            <a:gsLst>
              <a:gs pos="0">
                <a:srgbClr val="5A0A0A"/>
              </a:gs>
              <a:gs pos="50000">
                <a:srgbClr val="8B1A1A"/>
              </a:gs>
              <a:gs pos="100000">
                <a:srgbClr val="A52020"/>
              </a:gs>
            </a:gsLst>
            <a:lin ang="10800000" scaled="1"/>
          </a:gradFill>
          <a:ln/>
        </p:spPr>
        <p:txBody>
          <a:bodyPr/>
          <a:lstStyle/>
          <a:p>
            <a:endParaRPr/>
          </a:p>
        </p:txBody>
      </p:sp>
      <p:sp>
        <p:nvSpPr>
          <p:cNvPr id="3" name="Text 1"/>
          <p:cNvSpPr/>
          <p:nvPr/>
        </p:nvSpPr>
        <p:spPr>
          <a:xfrm>
            <a:off x="1016000" y="1537252"/>
            <a:ext cx="10160000" cy="1016000"/>
          </a:xfrm>
          <a:prstGeom prst="rect">
            <a:avLst/>
          </a:prstGeom>
          <a:noFill/>
          <a:ln/>
        </p:spPr>
        <p:txBody>
          <a:bodyPr wrap="none" lIns="0" tIns="0" rIns="0" bIns="0" rtlCol="0" anchor="ctr"/>
          <a:lstStyle/>
          <a:p>
            <a:pPr>
              <a:lnSpc>
                <a:spcPct val="100000"/>
              </a:lnSpc>
            </a:pPr>
            <a:r>
              <a:rPr lang="en-US" sz="6000" b="1" dirty="0">
                <a:solidFill>
                  <a:srgbClr val="FFFFFF"/>
                </a:solidFill>
                <a:latin typeface="黑体" pitchFamily="34" charset="0"/>
                <a:ea typeface="黑体"/>
              </a:rPr>
              <a:t>感谢聆听</a:t>
            </a:r>
            <a:endParaRPr lang="en-US" sz="1600" dirty="0"/>
          </a:p>
        </p:txBody>
      </p:sp>
      <p:sp>
        <p:nvSpPr>
          <p:cNvPr id="4" name="Text 2"/>
          <p:cNvSpPr/>
          <p:nvPr/>
        </p:nvSpPr>
        <p:spPr>
          <a:xfrm>
            <a:off x="1016000" y="1930400"/>
            <a:ext cx="10160000" cy="457200"/>
          </a:xfrm>
          <a:prstGeom prst="rect">
            <a:avLst/>
          </a:prstGeom>
          <a:noFill/>
          <a:ln/>
        </p:spPr>
        <p:txBody>
          <a:bodyPr wrap="none" lIns="0" tIns="0" rIns="0" bIns="0" rtlCol="0" anchor="ctr"/>
          <a:lstStyle/>
          <a:p>
            <a:pPr>
              <a:lnSpc>
                <a:spcPct val="100000"/>
              </a:lnSpc>
            </a:pPr>
            <a:endParaRPr lang="en-US" sz="1600" dirty="0"/>
          </a:p>
        </p:txBody>
      </p:sp>
      <p:sp>
        <p:nvSpPr>
          <p:cNvPr id="5" name="Shape 3"/>
          <p:cNvSpPr/>
          <p:nvPr/>
        </p:nvSpPr>
        <p:spPr>
          <a:xfrm>
            <a:off x="1016000" y="3378200"/>
            <a:ext cx="5080000" cy="0"/>
          </a:xfrm>
          <a:prstGeom prst="straightConnector1">
            <a:avLst/>
          </a:prstGeom>
          <a:noFill/>
          <a:ln w="25400">
            <a:solidFill>
              <a:srgbClr val="B8860B"/>
            </a:solidFill>
            <a:prstDash val="solid"/>
            <a:headEnd type="none"/>
            <a:tailEnd type="none"/>
          </a:ln>
        </p:spPr>
        <p:txBody>
          <a:bodyPr/>
          <a:lstStyle/>
          <a:p>
            <a:endParaRPr/>
          </a:p>
        </p:txBody>
      </p:sp>
      <p:sp>
        <p:nvSpPr>
          <p:cNvPr id="6" name="Shape 4"/>
          <p:cNvSpPr/>
          <p:nvPr/>
        </p:nvSpPr>
        <p:spPr>
          <a:xfrm>
            <a:off x="1016000" y="3606800"/>
            <a:ext cx="8890000" cy="2032000"/>
          </a:xfrm>
          <a:prstGeom prst="rect">
            <a:avLst/>
          </a:prstGeom>
          <a:solidFill>
            <a:srgbClr val="FFF5F5"/>
          </a:solidFill>
          <a:ln/>
        </p:spPr>
        <p:txBody>
          <a:bodyPr/>
          <a:lstStyle/>
          <a:p>
            <a:endParaRPr/>
          </a:p>
        </p:txBody>
      </p:sp>
      <p:sp>
        <p:nvSpPr>
          <p:cNvPr id="7" name="Text 5"/>
          <p:cNvSpPr/>
          <p:nvPr/>
        </p:nvSpPr>
        <p:spPr>
          <a:xfrm>
            <a:off x="1270000" y="3810000"/>
            <a:ext cx="8382000" cy="1651000"/>
          </a:xfrm>
          <a:prstGeom prst="rect">
            <a:avLst/>
          </a:prstGeom>
          <a:noFill/>
          <a:ln/>
        </p:spPr>
        <p:txBody>
          <a:bodyPr wrap="square" lIns="0" tIns="0" rIns="0" bIns="0" rtlCol="0" anchor="ctr"/>
          <a:lstStyle/>
          <a:p>
            <a:pPr>
              <a:lnSpc>
                <a:spcPct val="170000"/>
              </a:lnSpc>
            </a:pPr>
            <a:r>
              <a:rPr lang="en-US" sz="2800" dirty="0">
                <a:solidFill>
                  <a:srgbClr val="2C2C2C"/>
                </a:solidFill>
              </a:rPr>
              <a:t>钱学森精神永放光芒，科学家精神薪火相传。</a:t>
            </a:r>
            <a:endParaRPr lang="en-US" dirty="0"/>
          </a:p>
          <a:p>
            <a:pPr>
              <a:lnSpc>
                <a:spcPct val="170000"/>
              </a:lnSpc>
            </a:pPr>
            <a:r>
              <a:rPr lang="en-US" sz="2800" dirty="0">
                <a:solidFill>
                  <a:srgbClr val="2C2C2C"/>
                </a:solidFill>
              </a:rPr>
              <a:t>让我们以钱学森为榜样，把个人理想融入国家发展，为实现中华民族伟大复兴的中国梦贡献力量！</a:t>
            </a:r>
            <a:endParaRPr lang="en-US" dirty="0"/>
          </a:p>
        </p:txBody>
      </p:sp>
      <p:sp>
        <p:nvSpPr>
          <p:cNvPr id="10" name="Text 8"/>
          <p:cNvSpPr/>
          <p:nvPr/>
        </p:nvSpPr>
        <p:spPr>
          <a:xfrm>
            <a:off x="12827000" y="4622800"/>
            <a:ext cx="2540000" cy="1270000"/>
          </a:xfrm>
          <a:prstGeom prst="rect">
            <a:avLst/>
          </a:prstGeom>
          <a:noFill/>
          <a:ln/>
        </p:spPr>
        <p:txBody>
          <a:bodyPr wrap="none" lIns="0" tIns="0" rIns="0" bIns="0" rtlCol="0" anchor="ctr"/>
          <a:lstStyle/>
          <a:p>
            <a:pPr algn="ctr">
              <a:lnSpc>
                <a:spcPct val="100000"/>
              </a:lnSpc>
            </a:pPr>
            <a:endParaRPr lang="en-US" sz="1600" dirty="0"/>
          </a:p>
        </p:txBody>
      </p:sp>
      <p:sp>
        <p:nvSpPr>
          <p:cNvPr id="11" name="Text 9"/>
          <p:cNvSpPr/>
          <p:nvPr/>
        </p:nvSpPr>
        <p:spPr>
          <a:xfrm>
            <a:off x="1016000" y="6096000"/>
            <a:ext cx="10160000" cy="457200"/>
          </a:xfrm>
          <a:prstGeom prst="rect">
            <a:avLst/>
          </a:prstGeom>
          <a:noFill/>
          <a:ln/>
        </p:spPr>
        <p:txBody>
          <a:bodyPr wrap="none" lIns="0" tIns="0" rIns="0" bIns="0" rtlCol="0" anchor="ctr"/>
          <a:lstStyle/>
          <a:p>
            <a:pPr>
              <a:lnSpc>
                <a:spcPct val="100000"/>
              </a:lnSpc>
            </a:pPr>
            <a:r>
              <a:rPr lang="en-US" sz="2800" dirty="0">
                <a:solidFill>
                  <a:srgbClr val="8B1A1A"/>
                </a:solidFill>
              </a:rPr>
              <a:t>弘扬科学家精神 · 奋进新征程 · 建功新时代</a:t>
            </a:r>
            <a:endParaRPr lang="en-US" dirty="0"/>
          </a:p>
        </p:txBody>
      </p:sp>
      <p:sp>
        <p:nvSpPr>
          <p:cNvPr id="12" name="Shape 10"/>
          <p:cNvSpPr/>
          <p:nvPr/>
        </p:nvSpPr>
        <p:spPr>
          <a:xfrm>
            <a:off x="0" y="8890000"/>
            <a:ext cx="16256000" cy="0"/>
          </a:xfrm>
          <a:prstGeom prst="straightConnector1">
            <a:avLst/>
          </a:prstGeom>
          <a:noFill/>
          <a:ln w="38100">
            <a:solidFill>
              <a:srgbClr val="B8860B"/>
            </a:solidFill>
            <a:prstDash val="solid"/>
            <a:headEnd type="none"/>
            <a:tailEnd type="none"/>
          </a:ln>
        </p:spPr>
        <p:txBody>
          <a:bodyPr/>
          <a:lstStyle/>
          <a:p>
            <a:endParaRPr/>
          </a:p>
        </p:txBody>
      </p:sp>
      <p:pic>
        <p:nvPicPr>
          <p:cNvPr id="14" name="Picture 13" descr="图片1.png"/>
          <p:cNvPicPr>
            <a:picLocks noChangeAspect="1"/>
          </p:cNvPicPr>
          <p:nvPr/>
        </p:nvPicPr>
        <p:blipFill>
          <a:blip r:embed="rId3"/>
          <a:stretch>
            <a:fillRect/>
          </a:stretch>
        </p:blipFill>
        <p:spPr>
          <a:xfrm>
            <a:off x="13542397" y="422744"/>
            <a:ext cx="2491099" cy="502920"/>
          </a:xfrm>
          <a:prstGeom prst="rect">
            <a:avLst/>
          </a:prstGeom>
        </p:spPr>
      </p:pic>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angSong" panose="020F0302020204030204"/>
        <a:ea typeface="FangSong"/>
        <a:cs typeface=""/>
        <a:font script="Jpan" typeface="游ゴシック Light"/>
        <a:font script="Hang" typeface="맑은 고딕"/>
        <a:font script="Hans" typeface="FangSong"/>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angSong" panose="020F0502020204030204"/>
        <a:ea typeface="FangSong"/>
        <a:cs typeface=""/>
        <a:font script="Jpan" typeface="游ゴシック"/>
        <a:font script="Hang" typeface="맑은 고딕"/>
        <a:font script="Hans" typeface="FangSong"/>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FangSong" panose="02110004020202020204"/>
        <a:ea typeface="FangSong"/>
        <a:cs typeface=""/>
        <a:font script="Jpan" typeface="游ゴシック Light"/>
        <a:font script="Hang" typeface="맑은 고딕"/>
        <a:font script="Hans" typeface="FangSong"/>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angSong" panose="02110004020202020204"/>
        <a:ea typeface="FangSong"/>
        <a:cs typeface=""/>
        <a:font script="Jpan" typeface="游ゴシック"/>
        <a:font script="Hang" typeface="맑은 고딕"/>
        <a:font script="Hans" typeface="FangSong"/>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1600</Words>
  <Application>Microsoft Office PowerPoint</Application>
  <PresentationFormat>自定义</PresentationFormat>
  <Paragraphs>369</Paragraphs>
  <Slides>27</Slides>
  <Notes>27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Arial</vt:lpstr>
      <vt:lpstr>黑体</vt:lpstr>
      <vt:lpstr>楷体</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钱学森：心有大我 志诚报国</dc:title>
  <dc:subject>钱学森：心有大我 志诚报国</dc:subject>
  <dc:creator>Kimi</dc:creator>
  <cp:lastModifiedBy>亦寒 宋</cp:lastModifiedBy>
  <cp:revision>11</cp:revision>
  <dcterms:created xsi:type="dcterms:W3CDTF">2026-05-01T18:14:25Z</dcterms:created>
  <dcterms:modified xsi:type="dcterms:W3CDTF">2026-05-01T19:08:24Z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{"Label":"钱学森：心有大我 志诚报国","ContentProducer":"001191110108MACG2KBH8F10000","ProduceID":"19de4ad9-13e2-8ab9-8000-0000d2f6092e","ReservedCode1":"","ContentPropagator":"001191110108MACG2KBH8F20000","PropagateID":"19de4ad9-13e2-8ab9-8000-0000d2f6092e","ReservedCode2":""}</vt:lpwstr>
  </property>
</Properties>
</file>