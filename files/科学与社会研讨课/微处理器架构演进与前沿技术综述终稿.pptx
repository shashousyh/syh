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78" r:id="rId2"/>
    <p:sldId id="320" r:id="rId3"/>
    <p:sldId id="333" r:id="rId4"/>
    <p:sldId id="292" r:id="rId5"/>
    <p:sldId id="326" r:id="rId6"/>
    <p:sldId id="293" r:id="rId7"/>
    <p:sldId id="295" r:id="rId8"/>
    <p:sldId id="309" r:id="rId9"/>
    <p:sldId id="334" r:id="rId10"/>
    <p:sldId id="297" r:id="rId11"/>
    <p:sldId id="325" r:id="rId12"/>
    <p:sldId id="298" r:id="rId13"/>
    <p:sldId id="335" r:id="rId14"/>
    <p:sldId id="299" r:id="rId15"/>
    <p:sldId id="307" r:id="rId16"/>
    <p:sldId id="332" r:id="rId17"/>
    <p:sldId id="308" r:id="rId18"/>
    <p:sldId id="300" r:id="rId19"/>
    <p:sldId id="301" r:id="rId20"/>
    <p:sldId id="302" r:id="rId21"/>
    <p:sldId id="336" r:id="rId22"/>
    <p:sldId id="310" r:id="rId23"/>
    <p:sldId id="331" r:id="rId24"/>
    <p:sldId id="312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2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637" autoAdjust="0"/>
  </p:normalViewPr>
  <p:slideViewPr>
    <p:cSldViewPr snapToGrid="0">
      <p:cViewPr varScale="1">
        <p:scale>
          <a:sx n="86" d="100"/>
          <a:sy n="86" d="100"/>
        </p:scale>
        <p:origin x="53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2D4B70-A735-4279-BD9F-842484BB3A77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D8B5F-D50F-45F6-BB2B-8E4555C476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267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D8B5F-D50F-45F6-BB2B-8E4555C4766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A99AF-024D-130D-1908-199ED3FCA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1084E82-6AA8-1FBC-A40C-74E38A43F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E2E0984-B269-DF08-5CBA-A363C832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82C26F-3C09-AB7A-164C-B2412DEF6B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D8B5F-D50F-45F6-BB2B-8E4555C4766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470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E6F5F-5E3F-8B0B-6C09-B942089BC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4D5972B-1E0C-DC22-DD86-E77ABA50C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0437062-DA13-1EFA-24C3-991A03438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2B4B36-C5D9-8721-CBEA-1AA24C105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D8B5F-D50F-45F6-BB2B-8E4555C4766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5323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D8B5F-D50F-45F6-BB2B-8E4555C47665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FA94A-64B3-41E3-3839-CD8F3EF10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2A7C88B-ADC2-114A-3046-076E15629C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5CE0CD6-D9C3-63AA-AF47-D48549ADBF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35DE08-CF51-F9CA-A7BF-F657862C1C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D8B5F-D50F-45F6-BB2B-8E4555C4766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94341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D8B5F-D50F-45F6-BB2B-8E4555C47665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D8B5F-D50F-45F6-BB2B-8E4555C47665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传统增长路径的收益正在下降</a:t>
            </a:r>
            <a:br>
              <a:rPr lang="en-US" altLang="zh-CN" dirty="0"/>
            </a:br>
            <a:r>
              <a:rPr lang="zh-CN" altLang="en-US" dirty="0"/>
              <a:t>接下来我们将讲到为什么增速变得缓慢，又是如何通过多种方案尝试解决的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D8B5F-D50F-45F6-BB2B-8E4555C47665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074B1-14E8-264B-8EB3-460785C36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3BFBE81-568A-F410-DFE4-5F1E8DDE20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69E72C0-98A1-22AD-796E-653781BE1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75F654-5366-FB75-9AAC-E3E17C2B75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D8B5F-D50F-45F6-BB2B-8E4555C4766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8796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D8B5F-D50F-45F6-BB2B-8E4555C47665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ABE8F-D207-8104-4136-30BF67D39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30B6CF-44B1-9413-EF7D-523932C2D6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891DB4-39B5-93E4-6D07-3599F2CBD8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955926-05BA-914B-5A62-67D106318A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D8B5F-D50F-45F6-BB2B-8E4555C4766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7138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暗硅现象是功耗墙的进一步体现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D8B5F-D50F-45F6-BB2B-8E4555C47665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22BFE-ED89-46D4-DAFF-6A1AF1928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ABDC165-A0E2-3E85-14B3-B6CFE683F6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133E1D-ADF0-60C4-AAA7-6C321E55A6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01CF1B-D311-C5B0-8DC4-C99B3117BD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D8B5F-D50F-45F6-BB2B-8E4555C4766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1126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D8B5F-D50F-45F6-BB2B-8E4555C47665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PlanarFET</a:t>
            </a:r>
            <a:r>
              <a:rPr lang="zh-CN" altLang="en-US" dirty="0"/>
              <a:t>：平面晶体管，栅极只从上面控制沟道</a:t>
            </a:r>
          </a:p>
          <a:p>
            <a:r>
              <a:rPr lang="en-US" altLang="zh-CN" dirty="0" err="1"/>
              <a:t>FinFET</a:t>
            </a:r>
            <a:r>
              <a:rPr lang="zh-CN" altLang="en-US" dirty="0"/>
              <a:t>：鳍式晶体管，栅极从三面包住沟道</a:t>
            </a:r>
          </a:p>
          <a:p>
            <a:r>
              <a:rPr lang="en-US" altLang="zh-CN" dirty="0"/>
              <a:t>GAAFET</a:t>
            </a:r>
            <a:r>
              <a:rPr lang="zh-CN" altLang="en-US" dirty="0"/>
              <a:t>：环绕栅晶体管，栅极从四周包住沟道</a:t>
            </a:r>
          </a:p>
          <a:p>
            <a:r>
              <a:rPr lang="en-US" altLang="zh-CN" dirty="0"/>
              <a:t>CFET</a:t>
            </a:r>
            <a:r>
              <a:rPr lang="zh-CN" altLang="en-US" dirty="0"/>
              <a:t>：把 </a:t>
            </a:r>
            <a:r>
              <a:rPr lang="en-US" altLang="zh-CN" dirty="0"/>
              <a:t>NMOS </a:t>
            </a:r>
            <a:r>
              <a:rPr lang="zh-CN" altLang="en-US" dirty="0"/>
              <a:t>和 </a:t>
            </a:r>
            <a:r>
              <a:rPr lang="en-US" altLang="zh-CN" dirty="0"/>
              <a:t>PMOS </a:t>
            </a:r>
            <a:r>
              <a:rPr lang="zh-CN" altLang="en-US" dirty="0"/>
              <a:t>垂直堆叠，进一步提高密度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D8B5F-D50F-45F6-BB2B-8E4555C47665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EFC19-F68F-392A-8AAE-9554A2F13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2162262-624A-37AE-1D38-546205068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7409794-8927-F586-489C-C7E9C9FC1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可以看出，</a:t>
            </a:r>
            <a:r>
              <a:rPr lang="en-US" altLang="zh-CN" dirty="0"/>
              <a:t>β-</a:t>
            </a:r>
            <a:r>
              <a:rPr lang="en-US" altLang="zh-CN" dirty="0" err="1"/>
              <a:t>Ga₂O</a:t>
            </a:r>
            <a:r>
              <a:rPr lang="en-US" altLang="zh-CN" dirty="0"/>
              <a:t>₃ </a:t>
            </a:r>
            <a:r>
              <a:rPr lang="zh-CN" altLang="en-US"/>
              <a:t>的突出优势集中在</a:t>
            </a:r>
            <a:r>
              <a:rPr lang="zh-CN" altLang="en-US" b="1"/>
              <a:t>超宽禁带</a:t>
            </a:r>
            <a:r>
              <a:rPr lang="zh-CN" altLang="en-US"/>
              <a:t>和</a:t>
            </a:r>
            <a:r>
              <a:rPr lang="zh-CN" altLang="en-US" b="1"/>
              <a:t>高临界击穿电场</a:t>
            </a:r>
            <a:r>
              <a:rPr lang="zh-CN" altLang="en-US"/>
              <a:t>上，这意味着它在高压、低漏电和高功率器件中具有较高理论潜力。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D85E0E-14A3-545C-64D3-7B82E88B28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D8B5F-D50F-45F6-BB2B-8E4555C4766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1032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D8B5F-D50F-45F6-BB2B-8E4555C47665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D8B5F-D50F-45F6-BB2B-8E4555C47665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D8B5F-D50F-45F6-BB2B-8E4555C47665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D8B5F-D50F-45F6-BB2B-8E4555C47665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0A339-9B48-27BA-6318-C11760A7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4424D30-95FA-D7CB-D1F2-F7D31BA936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475E4EB-E1CA-D4FD-5EAF-42F12D321E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484913-9350-7A15-5205-312942924E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D8B5F-D50F-45F6-BB2B-8E4555C4766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0631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D8B5F-D50F-45F6-BB2B-8E4555C47665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BEA76-19E8-CAE4-2931-8DFDA4D9E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25C9FC-85F1-E6C3-41BE-0A32E1F963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91FF67-99E6-6F9C-7E64-67F7EC095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CB3094-1DC1-900E-5402-C9B3D67912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D8B5F-D50F-45F6-BB2B-8E4555C4766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1858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D8B5F-D50F-45F6-BB2B-8E4555C47665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FB7053-2A13-D493-11B7-7C392EBBE9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9E061C3-FEAC-AD87-0280-19E2D2D952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E86FE0-7DAC-9948-4FBA-D8D39F3F9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D9B76-CA64-4FBE-B2F8-A02E437AE4DD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8F893E-1C6C-9473-526F-7626CDA7B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79C631-24F4-B640-09B2-4BC31489E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3C228-9BCE-4E24-979F-1EFD72DB90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2305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AC158E-4508-0854-397F-76FB649D9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764338-B9DA-C8A7-1D46-877CF9F0A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CFA1A2-0D4F-79FC-6280-7CB47BEE9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D9B76-CA64-4FBE-B2F8-A02E437AE4DD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0A43BB-A22A-F470-7037-745B8C4FC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645472-9E64-496B-55ED-1135B2C61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3C228-9BCE-4E24-979F-1EFD72DB90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946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06BFE0-8CFE-940D-9A41-6B7B73FFC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DF89A7-2ADB-D98C-3E28-5C2BFA1BA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330D53-C8A5-0D7C-12A4-446FED777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D9B76-CA64-4FBE-B2F8-A02E437AE4DD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E003DE-AE7F-298F-95BC-DE7C9D0FB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51E3D8-2134-4271-9435-2F0920102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3C228-9BCE-4E24-979F-1EFD72DB90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165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0AAF8C-5EA7-9B46-441D-28DC1A6D2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88EEC7-D992-E1AA-6D4E-8BF35F0B7C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05685DB-5B96-C8F6-F12E-5701760784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B23FBA-7E89-E387-6B69-BADC60125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D9B76-CA64-4FBE-B2F8-A02E437AE4DD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4FD4A7-C90E-2BF8-D46D-45CAB4678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7B15A4-706F-2F5F-673B-1A5F62ADA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3C228-9BCE-4E24-979F-1EFD72DB90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639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FEF277-676B-7FAE-A5A5-0854A5A96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76DDB0-201D-8E89-BEA9-BB52B3FD4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986BF0-8B9C-A849-117E-E649079581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32ABAC3-AD2D-6D3B-EC24-2093592857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C64A584-E6B1-C9FA-6F78-730556CD47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4AF423C-EF9D-2D46-6C80-FF65936CC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D9B76-CA64-4FBE-B2F8-A02E437AE4DD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095B2EE-4656-A497-C0BA-3038358E9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2131FB-B499-60D6-99B5-9E1B8EB04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3C228-9BCE-4E24-979F-1EFD72DB90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28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B70FA-8138-D2BF-878C-55784872B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26F8F66-3B00-ABC2-ABFE-A3569EB3A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D9B76-CA64-4FBE-B2F8-A02E437AE4DD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73B260D-9004-46D0-4DE1-F2FA4DD4E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B35F1A-283E-D481-08C2-74E7FB2A8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3C228-9BCE-4E24-979F-1EFD72DB90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75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8555683-F5BE-565B-504A-31FCA68ED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D9B76-CA64-4FBE-B2F8-A02E437AE4DD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723BF01-3EA9-603B-2314-A950E9E78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60E98C-99B5-C71B-8FE7-0D0F319A6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3C228-9BCE-4E24-979F-1EFD72DB90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695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14F80A-58B4-E328-5C4B-A6D65E2B3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2D59B6-33EE-7569-2796-A09F2DB3F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5984CF-F4FE-29DF-B9BA-3BF32F328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7CB697-4604-0D80-DD76-3180B7CF0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D9B76-CA64-4FBE-B2F8-A02E437AE4DD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4125F4-135A-D0D6-3962-BD9AF5668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BDC4BE-9D93-4A5A-4C82-3E654F72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3C228-9BCE-4E24-979F-1EFD72DB90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5279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728FC7-D1B2-B89C-62AB-FA30597BD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7A27088-38CE-DE50-CC8D-994251676D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0E7455-E552-C44A-5F14-5516E24FC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71DBDF-BA0B-AE72-99F9-9F90B02E2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D9B76-CA64-4FBE-B2F8-A02E437AE4DD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365CFA-5646-3CE2-2EA1-CCF232C5D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AC50CC-074B-2DF2-9FBA-43893CFB5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3C228-9BCE-4E24-979F-1EFD72DB90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157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5D4702-FCF5-E639-E5E0-55BAA4065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9D6380-EF00-6AA9-5FBF-A3F36DE5C6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C97392-881E-7704-05D1-534DD4F09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D9B76-CA64-4FBE-B2F8-A02E437AE4DD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DF3AFE-83FB-00A4-8379-E7ACC5BC3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64BDC2-8D3D-73BF-2AF0-8EC38BABE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3C228-9BCE-4E24-979F-1EFD72DB90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731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F6C0D5-E780-34CF-94A1-0CDE127FCD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008050A-891F-006B-20D3-89DF5EC22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BD5041-71E6-69D6-2DB9-42608A6F6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D9B76-CA64-4FBE-B2F8-A02E437AE4DD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33D9E4-6E2C-7095-C841-78C666C28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EE5063-DF8A-7E32-FD5F-CCAC37924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3C228-9BCE-4E24-979F-1EFD72DB90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431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382CC14-CF71-9CD4-34B2-C1E2E245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EE40BC-B77F-6D74-FD39-78F0B8E76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D15E4D-7A8F-0F85-2311-937C67CD43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0D9B76-CA64-4FBE-B2F8-A02E437AE4DD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B9251E-729A-3F04-13CB-A7A4310112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68FCCC-5496-6866-37AF-82D8F7505E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93C228-9BCE-4E24-979F-1EFD72DB90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805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jpe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25400"/>
            <a:ext cx="12191999" cy="688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" y="1890215"/>
            <a:ext cx="12191999" cy="288650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defTabSz="514350">
              <a:tabLst>
                <a:tab pos="2149316" algn="l"/>
              </a:tabLst>
            </a:pPr>
            <a:r>
              <a:rPr lang="zh-CN" altLang="en-US" sz="48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 charset="0"/>
              </a:rPr>
              <a:t>微处理器架构演进与前沿技术综述</a:t>
            </a:r>
          </a:p>
        </p:txBody>
      </p:sp>
      <p:sp>
        <p:nvSpPr>
          <p:cNvPr id="5" name="文本框 6"/>
          <p:cNvSpPr txBox="1"/>
          <p:nvPr/>
        </p:nvSpPr>
        <p:spPr bwMode="gray">
          <a:xfrm>
            <a:off x="1" y="5163484"/>
            <a:ext cx="12191999" cy="10179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汇报人：宋亦寒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PB25000200   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吴毓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PB25000161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指导老师：龙世兵教授 黄洪博士</a:t>
            </a:r>
            <a:endParaRPr lang="en-US" altLang="zh-CN" sz="2400" b="1" dirty="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8"/>
          <p:cNvSpPr txBox="1"/>
          <p:nvPr/>
        </p:nvSpPr>
        <p:spPr bwMode="gray">
          <a:xfrm>
            <a:off x="53357" y="6152186"/>
            <a:ext cx="12191998" cy="4977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2026 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年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5 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月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28 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日</a:t>
            </a:r>
          </a:p>
        </p:txBody>
      </p:sp>
      <p:sp>
        <p:nvSpPr>
          <p:cNvPr id="7" name="Rectangle 6"/>
          <p:cNvSpPr/>
          <p:nvPr/>
        </p:nvSpPr>
        <p:spPr>
          <a:xfrm>
            <a:off x="421240" y="328773"/>
            <a:ext cx="5229547" cy="1018135"/>
          </a:xfrm>
          <a:prstGeom prst="rect">
            <a:avLst/>
          </a:prstGeom>
          <a:solidFill>
            <a:srgbClr val="E6E6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组合 7"/>
          <p:cNvGrpSpPr/>
          <p:nvPr/>
        </p:nvGrpSpPr>
        <p:grpSpPr>
          <a:xfrm>
            <a:off x="3820828" y="439090"/>
            <a:ext cx="4550342" cy="768173"/>
            <a:chOff x="8729725" y="4570716"/>
            <a:chExt cx="2830513" cy="477838"/>
          </a:xfrm>
          <a:solidFill>
            <a:srgbClr val="0272BC"/>
          </a:solidFill>
        </p:grpSpPr>
        <p:sp>
          <p:nvSpPr>
            <p:cNvPr id="9" name="Freeform 34"/>
            <p:cNvSpPr>
              <a:spLocks noEditPoints="1"/>
            </p:cNvSpPr>
            <p:nvPr userDrawn="1"/>
          </p:nvSpPr>
          <p:spPr bwMode="auto">
            <a:xfrm>
              <a:off x="9304400" y="4945366"/>
              <a:ext cx="1363663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35"/>
            <p:cNvSpPr>
              <a:spLocks noEditPoints="1"/>
            </p:cNvSpPr>
            <p:nvPr userDrawn="1"/>
          </p:nvSpPr>
          <p:spPr bwMode="auto">
            <a:xfrm>
              <a:off x="10679175" y="4943779"/>
              <a:ext cx="873125" cy="103188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36"/>
            <p:cNvSpPr>
              <a:spLocks noEditPoints="1"/>
            </p:cNvSpPr>
            <p:nvPr userDrawn="1"/>
          </p:nvSpPr>
          <p:spPr bwMode="auto">
            <a:xfrm>
              <a:off x="9304400" y="4596116"/>
              <a:ext cx="2255838" cy="300038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37"/>
            <p:cNvSpPr>
              <a:spLocks noEditPoints="1"/>
            </p:cNvSpPr>
            <p:nvPr userDrawn="1"/>
          </p:nvSpPr>
          <p:spPr bwMode="auto">
            <a:xfrm>
              <a:off x="8797988" y="4643741"/>
              <a:ext cx="334963" cy="325438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38"/>
            <p:cNvSpPr>
              <a:spLocks noEditPoints="1"/>
            </p:cNvSpPr>
            <p:nvPr userDrawn="1"/>
          </p:nvSpPr>
          <p:spPr bwMode="auto">
            <a:xfrm>
              <a:off x="8872600" y="4775504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39"/>
            <p:cNvSpPr>
              <a:spLocks noEditPoints="1"/>
            </p:cNvSpPr>
            <p:nvPr userDrawn="1"/>
          </p:nvSpPr>
          <p:spPr bwMode="auto">
            <a:xfrm>
              <a:off x="8729725" y="4570716"/>
              <a:ext cx="474663" cy="477838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40"/>
            <p:cNvSpPr>
              <a:spLocks noEditPoints="1"/>
            </p:cNvSpPr>
            <p:nvPr userDrawn="1"/>
          </p:nvSpPr>
          <p:spPr bwMode="auto">
            <a:xfrm>
              <a:off x="8763063" y="4810429"/>
              <a:ext cx="407988" cy="204788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41"/>
            <p:cNvSpPr/>
            <p:nvPr userDrawn="1"/>
          </p:nvSpPr>
          <p:spPr bwMode="auto">
            <a:xfrm>
              <a:off x="8913875" y="4712004"/>
              <a:ext cx="161925" cy="150813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42"/>
            <p:cNvSpPr/>
            <p:nvPr userDrawn="1"/>
          </p:nvSpPr>
          <p:spPr bwMode="auto">
            <a:xfrm>
              <a:off x="8942450" y="4694541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43"/>
            <p:cNvSpPr/>
            <p:nvPr userDrawn="1"/>
          </p:nvSpPr>
          <p:spPr bwMode="auto">
            <a:xfrm>
              <a:off x="8867838" y="4856466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44"/>
            <p:cNvSpPr>
              <a:spLocks noEditPoints="1"/>
            </p:cNvSpPr>
            <p:nvPr userDrawn="1"/>
          </p:nvSpPr>
          <p:spPr bwMode="auto">
            <a:xfrm>
              <a:off x="8840850" y="4681841"/>
              <a:ext cx="252413" cy="257175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45"/>
            <p:cNvSpPr>
              <a:spLocks noEditPoints="1"/>
            </p:cNvSpPr>
            <p:nvPr userDrawn="1"/>
          </p:nvSpPr>
          <p:spPr bwMode="auto">
            <a:xfrm>
              <a:off x="9091675" y="4667554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46"/>
            <p:cNvSpPr>
              <a:spLocks noEditPoints="1"/>
            </p:cNvSpPr>
            <p:nvPr userDrawn="1"/>
          </p:nvSpPr>
          <p:spPr bwMode="auto">
            <a:xfrm>
              <a:off x="9120250" y="4715179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47"/>
            <p:cNvSpPr>
              <a:spLocks noEditPoints="1"/>
            </p:cNvSpPr>
            <p:nvPr userDrawn="1"/>
          </p:nvSpPr>
          <p:spPr bwMode="auto">
            <a:xfrm>
              <a:off x="9037700" y="4621516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48"/>
            <p:cNvSpPr>
              <a:spLocks noEditPoints="1"/>
            </p:cNvSpPr>
            <p:nvPr userDrawn="1"/>
          </p:nvSpPr>
          <p:spPr bwMode="auto">
            <a:xfrm>
              <a:off x="8913875" y="4588179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49"/>
            <p:cNvSpPr>
              <a:spLocks noEditPoints="1"/>
            </p:cNvSpPr>
            <p:nvPr userDrawn="1"/>
          </p:nvSpPr>
          <p:spPr bwMode="auto">
            <a:xfrm>
              <a:off x="8971025" y="4589766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50"/>
            <p:cNvSpPr>
              <a:spLocks noEditPoints="1"/>
            </p:cNvSpPr>
            <p:nvPr userDrawn="1"/>
          </p:nvSpPr>
          <p:spPr bwMode="auto">
            <a:xfrm>
              <a:off x="8756713" y="4715179"/>
              <a:ext cx="52388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51"/>
            <p:cNvSpPr>
              <a:spLocks noEditPoints="1"/>
            </p:cNvSpPr>
            <p:nvPr userDrawn="1"/>
          </p:nvSpPr>
          <p:spPr bwMode="auto">
            <a:xfrm>
              <a:off x="8791638" y="4653266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52"/>
            <p:cNvSpPr>
              <a:spLocks noEditPoints="1"/>
            </p:cNvSpPr>
            <p:nvPr userDrawn="1"/>
          </p:nvSpPr>
          <p:spPr bwMode="auto">
            <a:xfrm>
              <a:off x="8847200" y="4611991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C871F-8918-2E72-CC23-21374C89F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1E60765-E521-C243-B466-CF538EDEB2BB}"/>
              </a:ext>
            </a:extLst>
          </p:cNvPr>
          <p:cNvSpPr/>
          <p:nvPr/>
        </p:nvSpPr>
        <p:spPr>
          <a:xfrm>
            <a:off x="0" y="0"/>
            <a:ext cx="12192000" cy="816770"/>
          </a:xfrm>
          <a:prstGeom prst="rect">
            <a:avLst/>
          </a:prstGeom>
          <a:solidFill>
            <a:srgbClr val="0072B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F4D311E6-25BF-0D88-F734-4E0B2EEC11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6184" y="61317"/>
            <a:ext cx="694134" cy="69413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95A7506-9DC3-A3EB-830B-A29520218BBD}"/>
              </a:ext>
            </a:extLst>
          </p:cNvPr>
          <p:cNvSpPr txBox="1"/>
          <p:nvPr/>
        </p:nvSpPr>
        <p:spPr>
          <a:xfrm>
            <a:off x="156190" y="61317"/>
            <a:ext cx="2395951" cy="694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969D796-803B-C801-B91A-7D4512FBD6E9}"/>
              </a:ext>
            </a:extLst>
          </p:cNvPr>
          <p:cNvSpPr txBox="1"/>
          <p:nvPr/>
        </p:nvSpPr>
        <p:spPr>
          <a:xfrm>
            <a:off x="3395526" y="1748437"/>
            <a:ext cx="5400947" cy="3785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28625" indent="-428625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</a:rPr>
              <a:t>设计基础与性能评价</a:t>
            </a:r>
          </a:p>
          <a:p>
            <a:pPr marL="428625" indent="-428625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性能发展困境</a:t>
            </a:r>
            <a:endParaRPr lang="en-US" altLang="zh-CN" sz="40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428625" indent="-428625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</a:rPr>
              <a:t>多维解决方案</a:t>
            </a:r>
            <a:endParaRPr lang="en-US" altLang="zh-CN" sz="4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28625" indent="-428625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</a:rPr>
              <a:t>总结与展望</a:t>
            </a:r>
          </a:p>
          <a:p>
            <a:pPr marL="428625" indent="-428625">
              <a:lnSpc>
                <a:spcPct val="150000"/>
              </a:lnSpc>
              <a:buFont typeface="Wingdings" panose="05000000000000000000" charset="0"/>
              <a:buChar char="u"/>
            </a:pPr>
            <a:endParaRPr lang="zh-CN" altLang="en-US" sz="27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9544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6F549-33FC-04F6-23F2-B6CF91EB1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4E7D12D-F9C4-8BCE-D2AF-BBDCAF78DD37}"/>
              </a:ext>
            </a:extLst>
          </p:cNvPr>
          <p:cNvSpPr/>
          <p:nvPr/>
        </p:nvSpPr>
        <p:spPr>
          <a:xfrm>
            <a:off x="0" y="0"/>
            <a:ext cx="12192000" cy="816770"/>
          </a:xfrm>
          <a:prstGeom prst="rect">
            <a:avLst/>
          </a:prstGeom>
          <a:solidFill>
            <a:srgbClr val="0072B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2D891E67-C8D9-E7BC-9631-3A061E9D23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6184" y="61317"/>
            <a:ext cx="694134" cy="69413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8AAD436-2177-C5EA-B044-0A53CA2D755E}"/>
              </a:ext>
            </a:extLst>
          </p:cNvPr>
          <p:cNvSpPr txBox="1"/>
          <p:nvPr/>
        </p:nvSpPr>
        <p:spPr>
          <a:xfrm>
            <a:off x="156190" y="61317"/>
            <a:ext cx="2395951" cy="694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7D47CA-EE58-78E8-F9B9-CE585A406688}"/>
              </a:ext>
            </a:extLst>
          </p:cNvPr>
          <p:cNvSpPr txBox="1"/>
          <p:nvPr/>
        </p:nvSpPr>
        <p:spPr>
          <a:xfrm>
            <a:off x="3395526" y="1748437"/>
            <a:ext cx="5400947" cy="3785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28625" indent="-428625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4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设计基础与性能评价</a:t>
            </a:r>
          </a:p>
          <a:p>
            <a:pPr marL="428625" indent="-428625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性能发展困境</a:t>
            </a:r>
            <a:endParaRPr lang="en-US" altLang="zh-CN" sz="40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428625" indent="-428625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</a:rPr>
              <a:t>多维解决方案</a:t>
            </a:r>
            <a:endParaRPr lang="en-US" altLang="zh-CN" sz="4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28625" indent="-428625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</a:rPr>
              <a:t>总结与展望</a:t>
            </a:r>
          </a:p>
          <a:p>
            <a:pPr marL="428625" indent="-428625">
              <a:lnSpc>
                <a:spcPct val="150000"/>
              </a:lnSpc>
              <a:buFont typeface="Wingdings" panose="05000000000000000000" charset="0"/>
              <a:buChar char="u"/>
            </a:pPr>
            <a:endParaRPr lang="zh-CN" altLang="en-US" sz="27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9133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1E2BE-D37B-792A-08B5-A514C2309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B0F642B3-8081-96AB-6C17-D9EA1916F09F}"/>
              </a:ext>
            </a:extLst>
          </p:cNvPr>
          <p:cNvSpPr/>
          <p:nvPr/>
        </p:nvSpPr>
        <p:spPr>
          <a:xfrm>
            <a:off x="0" y="0"/>
            <a:ext cx="12192000" cy="816770"/>
          </a:xfrm>
          <a:prstGeom prst="rect">
            <a:avLst/>
          </a:prstGeom>
          <a:solidFill>
            <a:srgbClr val="0072B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54299282-F306-5D73-B9A0-8CCA50C940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6184" y="61317"/>
            <a:ext cx="694134" cy="69413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33BE7C3-9E07-200F-7C32-6A585FACF890}"/>
              </a:ext>
            </a:extLst>
          </p:cNvPr>
          <p:cNvSpPr txBox="1"/>
          <p:nvPr/>
        </p:nvSpPr>
        <p:spPr>
          <a:xfrm>
            <a:off x="156189" y="61317"/>
            <a:ext cx="10031865" cy="694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设计基础</a:t>
            </a: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从冯</a:t>
            </a: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·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诺依曼架构到现代 </a:t>
            </a: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CPU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1D99579-9A8C-919E-6FD7-09CE8CE556FD}"/>
              </a:ext>
            </a:extLst>
          </p:cNvPr>
          <p:cNvSpPr txBox="1"/>
          <p:nvPr/>
        </p:nvSpPr>
        <p:spPr>
          <a:xfrm>
            <a:off x="4260103" y="1382530"/>
            <a:ext cx="6906661" cy="38193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1945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年，冯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诺依曼系统地阐述了存储程序计算机的体系架构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冯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诺依曼架构。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计算机的5个组成部分：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内存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控制单元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运算单元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FD9E854-0DAA-9EC2-07B1-053B838CC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05" y="1519303"/>
            <a:ext cx="2942523" cy="381939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9EC0CC4-FBB5-0397-A0A9-642AB4EB573C}"/>
              </a:ext>
            </a:extLst>
          </p:cNvPr>
          <p:cNvSpPr txBox="1"/>
          <p:nvPr/>
        </p:nvSpPr>
        <p:spPr>
          <a:xfrm>
            <a:off x="7662715" y="3538119"/>
            <a:ext cx="2237015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输入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输出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0540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FA83B-0DBF-FF2D-3045-AAB790379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E4B55F99-B17D-CB5A-E3D4-69FBE7920A88}"/>
              </a:ext>
            </a:extLst>
          </p:cNvPr>
          <p:cNvSpPr/>
          <p:nvPr/>
        </p:nvSpPr>
        <p:spPr>
          <a:xfrm>
            <a:off x="0" y="0"/>
            <a:ext cx="12192000" cy="816770"/>
          </a:xfrm>
          <a:prstGeom prst="rect">
            <a:avLst/>
          </a:prstGeom>
          <a:solidFill>
            <a:srgbClr val="0072B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50241FF1-2917-4292-E741-E5DCE5D226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6184" y="61317"/>
            <a:ext cx="694134" cy="69413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EB186C8-5C04-ECD5-5208-C1720A5A345D}"/>
              </a:ext>
            </a:extLst>
          </p:cNvPr>
          <p:cNvSpPr txBox="1"/>
          <p:nvPr/>
        </p:nvSpPr>
        <p:spPr>
          <a:xfrm>
            <a:off x="156189" y="61317"/>
            <a:ext cx="9963625" cy="694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设计基础</a:t>
            </a: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从冯</a:t>
            </a: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·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诺依曼架构到现代 </a:t>
            </a: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CPU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fnym">
            <a:extLst>
              <a:ext uri="{FF2B5EF4-FFF2-40B4-BE49-F238E27FC236}">
                <a16:creationId xmlns:a16="http://schemas.microsoft.com/office/drawing/2014/main" id="{77E2DF97-A46C-0015-BDAE-9225C7FB6B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483" y="1712757"/>
            <a:ext cx="4257831" cy="395408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458E58C-823C-4621-B3F2-3A88981D0024}"/>
              </a:ext>
            </a:extLst>
          </p:cNvPr>
          <p:cNvSpPr txBox="1"/>
          <p:nvPr/>
        </p:nvSpPr>
        <p:spPr>
          <a:xfrm>
            <a:off x="1063295" y="5760943"/>
            <a:ext cx="3860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dirty="0"/>
              <a:t>经典冯</a:t>
            </a:r>
            <a:r>
              <a:rPr lang="en-US" altLang="zh-CN" dirty="0"/>
              <a:t> · </a:t>
            </a:r>
            <a:r>
              <a:rPr lang="zh-CN" altLang="zh-CN" dirty="0"/>
              <a:t>诺依曼</a:t>
            </a:r>
            <a:r>
              <a:rPr lang="zh-CN" altLang="en-US" dirty="0"/>
              <a:t>架构</a:t>
            </a:r>
          </a:p>
        </p:txBody>
      </p:sp>
      <p:pic>
        <p:nvPicPr>
          <p:cNvPr id="4" name="图片 3" descr="cpu硬件模块">
            <a:extLst>
              <a:ext uri="{FF2B5EF4-FFF2-40B4-BE49-F238E27FC236}">
                <a16:creationId xmlns:a16="http://schemas.microsoft.com/office/drawing/2014/main" id="{0D478E84-6EA5-A314-CBE2-F8D15FEB8F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1152" y="1712757"/>
            <a:ext cx="5919848" cy="404818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66C39E1-0D4A-A071-7C6D-BD22929F0D44}"/>
              </a:ext>
            </a:extLst>
          </p:cNvPr>
          <p:cNvSpPr txBox="1"/>
          <p:nvPr/>
        </p:nvSpPr>
        <p:spPr>
          <a:xfrm>
            <a:off x="6042270" y="5760943"/>
            <a:ext cx="56176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dirty="0"/>
              <a:t>现代</a:t>
            </a:r>
            <a:r>
              <a:rPr lang="en-US" altLang="zh-CN" dirty="0"/>
              <a:t> CPU </a:t>
            </a:r>
            <a:r>
              <a:rPr lang="zh-CN" altLang="zh-CN" dirty="0"/>
              <a:t>的硬件模块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51FDEAD-7E78-E9A0-36CB-B739F552049D}"/>
              </a:ext>
            </a:extLst>
          </p:cNvPr>
          <p:cNvSpPr txBox="1"/>
          <p:nvPr/>
        </p:nvSpPr>
        <p:spPr>
          <a:xfrm>
            <a:off x="156190" y="1097057"/>
            <a:ext cx="9719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现代计算机体系中的冯 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诺依曼架构体现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A99B02D-8E4F-6F72-C35D-F67F11C31AD5}"/>
              </a:ext>
            </a:extLst>
          </p:cNvPr>
          <p:cNvSpPr txBox="1"/>
          <p:nvPr/>
        </p:nvSpPr>
        <p:spPr>
          <a:xfrm>
            <a:off x="156190" y="6224376"/>
            <a:ext cx="8807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现代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基本基于冯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诺依曼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架构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的思想实现。</a:t>
            </a:r>
          </a:p>
        </p:txBody>
      </p:sp>
    </p:spTree>
    <p:extLst>
      <p:ext uri="{BB962C8B-B14F-4D97-AF65-F5344CB8AC3E}">
        <p14:creationId xmlns:p14="http://schemas.microsoft.com/office/powerpoint/2010/main" val="283844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8FD85-6B8E-FD23-C390-EC1D31C59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F7C8ADE-0FDF-09A7-A2A4-4882DF7A81D8}"/>
              </a:ext>
            </a:extLst>
          </p:cNvPr>
          <p:cNvSpPr/>
          <p:nvPr/>
        </p:nvSpPr>
        <p:spPr>
          <a:xfrm>
            <a:off x="0" y="0"/>
            <a:ext cx="12192000" cy="816770"/>
          </a:xfrm>
          <a:prstGeom prst="rect">
            <a:avLst/>
          </a:prstGeom>
          <a:solidFill>
            <a:srgbClr val="0072B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8766937A-73C8-EBE5-5F06-8ED140A1EA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6184" y="61317"/>
            <a:ext cx="694134" cy="69413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321A400-E6DC-ACCB-215E-4C507C9897A5}"/>
              </a:ext>
            </a:extLst>
          </p:cNvPr>
          <p:cNvSpPr txBox="1"/>
          <p:nvPr/>
        </p:nvSpPr>
        <p:spPr>
          <a:xfrm>
            <a:off x="156190" y="61317"/>
            <a:ext cx="9915858" cy="694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设计基础</a:t>
            </a: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现代 </a:t>
            </a: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CPU 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模块如何协同工作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15C0CA1-4BCE-4292-B147-47064EB6068B}"/>
              </a:ext>
            </a:extLst>
          </p:cNvPr>
          <p:cNvSpPr txBox="1"/>
          <p:nvPr/>
        </p:nvSpPr>
        <p:spPr>
          <a:xfrm>
            <a:off x="343409" y="3522006"/>
            <a:ext cx="5916553" cy="226660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控制单元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统筹指令流水线与异常处理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运算单元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负责整数、浮点、向量等计算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多级缓存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缓解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访问内存的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延迟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……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B8A1398-EDD0-8204-E19C-82EE814381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83" b="89798" l="6041" r="95156">
                        <a14:foregroundMark x1="24342" y1="52391" x2="24342" y2="52391"/>
                        <a14:foregroundMark x1="6100" y1="54942" x2="6100" y2="54942"/>
                        <a14:foregroundMark x1="80921" y1="58980" x2="80921" y2="58980"/>
                        <a14:foregroundMark x1="95156" y1="54516" x2="95156" y2="54516"/>
                        <a14:foregroundMark x1="65969" y1="52816" x2="65969" y2="52816"/>
                        <a14:foregroundMark x1="71053" y1="46121" x2="71053" y2="46121"/>
                        <a14:foregroundMark x1="34928" y1="46015" x2="34928" y2="46015"/>
                        <a14:foregroundMark x1="29067" y1="53773" x2="29067" y2="53773"/>
                        <a14:foregroundMark x1="26914" y1="52604" x2="26914" y2="52604"/>
                        <a14:foregroundMark x1="10646" y1="34963" x2="10646" y2="34963"/>
                        <a14:foregroundMark x1="52990" y1="35175" x2="52990" y2="35175"/>
                        <a14:foregroundMark x1="52632" y1="34325" x2="52632" y2="3432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1315" y="502288"/>
            <a:ext cx="6164510" cy="3469381"/>
          </a:xfrm>
          <a:prstGeom prst="rect">
            <a:avLst/>
          </a:prstGeom>
        </p:spPr>
      </p:pic>
      <p:pic>
        <p:nvPicPr>
          <p:cNvPr id="7" name="图片 6" descr="What is a CPU and What Does it Do? - Total Phase">
            <a:extLst>
              <a:ext uri="{FF2B5EF4-FFF2-40B4-BE49-F238E27FC236}">
                <a16:creationId xmlns:a16="http://schemas.microsoft.com/office/drawing/2014/main" id="{AA82D1EE-AA52-587A-B8C5-E67B517322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51" y="1529922"/>
            <a:ext cx="2833522" cy="160674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95610B9-E695-F617-77EE-004C2FD58DEB}"/>
              </a:ext>
            </a:extLst>
          </p:cNvPr>
          <p:cNvSpPr txBox="1"/>
          <p:nvPr/>
        </p:nvSpPr>
        <p:spPr>
          <a:xfrm>
            <a:off x="6677501" y="5835537"/>
            <a:ext cx="5171090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各模块协同支撑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CPU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高效运行</a:t>
            </a:r>
          </a:p>
        </p:txBody>
      </p:sp>
      <p:sp>
        <p:nvSpPr>
          <p:cNvPr id="2" name="标注: 弯曲线形 1">
            <a:extLst>
              <a:ext uri="{FF2B5EF4-FFF2-40B4-BE49-F238E27FC236}">
                <a16:creationId xmlns:a16="http://schemas.microsoft.com/office/drawing/2014/main" id="{50654673-6384-B9CD-03AC-41F1D199537A}"/>
              </a:ext>
            </a:extLst>
          </p:cNvPr>
          <p:cNvSpPr/>
          <p:nvPr/>
        </p:nvSpPr>
        <p:spPr>
          <a:xfrm rot="5400000">
            <a:off x="2134248" y="1743957"/>
            <a:ext cx="2266606" cy="5916553"/>
          </a:xfrm>
          <a:prstGeom prst="borderCallout2">
            <a:avLst>
              <a:gd name="adj1" fmla="val 52937"/>
              <a:gd name="adj2" fmla="val -263"/>
              <a:gd name="adj3" fmla="val 53125"/>
              <a:gd name="adj4" fmla="val -19356"/>
              <a:gd name="adj5" fmla="val 43267"/>
              <a:gd name="adj6" fmla="val -50321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41456BA-4070-42E3-6D46-2062F3D637A4}"/>
              </a:ext>
            </a:extLst>
          </p:cNvPr>
          <p:cNvSpPr txBox="1"/>
          <p:nvPr/>
        </p:nvSpPr>
        <p:spPr>
          <a:xfrm>
            <a:off x="6562581" y="4240568"/>
            <a:ext cx="5489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指令集架构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是软件和硬件之间的接口</a:t>
            </a:r>
            <a:endParaRPr lang="zh-CN" altLang="en-US" dirty="0"/>
          </a:p>
        </p:txBody>
      </p:sp>
      <p:sp>
        <p:nvSpPr>
          <p:cNvPr id="6" name="标注: 弯曲线形 5">
            <a:extLst>
              <a:ext uri="{FF2B5EF4-FFF2-40B4-BE49-F238E27FC236}">
                <a16:creationId xmlns:a16="http://schemas.microsoft.com/office/drawing/2014/main" id="{8F62077B-17B8-45F2-225F-E7D125AEC1BF}"/>
              </a:ext>
            </a:extLst>
          </p:cNvPr>
          <p:cNvSpPr/>
          <p:nvPr/>
        </p:nvSpPr>
        <p:spPr>
          <a:xfrm>
            <a:off x="6391522" y="4123903"/>
            <a:ext cx="5660127" cy="655370"/>
          </a:xfrm>
          <a:prstGeom prst="borderCallout2">
            <a:avLst>
              <a:gd name="adj1" fmla="val -409"/>
              <a:gd name="adj2" fmla="val 36277"/>
              <a:gd name="adj3" fmla="val -112821"/>
              <a:gd name="adj4" fmla="val 36358"/>
              <a:gd name="adj5" fmla="val -262841"/>
              <a:gd name="adj6" fmla="val -1048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34FCD21-8922-559D-F563-73047A1F62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5113" y="1085295"/>
            <a:ext cx="3443136" cy="288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257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8A877-3D63-E6AB-FECD-CB111FFE9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F052D4F-411B-A59D-8F42-B66CA61CC063}"/>
              </a:ext>
            </a:extLst>
          </p:cNvPr>
          <p:cNvSpPr/>
          <p:nvPr/>
        </p:nvSpPr>
        <p:spPr>
          <a:xfrm>
            <a:off x="0" y="0"/>
            <a:ext cx="12192000" cy="816770"/>
          </a:xfrm>
          <a:prstGeom prst="rect">
            <a:avLst/>
          </a:prstGeom>
          <a:solidFill>
            <a:srgbClr val="0072B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D9C98A56-CEC2-0D71-24B1-A120FD32DC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6184" y="61317"/>
            <a:ext cx="694134" cy="69413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628A9F5-8EFB-AB56-C6E9-E21E8C37A5EE}"/>
              </a:ext>
            </a:extLst>
          </p:cNvPr>
          <p:cNvSpPr txBox="1"/>
          <p:nvPr/>
        </p:nvSpPr>
        <p:spPr>
          <a:xfrm>
            <a:off x="156190" y="61317"/>
            <a:ext cx="7529124" cy="694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性能评价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F3D8B89-1FA7-4BD6-803F-6E7526596BE8}"/>
                  </a:ext>
                </a:extLst>
              </p:cNvPr>
              <p:cNvSpPr txBox="1"/>
              <p:nvPr/>
            </p:nvSpPr>
            <p:spPr>
              <a:xfrm>
                <a:off x="1545778" y="4683114"/>
                <a:ext cx="3591815" cy="977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0" i="1" smtClean="0">
                          <a:latin typeface="Cambria Math" panose="02040503050406030204" pitchFamily="18" charset="0"/>
                        </a:rPr>
                        <m:t>𝐶𝑃𝑈</m:t>
                      </m:r>
                      <m:r>
                        <a:rPr lang="zh-CN" altLang="en-US" sz="2800" b="0" i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zh-CN" altLang="en-US" sz="2800" b="0" i="1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zh-CN" altLang="en-US" sz="28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𝐼𝐶</m:t>
                          </m:r>
                          <m:r>
                            <a:rPr lang="zh-CN" altLang="en-US" sz="2800" b="0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𝐶𝑃𝐼</m:t>
                          </m:r>
                        </m:num>
                        <m:den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F3D8B89-1FA7-4BD6-803F-6E7526596B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778" y="4683114"/>
                <a:ext cx="3591815" cy="9773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6A9FE76A-6023-A04F-2097-690CBBDE3C1A}"/>
              </a:ext>
            </a:extLst>
          </p:cNvPr>
          <p:cNvSpPr txBox="1"/>
          <p:nvPr/>
        </p:nvSpPr>
        <p:spPr>
          <a:xfrm>
            <a:off x="250823" y="1886066"/>
            <a:ext cx="6181727" cy="279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处理器每秒完成的时钟周期数，即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主频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所需执行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指令数（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每条指令的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平均时钟周期数（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程序执行耗时（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 Time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的理论计算公式为：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020CEC9-3A28-C43B-95FE-F7CB449305D6}"/>
              </a:ext>
            </a:extLst>
          </p:cNvPr>
          <p:cNvSpPr txBox="1"/>
          <p:nvPr/>
        </p:nvSpPr>
        <p:spPr>
          <a:xfrm>
            <a:off x="156190" y="1281546"/>
            <a:ext cx="9159260" cy="6045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影响 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CPU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性能的理论因素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0DE94FE-E947-9189-A15C-013C3046CB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649" y="1655025"/>
            <a:ext cx="5216528" cy="400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289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1F5B2-E9B3-C944-B7E1-3E36F92F3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9770A37-11CB-3716-B1A2-739C5AC95F8F}"/>
              </a:ext>
            </a:extLst>
          </p:cNvPr>
          <p:cNvSpPr/>
          <p:nvPr/>
        </p:nvSpPr>
        <p:spPr>
          <a:xfrm>
            <a:off x="0" y="0"/>
            <a:ext cx="12192000" cy="816770"/>
          </a:xfrm>
          <a:prstGeom prst="rect">
            <a:avLst/>
          </a:prstGeom>
          <a:solidFill>
            <a:srgbClr val="0072B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6CEB5228-D192-37E5-C716-89680D4017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6184" y="61317"/>
            <a:ext cx="694134" cy="69413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23A7AD5-CAD3-C658-CFD1-98200955E0BE}"/>
              </a:ext>
            </a:extLst>
          </p:cNvPr>
          <p:cNvSpPr txBox="1"/>
          <p:nvPr/>
        </p:nvSpPr>
        <p:spPr>
          <a:xfrm>
            <a:off x="156190" y="61317"/>
            <a:ext cx="11561452" cy="694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性能提升进入瓶颈阶段</a:t>
            </a:r>
          </a:p>
        </p:txBody>
      </p:sp>
      <p:pic>
        <p:nvPicPr>
          <p:cNvPr id="12" name="图片 11" descr="CPU主频变化趋势图">
            <a:extLst>
              <a:ext uri="{FF2B5EF4-FFF2-40B4-BE49-F238E27FC236}">
                <a16:creationId xmlns:a16="http://schemas.microsoft.com/office/drawing/2014/main" id="{865387C1-690D-7F69-E2D4-9351810CA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0866" y="1691952"/>
            <a:ext cx="8311133" cy="451971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AE2DD9ED-40FF-BC25-7A5D-02F1D5CD0F3E}"/>
              </a:ext>
            </a:extLst>
          </p:cNvPr>
          <p:cNvSpPr txBox="1"/>
          <p:nvPr/>
        </p:nvSpPr>
        <p:spPr>
          <a:xfrm>
            <a:off x="5792488" y="6211670"/>
            <a:ext cx="4487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1978-2018年处理器性能变化趋势图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B86367B-0FDD-4D97-2198-9FE8453653D3}"/>
              </a:ext>
            </a:extLst>
          </p:cNvPr>
          <p:cNvSpPr txBox="1"/>
          <p:nvPr/>
        </p:nvSpPr>
        <p:spPr>
          <a:xfrm>
            <a:off x="156190" y="1278009"/>
            <a:ext cx="6080655" cy="41394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纵轴：相对于 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VAX-11/780 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型号计算机的性能倍数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72AF06D-85B3-0283-DFC3-3486710B5EAF}"/>
              </a:ext>
            </a:extLst>
          </p:cNvPr>
          <p:cNvSpPr txBox="1"/>
          <p:nvPr/>
        </p:nvSpPr>
        <p:spPr>
          <a:xfrm>
            <a:off x="0" y="2547837"/>
            <a:ext cx="4049486" cy="280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早期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性能提升主要依赖制程微缩带来的主频提高，即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“主频驱动”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性能一直在稳步提升，但近年来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增速放缓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传统增长路径的收益正在下降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4AC2F8DA-2121-D8E6-E312-E0796D7B9768}"/>
              </a:ext>
            </a:extLst>
          </p:cNvPr>
          <p:cNvSpPr/>
          <p:nvPr/>
        </p:nvSpPr>
        <p:spPr>
          <a:xfrm>
            <a:off x="7331825" y="4716087"/>
            <a:ext cx="754707" cy="28263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D11A156-3299-6250-5BF8-E1F0754FBE23}"/>
              </a:ext>
            </a:extLst>
          </p:cNvPr>
          <p:cNvSpPr/>
          <p:nvPr/>
        </p:nvSpPr>
        <p:spPr>
          <a:xfrm>
            <a:off x="11340289" y="3990108"/>
            <a:ext cx="674374" cy="29144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426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EA28D-AAF4-2E95-8A69-B74A30DBD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7955B3A7-41E8-62AB-AB70-5964444D7CD1}"/>
              </a:ext>
            </a:extLst>
          </p:cNvPr>
          <p:cNvSpPr/>
          <p:nvPr/>
        </p:nvSpPr>
        <p:spPr>
          <a:xfrm>
            <a:off x="0" y="0"/>
            <a:ext cx="12192000" cy="816770"/>
          </a:xfrm>
          <a:prstGeom prst="rect">
            <a:avLst/>
          </a:prstGeom>
          <a:solidFill>
            <a:srgbClr val="0072B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E1E07D14-67AF-F8DF-0DA4-C11BF80ED1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6184" y="61317"/>
            <a:ext cx="694134" cy="69413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01B47485-B72B-3B6B-A846-22A23CC36D45}"/>
              </a:ext>
            </a:extLst>
          </p:cNvPr>
          <p:cNvSpPr txBox="1"/>
          <p:nvPr/>
        </p:nvSpPr>
        <p:spPr>
          <a:xfrm>
            <a:off x="156190" y="61317"/>
            <a:ext cx="2395951" cy="694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14E75EF-B1AE-DB92-F0C4-A6A6299011F6}"/>
              </a:ext>
            </a:extLst>
          </p:cNvPr>
          <p:cNvSpPr txBox="1"/>
          <p:nvPr/>
        </p:nvSpPr>
        <p:spPr>
          <a:xfrm>
            <a:off x="3395526" y="1748437"/>
            <a:ext cx="5400947" cy="3785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28625" indent="-428625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</a:rPr>
              <a:t>设计基础与性能评价</a:t>
            </a:r>
          </a:p>
          <a:p>
            <a:pPr marL="428625" indent="-428625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4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性能发展困境</a:t>
            </a:r>
            <a:endParaRPr lang="en-US" altLang="zh-CN" sz="4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428625" indent="-428625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</a:rPr>
              <a:t>多维解决方案</a:t>
            </a:r>
            <a:endParaRPr lang="en-US" altLang="zh-CN" sz="4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28625" indent="-428625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</a:rPr>
              <a:t>总结与展望</a:t>
            </a:r>
          </a:p>
          <a:p>
            <a:pPr marL="428625" indent="-428625">
              <a:lnSpc>
                <a:spcPct val="150000"/>
              </a:lnSpc>
              <a:buFont typeface="Wingdings" panose="05000000000000000000" charset="0"/>
              <a:buChar char="u"/>
            </a:pPr>
            <a:endParaRPr lang="zh-CN" altLang="en-US" sz="27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4932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C8128-9EFD-349F-A183-BD40DE0B9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43D1CFA4-2BCF-B52F-9996-26C9CA7902B9}"/>
              </a:ext>
            </a:extLst>
          </p:cNvPr>
          <p:cNvSpPr/>
          <p:nvPr/>
        </p:nvSpPr>
        <p:spPr>
          <a:xfrm>
            <a:off x="0" y="0"/>
            <a:ext cx="12192000" cy="816770"/>
          </a:xfrm>
          <a:prstGeom prst="rect">
            <a:avLst/>
          </a:prstGeom>
          <a:solidFill>
            <a:srgbClr val="0072B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92B15BDC-308D-BFB6-7014-5B1443DFB6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6184" y="61317"/>
            <a:ext cx="694134" cy="69413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B1B2489-DD2C-1970-D4F0-629ADF1204C8}"/>
              </a:ext>
            </a:extLst>
          </p:cNvPr>
          <p:cNvSpPr txBox="1"/>
          <p:nvPr/>
        </p:nvSpPr>
        <p:spPr>
          <a:xfrm>
            <a:off x="156190" y="61317"/>
            <a:ext cx="8439170" cy="694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性能发展困境</a:t>
            </a: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摩尔定律的失效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6296A72-27CB-CB31-6B30-47DD6A8DDD66}"/>
              </a:ext>
            </a:extLst>
          </p:cNvPr>
          <p:cNvSpPr txBox="1"/>
          <p:nvPr/>
        </p:nvSpPr>
        <p:spPr>
          <a:xfrm>
            <a:off x="72669" y="1720478"/>
            <a:ext cx="5365674" cy="36524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摩尔定律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集成电路上可容纳的晶体管数目约每隔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18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至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24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个月便会增加一倍，性能提升一倍，而价格则降低一半。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2010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年代以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来，摩尔定律逐渐失效。</a:t>
            </a:r>
          </a:p>
        </p:txBody>
      </p:sp>
      <p:pic>
        <p:nvPicPr>
          <p:cNvPr id="2" name="图片 1" descr="摩尔定律示意图">
            <a:extLst>
              <a:ext uri="{FF2B5EF4-FFF2-40B4-BE49-F238E27FC236}">
                <a16:creationId xmlns:a16="http://schemas.microsoft.com/office/drawing/2014/main" id="{4A3D5F9B-9BEA-1A40-4C99-ED343E3BB7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8342" y="1392555"/>
            <a:ext cx="6418067" cy="474915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23D9242-4409-28E7-6384-679A42726616}"/>
              </a:ext>
            </a:extLst>
          </p:cNvPr>
          <p:cNvSpPr txBox="1"/>
          <p:nvPr/>
        </p:nvSpPr>
        <p:spPr>
          <a:xfrm>
            <a:off x="5187577" y="6141709"/>
            <a:ext cx="6919595" cy="32705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dirty="0"/>
              <a:t>摩尔定律示意图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791DF116-7CE9-C810-A2D5-35C030FABA92}"/>
              </a:ext>
            </a:extLst>
          </p:cNvPr>
          <p:cNvCxnSpPr/>
          <p:nvPr/>
        </p:nvCxnSpPr>
        <p:spPr>
          <a:xfrm flipV="1">
            <a:off x="6306589" y="1983971"/>
            <a:ext cx="5139595" cy="34636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3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FDBE9-98AC-47F1-36D0-D104A3BB4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44837F5-5C36-9125-A8E4-E8B7D6AEFFF8}"/>
              </a:ext>
            </a:extLst>
          </p:cNvPr>
          <p:cNvSpPr/>
          <p:nvPr/>
        </p:nvSpPr>
        <p:spPr>
          <a:xfrm>
            <a:off x="0" y="0"/>
            <a:ext cx="12192000" cy="816770"/>
          </a:xfrm>
          <a:prstGeom prst="rect">
            <a:avLst/>
          </a:prstGeom>
          <a:solidFill>
            <a:srgbClr val="0072B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B6DAECAE-1827-CE4B-E80F-524A64B5E4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6184" y="61317"/>
            <a:ext cx="694134" cy="69413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8DE7DD1-A789-1AC6-4588-66C6F88F0B77}"/>
              </a:ext>
            </a:extLst>
          </p:cNvPr>
          <p:cNvSpPr txBox="1"/>
          <p:nvPr/>
        </p:nvSpPr>
        <p:spPr>
          <a:xfrm>
            <a:off x="156189" y="61317"/>
            <a:ext cx="9517531" cy="694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性能发展困境</a:t>
            </a: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登纳德缩放定律的失效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A4BC894-24A5-BC3C-45DF-11A8BB4580B6}"/>
              </a:ext>
            </a:extLst>
          </p:cNvPr>
          <p:cNvSpPr txBox="1"/>
          <p:nvPr/>
        </p:nvSpPr>
        <p:spPr>
          <a:xfrm>
            <a:off x="67126" y="1444940"/>
            <a:ext cx="4921847" cy="352477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登纳德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缩放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定律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400" b="1" dirty="0">
                <a:latin typeface="微软雅黑" panose="020B0503020204020204" charset="-122"/>
                <a:ea typeface="微软雅黑" panose="020B0503020204020204" charset="-122"/>
              </a:rPr>
              <a:t>晶体管尺寸等比例缩小时，功耗密度可保持不变。</a:t>
            </a:r>
          </a:p>
          <a:p>
            <a:pPr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400" b="1" dirty="0">
                <a:latin typeface="微软雅黑" panose="020B0503020204020204" charset="-122"/>
                <a:ea typeface="微软雅黑" panose="020B0503020204020204" charset="-122"/>
              </a:rPr>
              <a:t>2005 年前后，随着晶体管密度上升，芯片功耗与发热急剧上升，登纳德缩放定律失效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zh-CN" sz="2400" b="1" dirty="0">
                <a:latin typeface="微软雅黑" panose="020B0503020204020204" charset="-122"/>
                <a:ea typeface="微软雅黑" panose="020B0503020204020204" charset="-122"/>
              </a:rPr>
              <a:t>限制了单核主频继续提升。</a:t>
            </a:r>
          </a:p>
        </p:txBody>
      </p:sp>
      <p:pic>
        <p:nvPicPr>
          <p:cNvPr id="4" name="图片 3" descr="H曲线">
            <a:extLst>
              <a:ext uri="{FF2B5EF4-FFF2-40B4-BE49-F238E27FC236}">
                <a16:creationId xmlns:a16="http://schemas.microsoft.com/office/drawing/2014/main" id="{994CA7C0-92FC-A2FB-CC15-7DB101F7EC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9764" y="1310641"/>
            <a:ext cx="6738093" cy="468495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8B461DA-C935-F1D6-7539-85208C683481}"/>
              </a:ext>
            </a:extLst>
          </p:cNvPr>
          <p:cNvSpPr txBox="1"/>
          <p:nvPr/>
        </p:nvSpPr>
        <p:spPr>
          <a:xfrm>
            <a:off x="5220723" y="5995597"/>
            <a:ext cx="6919595" cy="532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dirty="0"/>
              <a:t>Horowitz </a:t>
            </a:r>
            <a:r>
              <a:rPr lang="zh-CN" altLang="en-US" dirty="0"/>
              <a:t>曲线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E7C6DDB4-6002-5C95-5502-5A05BFB99D47}"/>
              </a:ext>
            </a:extLst>
          </p:cNvPr>
          <p:cNvSpPr/>
          <p:nvPr/>
        </p:nvSpPr>
        <p:spPr>
          <a:xfrm>
            <a:off x="10673542" y="1551709"/>
            <a:ext cx="903316" cy="44334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BE4D971-1070-3747-7D4A-3DBB4285BE04}"/>
              </a:ext>
            </a:extLst>
          </p:cNvPr>
          <p:cNvSpPr/>
          <p:nvPr/>
        </p:nvSpPr>
        <p:spPr>
          <a:xfrm>
            <a:off x="10726189" y="3207327"/>
            <a:ext cx="903316" cy="44334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3982E0A-726E-EAC0-A6EB-7176CF27D3C3}"/>
              </a:ext>
            </a:extLst>
          </p:cNvPr>
          <p:cNvSpPr/>
          <p:nvPr/>
        </p:nvSpPr>
        <p:spPr>
          <a:xfrm>
            <a:off x="10726189" y="3650673"/>
            <a:ext cx="903316" cy="44334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801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08D21-7887-5C0C-B542-09F5C9671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9725CAC-1B24-1916-8125-0B76C9E2A0E1}"/>
              </a:ext>
            </a:extLst>
          </p:cNvPr>
          <p:cNvSpPr/>
          <p:nvPr/>
        </p:nvSpPr>
        <p:spPr>
          <a:xfrm>
            <a:off x="0" y="0"/>
            <a:ext cx="12192000" cy="816770"/>
          </a:xfrm>
          <a:prstGeom prst="rect">
            <a:avLst/>
          </a:prstGeom>
          <a:solidFill>
            <a:srgbClr val="0072B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24BACA69-5612-8605-E55B-44C22EC0EC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6184" y="61317"/>
            <a:ext cx="694134" cy="69413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3727300-AB12-A5F6-1ACA-83F473F02543}"/>
              </a:ext>
            </a:extLst>
          </p:cNvPr>
          <p:cNvSpPr txBox="1"/>
          <p:nvPr/>
        </p:nvSpPr>
        <p:spPr>
          <a:xfrm>
            <a:off x="156189" y="61317"/>
            <a:ext cx="9681493" cy="694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性能发展困境</a:t>
            </a: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功耗墙和“暗硅”现象</a:t>
            </a:r>
          </a:p>
          <a:p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1B8ED1-2D65-4B1C-211B-774B64D3E0D9}"/>
              </a:ext>
            </a:extLst>
          </p:cNvPr>
          <p:cNvSpPr txBox="1"/>
          <p:nvPr/>
        </p:nvSpPr>
        <p:spPr>
          <a:xfrm>
            <a:off x="359528" y="4480271"/>
            <a:ext cx="7083134" cy="11975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“暗硅”现象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大部分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晶体管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无法同时满载运行，只能断电闲置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5CC26A9-D6D2-C6CE-A816-23738BC36E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289" y="2103349"/>
            <a:ext cx="5416201" cy="297571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415063A-4E33-E93D-58BB-938FD387FD65}"/>
              </a:ext>
            </a:extLst>
          </p:cNvPr>
          <p:cNvSpPr txBox="1"/>
          <p:nvPr/>
        </p:nvSpPr>
        <p:spPr>
          <a:xfrm>
            <a:off x="5568593" y="5145735"/>
            <a:ext cx="6919595" cy="532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dirty="0"/>
              <a:t>“</a:t>
            </a:r>
            <a:r>
              <a:rPr lang="zh-CN" altLang="en-US" dirty="0"/>
              <a:t>暗硅</a:t>
            </a:r>
            <a:r>
              <a:rPr lang="en-US" altLang="zh-CN" dirty="0"/>
              <a:t>”</a:t>
            </a:r>
            <a:r>
              <a:rPr lang="zh-CN" altLang="en-US" dirty="0"/>
              <a:t>示意图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D2775C5-08E2-A128-155A-A3F7AB904427}"/>
              </a:ext>
            </a:extLst>
          </p:cNvPr>
          <p:cNvSpPr txBox="1"/>
          <p:nvPr/>
        </p:nvSpPr>
        <p:spPr>
          <a:xfrm>
            <a:off x="359528" y="1613525"/>
            <a:ext cx="5960763" cy="255006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功耗墙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芯片整体的功耗和发热持续上升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超出传统空气散热系统所能承受的物理极限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标注: 弯曲线形 3">
            <a:extLst>
              <a:ext uri="{FF2B5EF4-FFF2-40B4-BE49-F238E27FC236}">
                <a16:creationId xmlns:a16="http://schemas.microsoft.com/office/drawing/2014/main" id="{3FD32D63-95AB-55D0-D68F-F959FE7E2847}"/>
              </a:ext>
            </a:extLst>
          </p:cNvPr>
          <p:cNvSpPr/>
          <p:nvPr/>
        </p:nvSpPr>
        <p:spPr>
          <a:xfrm rot="10800000">
            <a:off x="8406937" y="1542489"/>
            <a:ext cx="1246910" cy="461836"/>
          </a:xfrm>
          <a:prstGeom prst="borderCallout2">
            <a:avLst>
              <a:gd name="adj1" fmla="val 43949"/>
              <a:gd name="adj2" fmla="val -777"/>
              <a:gd name="adj3" fmla="val 45149"/>
              <a:gd name="adj4" fmla="val -34671"/>
              <a:gd name="adj5" fmla="val -176568"/>
              <a:gd name="adj6" fmla="val -71556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43C1DB0-8C33-7652-3CF6-CF9F108959CB}"/>
              </a:ext>
            </a:extLst>
          </p:cNvPr>
          <p:cNvSpPr txBox="1"/>
          <p:nvPr/>
        </p:nvSpPr>
        <p:spPr>
          <a:xfrm>
            <a:off x="8406937" y="1591267"/>
            <a:ext cx="154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断电闲置</a:t>
            </a:r>
          </a:p>
        </p:txBody>
      </p:sp>
    </p:spTree>
    <p:extLst>
      <p:ext uri="{BB962C8B-B14F-4D97-AF65-F5344CB8AC3E}">
        <p14:creationId xmlns:p14="http://schemas.microsoft.com/office/powerpoint/2010/main" val="1563317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46DFF-9954-D350-20FE-BD0F5794E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92C3CC0-1E31-9BA1-97FB-797D10AE1039}"/>
              </a:ext>
            </a:extLst>
          </p:cNvPr>
          <p:cNvSpPr/>
          <p:nvPr/>
        </p:nvSpPr>
        <p:spPr>
          <a:xfrm>
            <a:off x="0" y="0"/>
            <a:ext cx="12192000" cy="816770"/>
          </a:xfrm>
          <a:prstGeom prst="rect">
            <a:avLst/>
          </a:prstGeom>
          <a:solidFill>
            <a:srgbClr val="0072B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C7EAF255-7561-6B07-9DC9-EC7E2992D6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6184" y="61317"/>
            <a:ext cx="694134" cy="69413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1F19660-B88D-EF86-73FE-109C30554947}"/>
              </a:ext>
            </a:extLst>
          </p:cNvPr>
          <p:cNvSpPr txBox="1"/>
          <p:nvPr/>
        </p:nvSpPr>
        <p:spPr>
          <a:xfrm>
            <a:off x="156190" y="61317"/>
            <a:ext cx="2395951" cy="694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C194AE8-6348-E6DA-AF9C-584B91C6E657}"/>
              </a:ext>
            </a:extLst>
          </p:cNvPr>
          <p:cNvSpPr txBox="1"/>
          <p:nvPr/>
        </p:nvSpPr>
        <p:spPr>
          <a:xfrm>
            <a:off x="3395526" y="1748437"/>
            <a:ext cx="5400947" cy="3785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28625" indent="-428625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</a:rPr>
              <a:t>设计基础与性能评价</a:t>
            </a:r>
          </a:p>
          <a:p>
            <a:pPr marL="428625" indent="-428625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性能发展困境</a:t>
            </a:r>
            <a:endParaRPr lang="en-US" altLang="zh-CN" sz="40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428625" indent="-428625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4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多维解决方案</a:t>
            </a:r>
            <a:endParaRPr lang="en-US" altLang="zh-CN" sz="4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28625" indent="-428625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</a:rPr>
              <a:t>总结与展望</a:t>
            </a:r>
          </a:p>
          <a:p>
            <a:pPr marL="428625" indent="-428625">
              <a:lnSpc>
                <a:spcPct val="150000"/>
              </a:lnSpc>
              <a:buFont typeface="Wingdings" panose="05000000000000000000" charset="0"/>
              <a:buChar char="u"/>
            </a:pPr>
            <a:endParaRPr lang="zh-CN" altLang="en-US" sz="27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6141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96683-830B-0A5C-2E52-2613684B1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82962E31-DED5-94B6-4FF8-8178FE2AE670}"/>
              </a:ext>
            </a:extLst>
          </p:cNvPr>
          <p:cNvSpPr/>
          <p:nvPr/>
        </p:nvSpPr>
        <p:spPr>
          <a:xfrm>
            <a:off x="0" y="0"/>
            <a:ext cx="12192000" cy="816770"/>
          </a:xfrm>
          <a:prstGeom prst="rect">
            <a:avLst/>
          </a:prstGeom>
          <a:solidFill>
            <a:srgbClr val="0072B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E615E6E4-AF08-BA08-F3E4-39D242BC5E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6184" y="61317"/>
            <a:ext cx="694134" cy="69413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D3FFBFC-D625-2D4A-6794-0A4DFACCD3FA}"/>
              </a:ext>
            </a:extLst>
          </p:cNvPr>
          <p:cNvSpPr txBox="1"/>
          <p:nvPr/>
        </p:nvSpPr>
        <p:spPr>
          <a:xfrm>
            <a:off x="156190" y="61317"/>
            <a:ext cx="7543689" cy="694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多维解决方案</a:t>
            </a: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芯片制程进步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02B4B9-B7C8-73BA-5277-3B2365CBC92C}"/>
              </a:ext>
            </a:extLst>
          </p:cNvPr>
          <p:cNvSpPr txBox="1"/>
          <p:nvPr/>
        </p:nvSpPr>
        <p:spPr>
          <a:xfrm>
            <a:off x="939957" y="1057644"/>
            <a:ext cx="5156039" cy="11604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制程从 14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nm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迈向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nm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以下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晶体管密度大幅提升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" name="图片 17" descr="tech roadmap">
            <a:extLst>
              <a:ext uri="{FF2B5EF4-FFF2-40B4-BE49-F238E27FC236}">
                <a16:creationId xmlns:a16="http://schemas.microsoft.com/office/drawing/2014/main" id="{43716A41-262C-38CA-93F1-AD52A95996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5901" y="2232035"/>
            <a:ext cx="9560190" cy="419571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A9F7D9C-E164-E97C-E3A0-517BF208E76A}"/>
              </a:ext>
            </a:extLst>
          </p:cNvPr>
          <p:cNvSpPr txBox="1"/>
          <p:nvPr/>
        </p:nvSpPr>
        <p:spPr>
          <a:xfrm>
            <a:off x="2636199" y="6402315"/>
            <a:ext cx="6919595" cy="47081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zh-CN" dirty="0"/>
              <a:t>台积电芯片制程趋势图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CC059A-41FE-B520-19B1-22FC3AD8566F}"/>
              </a:ext>
            </a:extLst>
          </p:cNvPr>
          <p:cNvSpPr txBox="1"/>
          <p:nvPr/>
        </p:nvSpPr>
        <p:spPr>
          <a:xfrm>
            <a:off x="5952128" y="1057644"/>
            <a:ext cx="5619761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支持更多片上单元集成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推动片上互连、供电与控制结构优化</a:t>
            </a:r>
          </a:p>
        </p:txBody>
      </p:sp>
    </p:spTree>
    <p:extLst>
      <p:ext uri="{BB962C8B-B14F-4D97-AF65-F5344CB8AC3E}">
        <p14:creationId xmlns:p14="http://schemas.microsoft.com/office/powerpoint/2010/main" val="3431170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9EDF8-4E3A-2CD8-8877-2FF046B7D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AE020695-47EB-62A5-A5C1-4D9F8A053B54}"/>
              </a:ext>
            </a:extLst>
          </p:cNvPr>
          <p:cNvSpPr/>
          <p:nvPr/>
        </p:nvSpPr>
        <p:spPr>
          <a:xfrm>
            <a:off x="0" y="0"/>
            <a:ext cx="12192000" cy="816770"/>
          </a:xfrm>
          <a:prstGeom prst="rect">
            <a:avLst/>
          </a:prstGeom>
          <a:solidFill>
            <a:srgbClr val="0072B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DC3BBF45-EA0D-30D7-4478-BAD1C5F504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6184" y="61317"/>
            <a:ext cx="694134" cy="69413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7EB2ECE-B631-81A4-615F-EF2EF0D30BF2}"/>
              </a:ext>
            </a:extLst>
          </p:cNvPr>
          <p:cNvSpPr txBox="1"/>
          <p:nvPr/>
        </p:nvSpPr>
        <p:spPr>
          <a:xfrm>
            <a:off x="156189" y="61317"/>
            <a:ext cx="9946353" cy="694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多维解决方案</a:t>
            </a: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——MOSFET 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结构演进</a:t>
            </a:r>
          </a:p>
        </p:txBody>
      </p:sp>
      <p:pic>
        <p:nvPicPr>
          <p:cNvPr id="17" name="图片 16" descr="How CFET Will Revolutionize Semiconductor Morphology and Continue Moore’s Law | by Matt Traverso Ph.D. | Medium">
            <a:extLst>
              <a:ext uri="{FF2B5EF4-FFF2-40B4-BE49-F238E27FC236}">
                <a16:creationId xmlns:a16="http://schemas.microsoft.com/office/drawing/2014/main" id="{A5491072-B8F4-62E7-9E91-D6F39EA1F2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5047" y="1465356"/>
            <a:ext cx="7142431" cy="441044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FFAE562-6B10-25B2-B133-E540B778171F}"/>
              </a:ext>
            </a:extLst>
          </p:cNvPr>
          <p:cNvSpPr txBox="1"/>
          <p:nvPr/>
        </p:nvSpPr>
        <p:spPr>
          <a:xfrm>
            <a:off x="2129844" y="3811624"/>
            <a:ext cx="1502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三面环绕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6F6547-60AA-22F9-D251-7269B794C0E7}"/>
              </a:ext>
            </a:extLst>
          </p:cNvPr>
          <p:cNvSpPr txBox="1"/>
          <p:nvPr/>
        </p:nvSpPr>
        <p:spPr>
          <a:xfrm>
            <a:off x="5544586" y="5435636"/>
            <a:ext cx="1102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全环绕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4D30F8-C4E4-7486-03B8-10DAF28E915B}"/>
              </a:ext>
            </a:extLst>
          </p:cNvPr>
          <p:cNvSpPr txBox="1"/>
          <p:nvPr/>
        </p:nvSpPr>
        <p:spPr>
          <a:xfrm>
            <a:off x="9710372" y="3211459"/>
            <a:ext cx="25522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全环绕基础上</a:t>
            </a:r>
            <a:endParaRPr lang="en-US" altLang="zh-CN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垂直堆叠 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PMOS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NMOS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E047E3-6A5D-1183-EDB6-175F29083138}"/>
              </a:ext>
            </a:extLst>
          </p:cNvPr>
          <p:cNvSpPr txBox="1"/>
          <p:nvPr/>
        </p:nvSpPr>
        <p:spPr>
          <a:xfrm>
            <a:off x="407375" y="6035574"/>
            <a:ext cx="7603563" cy="74655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持续抑制漏电、缩小单元面积，支撑 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CPU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性能提升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3A135B1-8E2B-4AD4-4CBC-48B492FC67AA}"/>
              </a:ext>
            </a:extLst>
          </p:cNvPr>
          <p:cNvSpPr txBox="1"/>
          <p:nvPr/>
        </p:nvSpPr>
        <p:spPr>
          <a:xfrm>
            <a:off x="4921871" y="982195"/>
            <a:ext cx="14569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平面结构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AE0F250-7918-D0E6-6B97-70C3305C9C25}"/>
              </a:ext>
            </a:extLst>
          </p:cNvPr>
          <p:cNvSpPr txBox="1"/>
          <p:nvPr/>
        </p:nvSpPr>
        <p:spPr>
          <a:xfrm>
            <a:off x="9570886" y="1443860"/>
            <a:ext cx="23951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Gate: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栅极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Well: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晶体管所在的半导体区域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23E261-143D-9F34-A5C2-4A6FDDEEA26C}"/>
              </a:ext>
            </a:extLst>
          </p:cNvPr>
          <p:cNvSpPr txBox="1"/>
          <p:nvPr/>
        </p:nvSpPr>
        <p:spPr>
          <a:xfrm>
            <a:off x="225935" y="956362"/>
            <a:ext cx="4565174" cy="224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短沟道效应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栅极对电流的控制能力下降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晶体管漏电增加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功耗和发热上升</a:t>
            </a:r>
          </a:p>
        </p:txBody>
      </p:sp>
    </p:spTree>
    <p:extLst>
      <p:ext uri="{BB962C8B-B14F-4D97-AF65-F5344CB8AC3E}">
        <p14:creationId xmlns:p14="http://schemas.microsoft.com/office/powerpoint/2010/main" val="1196501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B9EA8-6319-E989-90C3-47AD73DE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297504B8-FECC-8E31-0E82-518EDC7EF670}"/>
              </a:ext>
            </a:extLst>
          </p:cNvPr>
          <p:cNvSpPr/>
          <p:nvPr/>
        </p:nvSpPr>
        <p:spPr>
          <a:xfrm>
            <a:off x="0" y="0"/>
            <a:ext cx="12192000" cy="816770"/>
          </a:xfrm>
          <a:prstGeom prst="rect">
            <a:avLst/>
          </a:prstGeom>
          <a:solidFill>
            <a:srgbClr val="0072B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3CCC219D-BC5A-7F6E-93D3-350E068ACE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6184" y="61317"/>
            <a:ext cx="694134" cy="69413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B25A802-EB47-7B4E-409B-F8B2940F97B9}"/>
              </a:ext>
            </a:extLst>
          </p:cNvPr>
          <p:cNvSpPr txBox="1"/>
          <p:nvPr/>
        </p:nvSpPr>
        <p:spPr>
          <a:xfrm>
            <a:off x="156189" y="61317"/>
            <a:ext cx="9088710" cy="694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多维解决方案</a:t>
            </a: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新型材料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EC672B2-60EE-1508-0FE5-D0F700CDA0B3}"/>
              </a:ext>
            </a:extLst>
          </p:cNvPr>
          <p:cNvSpPr txBox="1"/>
          <p:nvPr/>
        </p:nvSpPr>
        <p:spPr>
          <a:xfrm>
            <a:off x="156189" y="1077906"/>
            <a:ext cx="6671331" cy="1422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逻辑晶体管通道材料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需要让沟道变得更薄、更容易被栅极控制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MoS₂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WS₂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WSe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₂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MoSe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₂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B4F60E5-7B5F-298F-E77F-3BADCEA2C90C}"/>
              </a:ext>
            </a:extLst>
          </p:cNvPr>
          <p:cNvSpPr txBox="1"/>
          <p:nvPr/>
        </p:nvSpPr>
        <p:spPr>
          <a:xfrm>
            <a:off x="156190" y="2967335"/>
            <a:ext cx="6606824" cy="1422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功率半导体与电源管理材料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需要器件在更小的结构里承受更高电压，减少功率损耗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SiC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GaN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β-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Ga₂O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₃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AlN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、金刚石等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75DCAB7-C333-029E-7E1C-8E153DE4A39C}"/>
              </a:ext>
            </a:extLst>
          </p:cNvPr>
          <p:cNvSpPr txBox="1"/>
          <p:nvPr/>
        </p:nvSpPr>
        <p:spPr>
          <a:xfrm>
            <a:off x="156189" y="4856764"/>
            <a:ext cx="5118264" cy="1422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热管理材料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解决芯片到散热器之间的热传导效率问题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金刚石、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AlN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</a:p>
        </p:txBody>
      </p:sp>
      <p:pic>
        <p:nvPicPr>
          <p:cNvPr id="12" name="图片 11" descr="Helping gallium oxide keep its cool -  News">
            <a:extLst>
              <a:ext uri="{FF2B5EF4-FFF2-40B4-BE49-F238E27FC236}">
                <a16:creationId xmlns:a16="http://schemas.microsoft.com/office/drawing/2014/main" id="{D7FB8168-B6DC-686B-873E-9A8BF3DB6E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535" y="1034316"/>
            <a:ext cx="4276603" cy="437443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A8F1CD1-6632-783F-0323-65AE5878F5FA}"/>
              </a:ext>
            </a:extLst>
          </p:cNvPr>
          <p:cNvSpPr txBox="1"/>
          <p:nvPr/>
        </p:nvSpPr>
        <p:spPr>
          <a:xfrm>
            <a:off x="6260401" y="5501840"/>
            <a:ext cx="5931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禁带宽度</a:t>
            </a:r>
            <a:r>
              <a:rPr lang="en-US" altLang="zh-CN" sz="2000" dirty="0"/>
              <a:t>: </a:t>
            </a:r>
            <a:r>
              <a:rPr lang="zh-CN" altLang="en-US" sz="2000" dirty="0"/>
              <a:t>让电子从“不能自由导电的状态”跃迁到“可以自由导电的状态”所需的能量。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 err="1"/>
              <a:t>Ga₂O</a:t>
            </a:r>
            <a:r>
              <a:rPr lang="en-US" altLang="zh-CN" sz="2000" dirty="0"/>
              <a:t>₃-on-</a:t>
            </a:r>
            <a:r>
              <a:rPr lang="en-US" altLang="zh-CN" sz="2000" dirty="0" err="1"/>
              <a:t>SiC</a:t>
            </a:r>
            <a:r>
              <a:rPr lang="en-US" altLang="zh-CN" sz="2000" dirty="0"/>
              <a:t>: </a:t>
            </a:r>
            <a:r>
              <a:rPr lang="en-US" altLang="zh-CN" sz="2000" dirty="0" err="1"/>
              <a:t>Ga₂O</a:t>
            </a:r>
            <a:r>
              <a:rPr lang="en-US" altLang="zh-CN" sz="2000" dirty="0"/>
              <a:t>₃</a:t>
            </a:r>
            <a:r>
              <a:rPr lang="zh-CN" altLang="en-US" sz="2000" dirty="0"/>
              <a:t>负责提供高击穿电场，</a:t>
            </a:r>
            <a:r>
              <a:rPr lang="en-US" altLang="zh-CN" sz="2000" dirty="0" err="1"/>
              <a:t>SiC</a:t>
            </a:r>
            <a:r>
              <a:rPr lang="en-US" altLang="zh-CN" sz="2000" dirty="0"/>
              <a:t> </a:t>
            </a:r>
            <a:r>
              <a:rPr lang="zh-CN" altLang="en-US" sz="2000" dirty="0"/>
              <a:t>负责提供更好的散热和机械支撑。</a:t>
            </a:r>
            <a:endParaRPr lang="en-US" altLang="zh-CN" sz="20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6CF8A73-09CC-F633-62CB-AA8A9306CA19}"/>
              </a:ext>
            </a:extLst>
          </p:cNvPr>
          <p:cNvSpPr txBox="1"/>
          <p:nvPr/>
        </p:nvSpPr>
        <p:spPr>
          <a:xfrm>
            <a:off x="11069690" y="2852201"/>
            <a:ext cx="1122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禁带宽度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66E308-233B-549E-5E88-38203C1E861F}"/>
              </a:ext>
            </a:extLst>
          </p:cNvPr>
          <p:cNvSpPr txBox="1"/>
          <p:nvPr/>
        </p:nvSpPr>
        <p:spPr>
          <a:xfrm>
            <a:off x="11069690" y="4311608"/>
            <a:ext cx="964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热导率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C148D63-5D67-8152-AA89-0E8855681270}"/>
              </a:ext>
            </a:extLst>
          </p:cNvPr>
          <p:cNvSpPr txBox="1"/>
          <p:nvPr/>
        </p:nvSpPr>
        <p:spPr>
          <a:xfrm>
            <a:off x="6406856" y="4389776"/>
            <a:ext cx="1441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电子迁移率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E6B1350-8D19-F4FA-7E4C-C565CCFC0DF3}"/>
              </a:ext>
            </a:extLst>
          </p:cNvPr>
          <p:cNvSpPr txBox="1"/>
          <p:nvPr/>
        </p:nvSpPr>
        <p:spPr>
          <a:xfrm>
            <a:off x="6096000" y="3036867"/>
            <a:ext cx="1598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本征衬底尺寸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49F8D51-0221-78F4-0EA6-686A3479346D}"/>
              </a:ext>
            </a:extLst>
          </p:cNvPr>
          <p:cNvSpPr txBox="1"/>
          <p:nvPr/>
        </p:nvSpPr>
        <p:spPr>
          <a:xfrm>
            <a:off x="7803687" y="1789126"/>
            <a:ext cx="1649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临界击穿电场</a:t>
            </a:r>
          </a:p>
        </p:txBody>
      </p:sp>
    </p:spTree>
    <p:extLst>
      <p:ext uri="{BB962C8B-B14F-4D97-AF65-F5344CB8AC3E}">
        <p14:creationId xmlns:p14="http://schemas.microsoft.com/office/powerpoint/2010/main" val="873646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D3B4D-8DA0-5AE4-985F-9B98E2783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4AF27CF0-4334-E0FD-9FEB-4B8187FC0B7B}"/>
              </a:ext>
            </a:extLst>
          </p:cNvPr>
          <p:cNvSpPr/>
          <p:nvPr/>
        </p:nvSpPr>
        <p:spPr>
          <a:xfrm>
            <a:off x="0" y="0"/>
            <a:ext cx="12192000" cy="816770"/>
          </a:xfrm>
          <a:prstGeom prst="rect">
            <a:avLst/>
          </a:prstGeom>
          <a:solidFill>
            <a:srgbClr val="0072B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F26C8105-EB16-B575-E398-59185E1281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6184" y="61317"/>
            <a:ext cx="694134" cy="69413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B1F3FB0-B396-51E2-F953-1F70CDCD63C0}"/>
              </a:ext>
            </a:extLst>
          </p:cNvPr>
          <p:cNvSpPr txBox="1"/>
          <p:nvPr/>
        </p:nvSpPr>
        <p:spPr>
          <a:xfrm>
            <a:off x="156189" y="61317"/>
            <a:ext cx="9088710" cy="694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多维解决方案</a:t>
            </a: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先进制造技术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97F4AFF-5A11-1786-5087-95D78C1EF105}"/>
              </a:ext>
            </a:extLst>
          </p:cNvPr>
          <p:cNvSpPr txBox="1"/>
          <p:nvPr/>
        </p:nvSpPr>
        <p:spPr>
          <a:xfrm>
            <a:off x="88977" y="1165676"/>
            <a:ext cx="5364172" cy="18834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High-NA EUV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光刻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光刻系统在硅片上能够清晰成像的最小图形尺寸 ∝ 光波长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数值孔径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NA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使用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13.5nm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极紫外光、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NA = 0.55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提高光刻系统图形化能力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背面供电网络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将供电线从晶体管正面上方转移到硅片背面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缓解正面布线拥堵问题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留给信号线正面金属层的更多空间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FD494B5-2A85-23E3-525A-369AB0B5D7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3149" y="1598941"/>
            <a:ext cx="6738851" cy="379940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B537E0D-F059-623D-2ACC-8F55F9511865}"/>
              </a:ext>
            </a:extLst>
          </p:cNvPr>
          <p:cNvSpPr txBox="1"/>
          <p:nvPr/>
        </p:nvSpPr>
        <p:spPr>
          <a:xfrm>
            <a:off x="5362776" y="5456917"/>
            <a:ext cx="6919595" cy="47081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zh-CN" dirty="0"/>
              <a:t>高数值孔径极紫外光刻系统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6328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268C6-8518-9B03-1D0E-F216FEBC5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04814F6-230B-31DD-8E3B-5DD440686A37}"/>
              </a:ext>
            </a:extLst>
          </p:cNvPr>
          <p:cNvSpPr/>
          <p:nvPr/>
        </p:nvSpPr>
        <p:spPr>
          <a:xfrm>
            <a:off x="0" y="0"/>
            <a:ext cx="12192000" cy="816770"/>
          </a:xfrm>
          <a:prstGeom prst="rect">
            <a:avLst/>
          </a:prstGeom>
          <a:solidFill>
            <a:srgbClr val="0072B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BE1CC862-4B1F-52BB-B21A-67C0A49674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6184" y="61317"/>
            <a:ext cx="694134" cy="69413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9226A0D1-FE02-271B-8A0A-F1289C0B8D34}"/>
              </a:ext>
            </a:extLst>
          </p:cNvPr>
          <p:cNvSpPr txBox="1"/>
          <p:nvPr/>
        </p:nvSpPr>
        <p:spPr>
          <a:xfrm>
            <a:off x="156190" y="61317"/>
            <a:ext cx="9706267" cy="694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多维解决方案</a:t>
            </a: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异构集成与先进封装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8782956-ED03-DAFC-E2CE-18EF35E8FF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8461" y="1329398"/>
            <a:ext cx="7483539" cy="410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CE3A5FE-D692-73BD-A6BD-DAFF87287A67}"/>
              </a:ext>
            </a:extLst>
          </p:cNvPr>
          <p:cNvSpPr txBox="1"/>
          <p:nvPr/>
        </p:nvSpPr>
        <p:spPr>
          <a:xfrm>
            <a:off x="4938750" y="5584532"/>
            <a:ext cx="6919595" cy="47081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zh-CN" dirty="0"/>
              <a:t>英特尔酷睿</a:t>
            </a:r>
            <a:r>
              <a:rPr lang="en-US" altLang="zh-CN" dirty="0"/>
              <a:t>™ Ultra </a:t>
            </a:r>
            <a:r>
              <a:rPr lang="zh-CN" altLang="zh-CN" dirty="0"/>
              <a:t>系列</a:t>
            </a:r>
            <a:r>
              <a:rPr lang="en-US" altLang="zh-CN" dirty="0"/>
              <a:t> 3 (</a:t>
            </a:r>
            <a:r>
              <a:rPr lang="zh-CN" altLang="zh-CN" dirty="0"/>
              <a:t>代号</a:t>
            </a:r>
            <a:r>
              <a:rPr lang="en-US" altLang="zh-CN" dirty="0"/>
              <a:t> Panther Lake)</a:t>
            </a:r>
            <a:r>
              <a:rPr lang="zh-CN" altLang="zh-CN" dirty="0"/>
              <a:t>架构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C15066B-1C74-ADE3-E70B-27B9836E4AD8}"/>
              </a:ext>
            </a:extLst>
          </p:cNvPr>
          <p:cNvSpPr txBox="1"/>
          <p:nvPr/>
        </p:nvSpPr>
        <p:spPr>
          <a:xfrm>
            <a:off x="0" y="1753476"/>
            <a:ext cx="4741558" cy="279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将计算单元、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GPU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I/O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、缓存等通过先进封装重新组合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从单片集成走向模块化封装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在良率、成本和工艺之间取得平衡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3871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1C6F1-6637-32C3-AA5F-070C25EE2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2EF27979-99B0-4C78-E157-F2D1985F6B05}"/>
              </a:ext>
            </a:extLst>
          </p:cNvPr>
          <p:cNvSpPr/>
          <p:nvPr/>
        </p:nvSpPr>
        <p:spPr>
          <a:xfrm>
            <a:off x="0" y="0"/>
            <a:ext cx="12192000" cy="816770"/>
          </a:xfrm>
          <a:prstGeom prst="rect">
            <a:avLst/>
          </a:prstGeom>
          <a:solidFill>
            <a:srgbClr val="0072B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566CB0E3-AD3E-9E4D-8F67-CE252FC6B8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6184" y="61317"/>
            <a:ext cx="694134" cy="69413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F695BA9-9132-FCCE-F83E-FAF69C38A7BD}"/>
              </a:ext>
            </a:extLst>
          </p:cNvPr>
          <p:cNvSpPr txBox="1"/>
          <p:nvPr/>
        </p:nvSpPr>
        <p:spPr>
          <a:xfrm>
            <a:off x="156190" y="61317"/>
            <a:ext cx="7844810" cy="694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多维解决方案</a:t>
            </a: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特定领域架构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832F157-3D39-6FEF-017B-F74039CC107F}"/>
              </a:ext>
            </a:extLst>
          </p:cNvPr>
          <p:cNvSpPr txBox="1"/>
          <p:nvPr/>
        </p:nvSpPr>
        <p:spPr>
          <a:xfrm>
            <a:off x="685798" y="1041689"/>
            <a:ext cx="10853057" cy="21507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从通用计算走向分工协作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负责通用计算、逻辑控制和多设备任务协调。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GPU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负责大规模并行计算，适合深度学习训练中的矩阵、张量运算。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NPU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负责低功耗运算，适合物联网、自动驾驶等场景中的实时处理。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7EA979E-EF39-C33A-9E76-F568A90CD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370" y="3417325"/>
            <a:ext cx="9305259" cy="297492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F0149C0-7AA8-CE4E-2622-FC4F9FC38C46}"/>
              </a:ext>
            </a:extLst>
          </p:cNvPr>
          <p:cNvSpPr txBox="1"/>
          <p:nvPr/>
        </p:nvSpPr>
        <p:spPr>
          <a:xfrm>
            <a:off x="2636202" y="6090463"/>
            <a:ext cx="6919595" cy="47081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dirty="0"/>
              <a:t>CPU</a:t>
            </a:r>
            <a:r>
              <a:rPr lang="zh-CN" altLang="zh-CN" dirty="0"/>
              <a:t>、</a:t>
            </a:r>
            <a:r>
              <a:rPr lang="en-US" altLang="zh-CN" dirty="0"/>
              <a:t>GPU</a:t>
            </a:r>
            <a:r>
              <a:rPr lang="zh-CN" altLang="zh-CN" dirty="0"/>
              <a:t>、</a:t>
            </a:r>
            <a:r>
              <a:rPr lang="en-US" altLang="zh-CN" dirty="0"/>
              <a:t>NPU</a:t>
            </a:r>
            <a:r>
              <a:rPr lang="zh-CN" altLang="zh-CN" dirty="0"/>
              <a:t>对比</a:t>
            </a:r>
          </a:p>
        </p:txBody>
      </p:sp>
    </p:spTree>
    <p:extLst>
      <p:ext uri="{BB962C8B-B14F-4D97-AF65-F5344CB8AC3E}">
        <p14:creationId xmlns:p14="http://schemas.microsoft.com/office/powerpoint/2010/main" val="16341055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2949C-EF64-022E-9683-D428C07B6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C4A0E17-D5FC-6675-90C0-C2138BCDDBE5}"/>
              </a:ext>
            </a:extLst>
          </p:cNvPr>
          <p:cNvSpPr/>
          <p:nvPr/>
        </p:nvSpPr>
        <p:spPr>
          <a:xfrm>
            <a:off x="0" y="0"/>
            <a:ext cx="12192000" cy="816770"/>
          </a:xfrm>
          <a:prstGeom prst="rect">
            <a:avLst/>
          </a:prstGeom>
          <a:solidFill>
            <a:srgbClr val="0072B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7777337E-4678-91C2-6DE1-18B20B9D5C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6184" y="61317"/>
            <a:ext cx="694134" cy="69413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D808D06-713F-F2C8-32D6-44A20D7E59F8}"/>
              </a:ext>
            </a:extLst>
          </p:cNvPr>
          <p:cNvSpPr txBox="1"/>
          <p:nvPr/>
        </p:nvSpPr>
        <p:spPr>
          <a:xfrm>
            <a:off x="156189" y="61317"/>
            <a:ext cx="11510293" cy="694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多维解决方案</a:t>
            </a: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人工智能与硬件双向赋能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9C3995E-3211-C192-6D74-3415D9D719D0}"/>
              </a:ext>
            </a:extLst>
          </p:cNvPr>
          <p:cNvSpPr txBox="1"/>
          <p:nvPr/>
        </p:nvSpPr>
        <p:spPr>
          <a:xfrm>
            <a:off x="1176138" y="1344994"/>
            <a:ext cx="9839720" cy="15967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云端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TPU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等提供大模型训练和推理算力。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边缘端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支撑手机、汽车、物联网等场景下的低延时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推理。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设计制造端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可用于芯片版图优化、缺陷检测、工艺参数优化等。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D3C7070-5231-585E-7EBF-A7368D77B3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1769" y="3469937"/>
            <a:ext cx="7028461" cy="2311515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F49E90A5-A51E-A3CF-94BF-E40061BE3338}"/>
              </a:ext>
            </a:extLst>
          </p:cNvPr>
          <p:cNvSpPr txBox="1"/>
          <p:nvPr/>
        </p:nvSpPr>
        <p:spPr>
          <a:xfrm>
            <a:off x="2636201" y="5970758"/>
            <a:ext cx="6919595" cy="47081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zh-CN" dirty="0"/>
              <a:t>云边协同</a:t>
            </a:r>
            <a:r>
              <a:rPr lang="en-US" altLang="zh-CN" dirty="0"/>
              <a:t>AI</a:t>
            </a:r>
            <a:r>
              <a:rPr lang="zh-CN" altLang="zh-CN" dirty="0"/>
              <a:t>生态</a:t>
            </a:r>
          </a:p>
        </p:txBody>
      </p:sp>
    </p:spTree>
    <p:extLst>
      <p:ext uri="{BB962C8B-B14F-4D97-AF65-F5344CB8AC3E}">
        <p14:creationId xmlns:p14="http://schemas.microsoft.com/office/powerpoint/2010/main" val="26460412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DCE60-0651-8A62-E215-F7D1144D4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8E1FF744-BE3B-2762-3058-CC4959068B70}"/>
              </a:ext>
            </a:extLst>
          </p:cNvPr>
          <p:cNvSpPr/>
          <p:nvPr/>
        </p:nvSpPr>
        <p:spPr>
          <a:xfrm>
            <a:off x="0" y="0"/>
            <a:ext cx="12192000" cy="816770"/>
          </a:xfrm>
          <a:prstGeom prst="rect">
            <a:avLst/>
          </a:prstGeom>
          <a:solidFill>
            <a:srgbClr val="0072B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34E2397A-DFDB-A0B4-F5B5-14D94A748A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6184" y="61317"/>
            <a:ext cx="694134" cy="69413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28CC0FD-009E-3232-3A1B-DCB4CE67C5DB}"/>
              </a:ext>
            </a:extLst>
          </p:cNvPr>
          <p:cNvSpPr txBox="1"/>
          <p:nvPr/>
        </p:nvSpPr>
        <p:spPr>
          <a:xfrm>
            <a:off x="156190" y="61317"/>
            <a:ext cx="2395951" cy="694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5F60DF-1E04-8AEE-21CE-0A99E15D9CDD}"/>
              </a:ext>
            </a:extLst>
          </p:cNvPr>
          <p:cNvSpPr txBox="1"/>
          <p:nvPr/>
        </p:nvSpPr>
        <p:spPr>
          <a:xfrm>
            <a:off x="3395526" y="1748437"/>
            <a:ext cx="5400947" cy="3785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28625" indent="-428625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</a:rPr>
              <a:t>设计基础与性能评价</a:t>
            </a:r>
          </a:p>
          <a:p>
            <a:pPr marL="428625" indent="-428625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性能发展困境</a:t>
            </a:r>
            <a:endParaRPr lang="en-US" altLang="zh-CN" sz="40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428625" indent="-428625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</a:rPr>
              <a:t>多维解决方案</a:t>
            </a:r>
            <a:endParaRPr lang="en-US" altLang="zh-CN" sz="4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28625" indent="-428625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4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总结与展望</a:t>
            </a:r>
          </a:p>
          <a:p>
            <a:pPr marL="428625" indent="-428625">
              <a:lnSpc>
                <a:spcPct val="150000"/>
              </a:lnSpc>
              <a:buFont typeface="Wingdings" panose="05000000000000000000" charset="0"/>
              <a:buChar char="u"/>
            </a:pPr>
            <a:endParaRPr lang="zh-CN" altLang="en-US" sz="27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58092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A3B6A-7ABD-B148-F142-BB615F6A2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8EE3A2F-130A-8DEB-D879-2EB0159DA3AA}"/>
              </a:ext>
            </a:extLst>
          </p:cNvPr>
          <p:cNvSpPr/>
          <p:nvPr/>
        </p:nvSpPr>
        <p:spPr>
          <a:xfrm>
            <a:off x="0" y="0"/>
            <a:ext cx="12192000" cy="816770"/>
          </a:xfrm>
          <a:prstGeom prst="rect">
            <a:avLst/>
          </a:prstGeom>
          <a:solidFill>
            <a:srgbClr val="0072B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3EA6290D-D388-2999-50BD-2A5FAFE8D5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6184" y="61317"/>
            <a:ext cx="694134" cy="69413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B973B01-B00F-DC16-9749-62C7D1A79EA2}"/>
              </a:ext>
            </a:extLst>
          </p:cNvPr>
          <p:cNvSpPr txBox="1"/>
          <p:nvPr/>
        </p:nvSpPr>
        <p:spPr>
          <a:xfrm>
            <a:off x="156190" y="61317"/>
            <a:ext cx="10207010" cy="694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总结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F927071-5488-CA04-0C6C-2A66F41E527E}"/>
              </a:ext>
            </a:extLst>
          </p:cNvPr>
          <p:cNvSpPr txBox="1"/>
          <p:nvPr/>
        </p:nvSpPr>
        <p:spPr>
          <a:xfrm>
            <a:off x="1459175" y="2307475"/>
            <a:ext cx="9273650" cy="224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传统制程微缩红利正在减弱，功耗墙与暗硅限制了性能提升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已从单一通用计算核心演变为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系统级调度中枢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协调计算单元、存储系统与外设资源等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性能提升方向由“主频驱动”转向“系统级协同驱动”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49714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ABEC1-DBF4-5F97-FF4B-511FB2E71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BE6522E-826A-EB4A-C03F-7E0DC585DE19}"/>
              </a:ext>
            </a:extLst>
          </p:cNvPr>
          <p:cNvSpPr/>
          <p:nvPr/>
        </p:nvSpPr>
        <p:spPr>
          <a:xfrm>
            <a:off x="0" y="0"/>
            <a:ext cx="12192000" cy="816770"/>
          </a:xfrm>
          <a:prstGeom prst="rect">
            <a:avLst/>
          </a:prstGeom>
          <a:solidFill>
            <a:srgbClr val="0072B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80862D3D-BDF1-B063-4A09-97E976B9B6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6184" y="61317"/>
            <a:ext cx="694134" cy="69413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14AD513-26A4-4255-4737-113C86D9BF42}"/>
              </a:ext>
            </a:extLst>
          </p:cNvPr>
          <p:cNvSpPr txBox="1"/>
          <p:nvPr/>
        </p:nvSpPr>
        <p:spPr>
          <a:xfrm>
            <a:off x="156190" y="61317"/>
            <a:ext cx="10207010" cy="694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展望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561181B-443F-E3A9-8F09-613EF7A7576C}"/>
              </a:ext>
            </a:extLst>
          </p:cNvPr>
          <p:cNvSpPr txBox="1"/>
          <p:nvPr/>
        </p:nvSpPr>
        <p:spPr>
          <a:xfrm>
            <a:off x="793354" y="2307475"/>
            <a:ext cx="10605292" cy="224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未来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CPU </a:t>
            </a:r>
            <a:r>
              <a:rPr lang="zh-CN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性能突破将依赖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器件、工艺、封装、架构与软件生态的协同优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异构集成</a:t>
            </a:r>
            <a:r>
              <a:rPr lang="zh-CN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与先进封装将成为后摩尔时代的重要发展方向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特定领域架构与人工智能将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进一步改变</a:t>
            </a:r>
            <a:r>
              <a:rPr lang="zh-CN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微处理器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设计范式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将更多承担调度与控制任务</a:t>
            </a:r>
            <a:r>
              <a:rPr lang="zh-CN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，在具体场景中实现高效计算</a:t>
            </a:r>
          </a:p>
        </p:txBody>
      </p:sp>
    </p:spTree>
    <p:extLst>
      <p:ext uri="{BB962C8B-B14F-4D97-AF65-F5344CB8AC3E}">
        <p14:creationId xmlns:p14="http://schemas.microsoft.com/office/powerpoint/2010/main" val="6433918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4F496-483D-21B0-17E3-03C1DD9F5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8039DC10-C923-8B88-7F29-CBF9652A70F3}"/>
              </a:ext>
            </a:extLst>
          </p:cNvPr>
          <p:cNvSpPr txBox="1"/>
          <p:nvPr/>
        </p:nvSpPr>
        <p:spPr>
          <a:xfrm>
            <a:off x="4953970" y="2909221"/>
            <a:ext cx="2284060" cy="871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谢谢大家！</a:t>
            </a:r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FE745CC2-54DD-C5AA-ABF8-2D0FDCD106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87102" y="146817"/>
            <a:ext cx="3588955" cy="687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181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797</TotalTime>
  <Words>1303</Words>
  <Application>Microsoft Office PowerPoint</Application>
  <PresentationFormat>宽屏</PresentationFormat>
  <Paragraphs>189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3" baseType="lpstr">
      <vt:lpstr>等线</vt:lpstr>
      <vt:lpstr>等线 Light</vt:lpstr>
      <vt:lpstr>黑体</vt:lpstr>
      <vt:lpstr>微软雅黑</vt:lpstr>
      <vt:lpstr>Arial</vt:lpstr>
      <vt:lpstr>Cambria Math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亦寒 宋</dc:creator>
  <cp:lastModifiedBy>亦寒 宋</cp:lastModifiedBy>
  <cp:revision>120</cp:revision>
  <dcterms:created xsi:type="dcterms:W3CDTF">2026-05-14T05:49:14Z</dcterms:created>
  <dcterms:modified xsi:type="dcterms:W3CDTF">2026-05-28T06:38:19Z</dcterms:modified>
</cp:coreProperties>
</file>